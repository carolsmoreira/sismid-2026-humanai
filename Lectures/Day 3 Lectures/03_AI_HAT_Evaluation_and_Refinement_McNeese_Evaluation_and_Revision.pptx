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406B46-14E3-4038-9FA1-4E3AC3BA92C1}"/>
              </a:ext>
            </a:extLst>
          </p:cNvPr>
          <p:cNvSpPr>
            <a:spLocks noGrp="1"/>
          </p:cNvSpPr>
          <p:nvPr/>
        </p:nvSpPr>
        <p:spPr>
          <a:xfrm>
            <a:off x="1960110" y="970355"/>
            <a:ext cx="789940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44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Evaluating and Refining</a:t>
            </a:r>
          </a:p>
          <a:p>
            <a:pPr marL="0" indent="0" algn="ctr">
              <a:buNone/>
            </a:pPr>
            <a:r>
              <a:rPr sz="44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AI Outputs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EF314EF-8ED1-4F29-94B5-C6EC9484AA53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B660CCF-2852-4559-BA24-76209647719D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B7280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50D146-5BE9-4641-921C-C6292868C3CC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B72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Subtitle 1">
            <a:extLst>
              <a:ext uri="{FF2B5EF4-FFF2-40B4-BE49-F238E27FC236}">
                <a16:creationId xmlns:a16="http://schemas.microsoft.com/office/drawing/2014/main" id="{082785D0-DAE6-9B83-F1A4-23E3497DC7A3}"/>
              </a:ext>
            </a:extLst>
          </p:cNvPr>
          <p:cNvSpPr>
            <a:spLocks noGrp="1"/>
          </p:cNvSpPr>
          <p:nvPr/>
        </p:nvSpPr>
        <p:spPr>
          <a:xfrm>
            <a:off x="3743450" y="2656000"/>
            <a:ext cx="4332721" cy="53112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sz="3200" b="1"/>
              <a:t>Nathan J. McNeese</a:t>
            </a:r>
          </a:p>
        </p:txBody>
      </p:sp>
      <p:pic>
        <p:nvPicPr>
          <p:cNvPr id="22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740" y="5338977"/>
            <a:ext cx="2214431" cy="830412"/>
          </a:xfrm>
          <a:prstGeom prst="rect">
            <a:avLst/>
          </a:prstGeom>
        </p:spPr>
      </p:pic>
      <p:pic>
        <p:nvPicPr>
          <p:cNvPr id="23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6133" y="5011342"/>
            <a:ext cx="1407746" cy="1407746"/>
          </a:xfrm>
          <a:prstGeom prst="rect">
            <a:avLst/>
          </a:prstGeom>
        </p:spPr>
      </p:pic>
      <p:pic>
        <p:nvPicPr>
          <p:cNvPr id="24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0463" y="5149574"/>
            <a:ext cx="2018694" cy="120921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BFC98-A9A3-9142-7651-42CBF651566A}"/>
              </a:ext>
            </a:extLst>
          </p:cNvPr>
          <p:cNvSpPr>
            <a:spLocks noGrp="1"/>
          </p:cNvSpPr>
          <p:nvPr/>
        </p:nvSpPr>
        <p:spPr>
          <a:xfrm>
            <a:off x="2372360" y="3186524"/>
            <a:ext cx="6883981" cy="1278593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sz="1600"/>
              <a:t>Associate Vice President for Technology &amp; Innovation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sz="1600"/>
              <a:t>McQueen Quattlebaum Endowed Professor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sz="1600"/>
              <a:t>Founding Director, Clemson Center for Human-AI Interaction, Collaboration, &amp; Teaming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sz="1600"/>
              <a:t>Founding Director, TRACE Research Group</a:t>
            </a:r>
          </a:p>
        </p:txBody>
      </p:sp>
    </p:spTree>
    <p:extLst>
      <p:ext uri="{BB962C8B-B14F-4D97-AF65-F5344CB8AC3E}">
        <p14:creationId xmlns:p14="http://schemas.microsoft.com/office/powerpoint/2010/main" val="1529821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551BD2-0219-436D-BB52-33787AA18B2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1 | EVALUATION BASICS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A19A12-9562-43EC-A92A-F3DA82704D58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Evaluation determines whether an AI output is usable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252035-B868-4ABD-85B8-77A6D44AD239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A5B737-596E-47DC-83A0-5740127D1D1D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E64C31-FBC7-4CF8-80FA-53EECE3EB1BC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22A6AB-1A63-47AE-908E-06434C665D03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7F1E86-9C9C-4D89-B0A9-B1AEE493B78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781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AI can produce an answer, code, or analysis quickly. Evaluation determines whether the output is correct, supported, and appropriate for the task.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A4DC28-9B7B-4989-B637-1E814774C572}"/>
              </a:ext>
            </a:extLst>
          </p:cNvPr>
          <p:cNvSpPr>
            <a:spLocks noGrp="1"/>
          </p:cNvSpPr>
          <p:nvPr/>
        </p:nvSpPr>
        <p:spPr>
          <a:xfrm>
            <a:off x="86868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The AI output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E4DE45-1E5F-4CAE-818E-D41856F6570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Answer or explanation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Code or calculation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Analysis or recommendation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312589-9B2D-48A8-A1DB-86C15AA1F7E8}"/>
              </a:ext>
            </a:extLst>
          </p:cNvPr>
          <p:cNvSpPr>
            <a:spLocks noGrp="1"/>
          </p:cNvSpPr>
          <p:nvPr/>
        </p:nvSpPr>
        <p:spPr>
          <a:xfrm>
            <a:off x="5989320" y="2103120"/>
            <a:ext cx="0" cy="269748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6C4ED7-BB4B-4407-8BCF-17CEDBCECB92}"/>
              </a:ext>
            </a:extLst>
          </p:cNvPr>
          <p:cNvSpPr>
            <a:spLocks noGrp="1"/>
          </p:cNvSpPr>
          <p:nvPr/>
        </p:nvSpPr>
        <p:spPr>
          <a:xfrm>
            <a:off x="662940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The evaluation questions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4ACCBE-DDEC-4B70-B9CD-71F68FB03688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Did it answer the right task?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Is it correct and supported?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Can the work be inspected?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Are limitations visible?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262296D-5FC3-4541-A0BB-1317CA2CC388}"/>
              </a:ext>
            </a:extLst>
          </p:cNvPr>
          <p:cNvSpPr>
            <a:spLocks noGrp="1"/>
          </p:cNvSpPr>
          <p:nvPr/>
        </p:nvSpPr>
        <p:spPr>
          <a:xfrm>
            <a:off x="1000125" y="5410200"/>
            <a:ext cx="1019175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Evaluation converts an AI response into an evidence-based judgment.</a:t>
            </a:r>
          </a:p>
        </p:txBody>
      </p:sp>
    </p:spTree>
    <p:extLst>
      <p:ext uri="{BB962C8B-B14F-4D97-AF65-F5344CB8AC3E}">
        <p14:creationId xmlns:p14="http://schemas.microsoft.com/office/powerpoint/2010/main" val="208592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551BD2-0219-436D-BB52-33787AA18B2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1 | EVALUATION BASICS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A19A12-9562-43EC-A92A-F3DA82704D58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Good evaluation moves from the surface to the evidence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252035-B868-4ABD-85B8-77A6D44AD239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A5B737-596E-47DC-83A0-5740127D1D1D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E64C31-FBC7-4CF8-80FA-53EECE3EB1BC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22A6AB-1A63-47AE-908E-06434C665D03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7F1E86-9C9C-4D89-B0A9-B1AEE493B78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781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Start with what the AI produced. Then test the evidence and work behind it.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A4DC28-9B7B-4989-B637-1E814774C572}"/>
              </a:ext>
            </a:extLst>
          </p:cNvPr>
          <p:cNvSpPr>
            <a:spLocks noGrp="1"/>
          </p:cNvSpPr>
          <p:nvPr/>
        </p:nvSpPr>
        <p:spPr>
          <a:xfrm>
            <a:off x="86868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Surface check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E4DE45-1E5F-4CAE-818E-D41856F6570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Relevant to the task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Clear and complete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Appropriate for the audience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312589-9B2D-48A8-A1DB-86C15AA1F7E8}"/>
              </a:ext>
            </a:extLst>
          </p:cNvPr>
          <p:cNvSpPr>
            <a:spLocks noGrp="1"/>
          </p:cNvSpPr>
          <p:nvPr/>
        </p:nvSpPr>
        <p:spPr>
          <a:xfrm>
            <a:off x="5989320" y="2103120"/>
            <a:ext cx="0" cy="269748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6C4ED7-BB4B-4407-8BCF-17CEDBCECB92}"/>
              </a:ext>
            </a:extLst>
          </p:cNvPr>
          <p:cNvSpPr>
            <a:spLocks noGrp="1"/>
          </p:cNvSpPr>
          <p:nvPr/>
        </p:nvSpPr>
        <p:spPr>
          <a:xfrm>
            <a:off x="662940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Evidence check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4ACCBE-DDEC-4B70-B9CD-71F68FB03688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Claims are correct and supported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Work can be inspected or reproduced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Assumptions and uncertainty are visible</a:t>
            </a:r>
          </a:p>
        </p:txBody>
      </p:sp>
    </p:spTree>
    <p:extLst>
      <p:ext uri="{BB962C8B-B14F-4D97-AF65-F5344CB8AC3E}">
        <p14:creationId xmlns:p14="http://schemas.microsoft.com/office/powerpoint/2010/main" val="2085926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EF8249-FBA7-4ECE-BF42-8435A7B10977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1 | EVALUATION BASICS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4DC45D-E172-475B-9EF7-D9D4729C7CAE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Define what good looks like before judging the output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191035-3CD7-4473-B214-F45394C5E6CD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D3519B-BF85-45CA-AA6A-952205C8C5DC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E3B5A81-28F7-433E-8B32-30E130431050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3792EA-AC27-4C24-870E-22ADD95C8252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248BC1C-7D7A-41D4-8A65-258544EB11F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6191250" cy="106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Write down what a good response must accomplish for this task.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97F59AE-DC1C-4B69-9062-8C72951BE02E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5438775" cy="245745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Your checks should cover:</a:t>
            </a:r>
          </a:p>
          <a:p>
            <a:pPr marL="342900" indent="-342900">
              <a:buFont typeface="Arial"/>
              <a:buChar char="•"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Correct objective and audience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Evidence supports the conclusions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The work can be inspected or reproduced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Uncertainty and limitations are visible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D834493-DF57-4374-B557-B2893DB2DCF5}"/>
              </a:ext>
            </a:extLst>
          </p:cNvPr>
          <p:cNvSpPr>
            <a:spLocks noGrp="1"/>
          </p:cNvSpPr>
          <p:nvPr/>
        </p:nvSpPr>
        <p:spPr>
          <a:xfrm>
            <a:off x="8058150" y="1381125"/>
            <a:ext cx="3810000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Three questions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CBAA010-1B28-45CB-92E4-3A529F16C691}"/>
              </a:ext>
            </a:extLst>
          </p:cNvPr>
          <p:cNvSpPr>
            <a:spLocks noGrp="1"/>
          </p:cNvSpPr>
          <p:nvPr/>
        </p:nvSpPr>
        <p:spPr>
          <a:xfrm>
            <a:off x="9091168" y="2347975"/>
            <a:ext cx="658368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75E7E87-5F89-419A-AA74-BE04068EF1F7}"/>
              </a:ext>
            </a:extLst>
          </p:cNvPr>
          <p:cNvSpPr>
            <a:spLocks noGrp="1"/>
          </p:cNvSpPr>
          <p:nvPr/>
        </p:nvSpPr>
        <p:spPr>
          <a:xfrm>
            <a:off x="9091168" y="3417823"/>
            <a:ext cx="658368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DF35726-86BB-4CEC-AA31-EDF82158C1F1}"/>
              </a:ext>
            </a:extLst>
          </p:cNvPr>
          <p:cNvSpPr>
            <a:spLocks noGrp="1"/>
          </p:cNvSpPr>
          <p:nvPr/>
        </p:nvSpPr>
        <p:spPr>
          <a:xfrm>
            <a:off x="8204200" y="1863343"/>
            <a:ext cx="2450592" cy="65836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A7F3D0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1</a:t>
            </a:r>
          </a:p>
          <a:p>
            <a:pPr marL="0" indent="0" algn="ctr">
              <a:buNone/>
            </a:pPr>
            <a:r>
              <a:rPr sz="18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Right task?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A4AF88B-F05D-4187-A2AB-81360D92BB34}"/>
              </a:ext>
            </a:extLst>
          </p:cNvPr>
          <p:cNvSpPr>
            <a:spLocks noGrp="1"/>
          </p:cNvSpPr>
          <p:nvPr/>
        </p:nvSpPr>
        <p:spPr>
          <a:xfrm>
            <a:off x="8204200" y="2933191"/>
            <a:ext cx="2450592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2</a:t>
            </a:r>
          </a:p>
          <a:p>
            <a:pPr marL="0" indent="0" algn="ctr">
              <a:buNone/>
            </a:pPr>
            <a:r>
              <a:rPr sz="18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Verifiable work?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C92055E-3DD0-41B9-848B-209BC902ABA4}"/>
              </a:ext>
            </a:extLst>
          </p:cNvPr>
          <p:cNvSpPr>
            <a:spLocks noGrp="1"/>
          </p:cNvSpPr>
          <p:nvPr/>
        </p:nvSpPr>
        <p:spPr>
          <a:xfrm>
            <a:off x="8204200" y="4003039"/>
            <a:ext cx="2450592" cy="65836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3</a:t>
            </a:r>
          </a:p>
          <a:p>
            <a:pPr marL="0" indent="0" algn="ctr">
              <a:buNone/>
            </a:pPr>
            <a:r>
              <a:rPr sz="18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Appropriate to use?</a:t>
            </a: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3ABACB5-BAC7-5F35-A64F-93502C0DF481}"/>
              </a:ext>
            </a:extLst>
          </p:cNvPr>
          <p:cNvSpPr>
            <a:spLocks noGrp="1"/>
          </p:cNvSpPr>
          <p:nvPr/>
        </p:nvSpPr>
        <p:spPr>
          <a:xfrm>
            <a:off x="1000125" y="5429250"/>
            <a:ext cx="10191750" cy="571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1295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C61E96-6938-44BD-8860-2C699E46CEF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1 | EVALUATION BASICS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F247B-84E4-4CB8-BBED-C4C472D3873F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The level of review should match the risk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44D7EA-B21F-44F5-A676-BFD3D08A8F8E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C70B42-B30B-47C8-92A9-29F3E54D8014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6AA761-1367-41AD-A063-01E4EB4D6B24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CD129B-BAC9-4BD1-9826-0065BB6B842A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D01380-B060-43C2-8AD5-BB63B6E5A42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1104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21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Consequential, hidden, or hard-to-reverse errors require stronger evidence.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4D83AA-AA4C-4958-BEA4-9B6C0D0C5F59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0287000" cy="245745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Ask: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What decision could this output influence?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How costly would an error be?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How easily could I detect a problem?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Can I verify the output independently?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Can I reverse the decision if it is wrong?</a:t>
            </a:r>
          </a:p>
        </p:txBody>
      </p:sp>
    </p:spTree>
    <p:extLst>
      <p:ext uri="{BB962C8B-B14F-4D97-AF65-F5344CB8AC3E}">
        <p14:creationId xmlns:p14="http://schemas.microsoft.com/office/powerpoint/2010/main" val="179768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C61E96-6938-44BD-8860-2C699E46CEF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1 | EVALUATION BASICS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F247B-84E4-4CB8-BBED-C4C472D3873F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Evaluation requires an evidence trail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44D7EA-B21F-44F5-A676-BFD3D08A8F8E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C70B42-B30B-47C8-92A9-29F3E54D8014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6AA761-1367-41AD-A063-01E4EB4D6B24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CD129B-BAC9-4BD1-9826-0065BB6B842A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D01380-B060-43C2-8AD5-BB63B6E5A42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1104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21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You cannot verify an AI output if its inputs, changes, and prior versions disappear.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4D83AA-AA4C-4958-BEA4-9B6C0D0C5F59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0287000" cy="245745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Keep: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The prompt, inputs, and constraints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The complete AI response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Sources, calculations, code, or changes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Tests, warnings, and evaluation results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A known-good version for comparison</a:t>
            </a:r>
          </a:p>
        </p:txBody>
      </p:sp>
    </p:spTree>
    <p:extLst>
      <p:ext uri="{BB962C8B-B14F-4D97-AF65-F5344CB8AC3E}">
        <p14:creationId xmlns:p14="http://schemas.microsoft.com/office/powerpoint/2010/main" val="179768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C61E96-6938-44BD-8860-2C699E46CEF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2 | HOW TO EVALUATE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F247B-84E4-4CB8-BBED-C4C472D3873F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1: Did AI answer the actual task?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44D7EA-B21F-44F5-A676-BFD3D08A8F8E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C70B42-B30B-47C8-92A9-29F3E54D8014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6AA761-1367-41AD-A063-01E4EB4D6B24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CD129B-BAC9-4BD1-9826-0065BB6B842A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D01380-B060-43C2-8AD5-BB63B6E5A42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1104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21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 coherent response can still solve a different—or easier—problem.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4D83AA-AA4C-4958-BEA4-9B6C0D0C5F59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0287000" cy="245745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Check: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Correct objective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Correct audience or user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Required constraints were followed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Requested scope and format were preserved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No unapproved change in the task</a:t>
            </a:r>
          </a:p>
        </p:txBody>
      </p:sp>
    </p:spTree>
    <p:extLst>
      <p:ext uri="{BB962C8B-B14F-4D97-AF65-F5344CB8AC3E}">
        <p14:creationId xmlns:p14="http://schemas.microsoft.com/office/powerpoint/2010/main" val="1797684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551BD2-0219-436D-BB52-33787AA18B2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2 | HOW TO EVALUATE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A19A12-9562-43EC-A92A-F3DA82704D58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2: Is each claim correct and supported?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252035-B868-4ABD-85B8-77A6D44AD239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A5B737-596E-47DC-83A0-5740127D1D1D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E64C31-FBC7-4CF8-80FA-53EECE3EB1BC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22A6AB-1A63-47AE-908E-06434C665D03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7F1E86-9C9C-4D89-B0A9-B1AEE493B78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781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Evaluate both the accuracy of the claim and the evidence used to justify it.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A4DC28-9B7B-4989-B637-1E814774C572}"/>
              </a:ext>
            </a:extLst>
          </p:cNvPr>
          <p:cNvSpPr>
            <a:spLocks noGrp="1"/>
          </p:cNvSpPr>
          <p:nvPr/>
        </p:nvSpPr>
        <p:spPr>
          <a:xfrm>
            <a:off x="86868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Check correctness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E4DE45-1E5F-4CAE-818E-D41856F6570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Facts are accurate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Calculations match the inputs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The response is internally consistent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312589-9B2D-48A8-A1DB-86C15AA1F7E8}"/>
              </a:ext>
            </a:extLst>
          </p:cNvPr>
          <p:cNvSpPr>
            <a:spLocks noGrp="1"/>
          </p:cNvSpPr>
          <p:nvPr/>
        </p:nvSpPr>
        <p:spPr>
          <a:xfrm>
            <a:off x="5989320" y="2103120"/>
            <a:ext cx="0" cy="269748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6C4ED7-BB4B-4407-8BCF-17CEDBCECB92}"/>
              </a:ext>
            </a:extLst>
          </p:cNvPr>
          <p:cNvSpPr>
            <a:spLocks noGrp="1"/>
          </p:cNvSpPr>
          <p:nvPr/>
        </p:nvSpPr>
        <p:spPr>
          <a:xfrm>
            <a:off x="662940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Check support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4ACCBE-DDEC-4B70-B9CD-71F68FB03688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Claims trace to a source, result, or test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Observation is separated from inference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Limitations are stated</a:t>
            </a:r>
          </a:p>
        </p:txBody>
      </p:sp>
    </p:spTree>
    <p:extLst>
      <p:ext uri="{BB962C8B-B14F-4D97-AF65-F5344CB8AC3E}">
        <p14:creationId xmlns:p14="http://schemas.microsoft.com/office/powerpoint/2010/main" val="208592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C61E96-6938-44BD-8860-2C699E46CEF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2 | HOW TO EVALUATE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F247B-84E4-4CB8-BBED-C4C472D3873F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3: Separate what is known from what is inferred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44D7EA-B21F-44F5-A676-BFD3D08A8F8E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C70B42-B30B-47C8-92A9-29F3E54D8014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6AA761-1367-41AD-A063-01E4EB4D6B24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CD129B-BAC9-4BD1-9826-0065BB6B842A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D01380-B060-43C2-8AD5-BB63B6E5A42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1104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21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AI often blends evidence, interpretation, and recommendation. Pull them apart.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4D83AA-AA4C-4958-BEA4-9B6C0D0C5F59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0287000" cy="245745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Known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dataset contains 12% missing values.</a:t>
            </a:r>
          </a:p>
          <a:p>
            <a:pPr marL="0" indent="0" algn="l">
              <a:buNone/>
            </a:pPr>
            <a:endParaRPr sz="1875">
              <a:solidFill>
                <a:srgbClr val="4B5563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</a:pPr>
            <a:r>
              <a:rPr>
                <a:solidFill>
                  <a:srgbClr val="4B5563"/>
                </a:solidFill>
              </a:rPr>
              <a:t>Inferred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missingness may bias the result.</a:t>
            </a:r>
          </a:p>
          <a:p>
            <a:pPr marL="0" indent="0" algn="l">
              <a:buNone/>
            </a:pPr>
            <a:endParaRPr sz="1875">
              <a:solidFill>
                <a:srgbClr val="4B5563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Next step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Inspect the missingness pattern before choosing a method.</a:t>
            </a:r>
          </a:p>
        </p:txBody>
      </p:sp>
    </p:spTree>
    <p:extLst>
      <p:ext uri="{BB962C8B-B14F-4D97-AF65-F5344CB8AC3E}">
        <p14:creationId xmlns:p14="http://schemas.microsoft.com/office/powerpoint/2010/main" val="1797684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E5A497-1B4C-4644-8757-C195549422DD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2 | HOW TO EVALUATE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FC81BE-C28F-49F9-B493-880D28A7791E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4: Inspect the work behind the answer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E0DB5C6-2EF0-4FE7-BE54-FF9E168C1250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BC86647-72D3-4235-9904-04C19A55C62A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0A5C9A1-E670-421A-94D2-443F1B343BD7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58B156-825E-4CBF-B7A8-473580190647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ED1477-8624-4560-AF34-A023411F34B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1104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21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 conclusion is easier to evaluate when the path to it is visible.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455EC2D-D4BD-4101-882E-41E399F45D76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0287000" cy="245745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 algn="l">
              <a:buNone/>
            </a:pPr>
            <a:r>
              <a:rPr sz="2025">
                <a:solidFill>
                  <a:srgbClr val="4B5563"/>
                </a:solidFill>
                <a:latin typeface="Aptos"/>
                <a:ea typeface="Aptos"/>
                <a:cs typeface="Aptos"/>
              </a:rPr>
              <a:t>Ask AI to show:</a:t>
            </a:r>
          </a:p>
          <a:p>
            <a:pPr marL="0" indent="0" algn="l">
              <a:buNone/>
            </a:pPr>
            <a:r>
              <a:rPr sz="202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The sources or inputs it used</a:t>
            </a:r>
          </a:p>
          <a:p>
            <a:pPr marL="0" indent="0" algn="l">
              <a:buNone/>
            </a:pPr>
            <a:r>
              <a:rPr sz="202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Calculations, logic, or code</a:t>
            </a:r>
          </a:p>
          <a:p>
            <a:pPr marL="0" indent="0" algn="l">
              <a:buNone/>
            </a:pPr>
            <a:r>
              <a:rPr sz="202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Changes made to data or files</a:t>
            </a:r>
          </a:p>
          <a:p>
            <a:pPr marL="0" indent="0" algn="l">
              <a:buNone/>
            </a:pPr>
            <a:r>
              <a:rPr sz="202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Assumptions and decisions</a:t>
            </a:r>
          </a:p>
          <a:p>
            <a:pPr marL="0" indent="0" algn="l">
              <a:buNone/>
            </a:pPr>
            <a:r>
              <a:rPr sz="202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Tests or checks already performed</a:t>
            </a:r>
          </a:p>
        </p:txBody>
      </p:sp>
    </p:spTree>
    <p:extLst>
      <p:ext uri="{BB962C8B-B14F-4D97-AF65-F5344CB8AC3E}">
        <p14:creationId xmlns:p14="http://schemas.microsoft.com/office/powerpoint/2010/main" val="51668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551BD2-0219-436D-BB52-33787AA18B2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2 | HOW TO EVALUATE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A19A12-9562-43EC-A92A-F3DA82704D58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5: Test the output independently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252035-B868-4ABD-85B8-77A6D44AD239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A5B737-596E-47DC-83A0-5740127D1D1D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E64C31-FBC7-4CF8-80FA-53EECE3EB1BC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22A6AB-1A63-47AE-908E-06434C665D03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7F1E86-9C9C-4D89-B0A9-B1AEE493B78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781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Do not rely on the AI's explanation of its own performance.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A4DC28-9B7B-4989-B637-1E814774C572}"/>
              </a:ext>
            </a:extLst>
          </p:cNvPr>
          <p:cNvSpPr>
            <a:spLocks noGrp="1"/>
          </p:cNvSpPr>
          <p:nvPr/>
        </p:nvSpPr>
        <p:spPr>
          <a:xfrm>
            <a:off x="86868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For claims or analysis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E4DE45-1E5F-4CAE-818E-D41856F6570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Check key claims against the source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Recompute a sample calculation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Test edge cases or counterexamples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312589-9B2D-48A8-A1DB-86C15AA1F7E8}"/>
              </a:ext>
            </a:extLst>
          </p:cNvPr>
          <p:cNvSpPr>
            <a:spLocks noGrp="1"/>
          </p:cNvSpPr>
          <p:nvPr/>
        </p:nvSpPr>
        <p:spPr>
          <a:xfrm>
            <a:off x="5989320" y="2103120"/>
            <a:ext cx="0" cy="269748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6C4ED7-BB4B-4407-8BCF-17CEDBCECB92}"/>
              </a:ext>
            </a:extLst>
          </p:cNvPr>
          <p:cNvSpPr>
            <a:spLocks noGrp="1"/>
          </p:cNvSpPr>
          <p:nvPr/>
        </p:nvSpPr>
        <p:spPr>
          <a:xfrm>
            <a:off x="662940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For code or models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4ACCBE-DDEC-4B70-B9CD-71F68FB03688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Run the work yourself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Inspect errors and warnings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Compare with a baseline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Reproduce with the same inputs</a:t>
            </a:r>
          </a:p>
        </p:txBody>
      </p:sp>
    </p:spTree>
    <p:extLst>
      <p:ext uri="{BB962C8B-B14F-4D97-AF65-F5344CB8AC3E}">
        <p14:creationId xmlns:p14="http://schemas.microsoft.com/office/powerpoint/2010/main" val="2085926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C61E96-6938-44BD-8860-2C699E46CEF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2 | HOW TO EVALUATE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F247B-84E4-4CB8-BBED-C4C472D3873F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6: End evaluation with a specific finding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44D7EA-B21F-44F5-A676-BFD3D08A8F8E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C70B42-B30B-47C8-92A9-29F3E54D8014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6AA761-1367-41AD-A063-01E4EB4D6B24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CD129B-BAC9-4BD1-9826-0065BB6B842A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D01380-B060-43C2-8AD5-BB63B6E5A42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1104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21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Revision begins only after you can name what passed, what failed, and why.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38F1177-4BAE-4F15-AD37-8F801388C9FB}"/>
              </a:ext>
            </a:extLst>
          </p:cNvPr>
          <p:cNvSpPr>
            <a:spLocks noGrp="1"/>
          </p:cNvSpPr>
          <p:nvPr/>
        </p:nvSpPr>
        <p:spPr>
          <a:xfrm>
            <a:off x="1000125" y="5429250"/>
            <a:ext cx="1019175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8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Name the failed component before revising anything.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4D83AA-AA4C-4958-BEA4-9B6C0D0C5F59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0287000" cy="245745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Document: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What passed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What failed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The evidence for that finding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The severity or impact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What must remain unchanged</a:t>
            </a:r>
          </a:p>
        </p:txBody>
      </p:sp>
    </p:spTree>
    <p:extLst>
      <p:ext uri="{BB962C8B-B14F-4D97-AF65-F5344CB8AC3E}">
        <p14:creationId xmlns:p14="http://schemas.microsoft.com/office/powerpoint/2010/main" val="1797684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D86893-9034-42D8-A74E-0C4E856154F9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3 | HOW TO REVISE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9740FF-69DA-4723-B7B4-511583D4D12D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Revision starts with diagnosis—not a new answer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1C579A-F242-4B64-A265-CBF3ABA15714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8C804E-A737-4442-A1C6-B18FE7FA1038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B13EA1-D031-4711-8A2F-8A379F14989D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B4D7EA-4193-47EE-86EA-9B9B9C3C26DA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933B8E-1AAB-491C-BCCA-0C68DC1A67E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742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Different failures require different revisions. Identify the source first.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CAC3AC6-6D5C-4FC2-8B3B-329C1A0F2773}"/>
              </a:ext>
            </a:extLst>
          </p:cNvPr>
          <p:cNvSpPr>
            <a:spLocks noGrp="1"/>
          </p:cNvSpPr>
          <p:nvPr/>
        </p:nvSpPr>
        <p:spPr>
          <a:xfrm>
            <a:off x="914400" y="2148840"/>
            <a:ext cx="2971800" cy="5029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failure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4131391-4880-41BF-A9A3-3FF80FB44E3E}"/>
              </a:ext>
            </a:extLst>
          </p:cNvPr>
          <p:cNvSpPr>
            <a:spLocks noGrp="1"/>
          </p:cNvSpPr>
          <p:nvPr/>
        </p:nvSpPr>
        <p:spPr>
          <a:xfrm>
            <a:off x="960120" y="2880360"/>
            <a:ext cx="2880360" cy="164592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Wrong objective</a:t>
            </a:r>
          </a:p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Missing constraint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4EE8AA7-CC69-4668-95B8-B5137C516F96}"/>
              </a:ext>
            </a:extLst>
          </p:cNvPr>
          <p:cNvSpPr>
            <a:spLocks noGrp="1"/>
          </p:cNvSpPr>
          <p:nvPr/>
        </p:nvSpPr>
        <p:spPr>
          <a:xfrm>
            <a:off x="4617720" y="2148840"/>
            <a:ext cx="297180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failure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ADDD88-9BA9-488F-9917-698B20C41F6A}"/>
              </a:ext>
            </a:extLst>
          </p:cNvPr>
          <p:cNvSpPr>
            <a:spLocks noGrp="1"/>
          </p:cNvSpPr>
          <p:nvPr/>
        </p:nvSpPr>
        <p:spPr>
          <a:xfrm>
            <a:off x="4663440" y="2880360"/>
            <a:ext cx="2880360" cy="164592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Unsupported claim</a:t>
            </a:r>
          </a:p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Incorrect data or calculation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E7BA175-8A4C-40EC-9A85-0FB05B298BC7}"/>
              </a:ext>
            </a:extLst>
          </p:cNvPr>
          <p:cNvSpPr>
            <a:spLocks noGrp="1"/>
          </p:cNvSpPr>
          <p:nvPr/>
        </p:nvSpPr>
        <p:spPr>
          <a:xfrm>
            <a:off x="8321040" y="2148840"/>
            <a:ext cx="2971800" cy="5029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 failure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B0C38A8-BA6F-422C-8233-245223CE4592}"/>
              </a:ext>
            </a:extLst>
          </p:cNvPr>
          <p:cNvSpPr>
            <a:spLocks noGrp="1"/>
          </p:cNvSpPr>
          <p:nvPr/>
        </p:nvSpPr>
        <p:spPr>
          <a:xfrm>
            <a:off x="8366760" y="2880360"/>
            <a:ext cx="2880360" cy="164592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Unclear explanation</a:t>
            </a:r>
          </a:p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Wrong format or tone</a:t>
            </a:r>
          </a:p>
        </p:txBody>
      </p:sp>
    </p:spTree>
    <p:extLst>
      <p:ext uri="{BB962C8B-B14F-4D97-AF65-F5344CB8AC3E}">
        <p14:creationId xmlns:p14="http://schemas.microsoft.com/office/powerpoint/2010/main" val="709137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C61E96-6938-44BD-8860-2C699E46CEF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3 | HOW TO REVISE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F247B-84E4-4CB8-BBED-C4C472D3873F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1: Identify the smallest failing component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44D7EA-B21F-44F5-A676-BFD3D08A8F8E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C70B42-B30B-47C8-92A9-29F3E54D8014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6AA761-1367-41AD-A063-01E4EB4D6B24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CD129B-BAC9-4BD1-9826-0065BB6B842A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D01380-B060-43C2-8AD5-BB63B6E5A42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1104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21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Fix the cause of the failure—not every part of the response.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4D83AA-AA4C-4958-BEA4-9B6C0D0C5F59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0287000" cy="245745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failing component may be: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An instruction or scope decision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A factual claim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Data, a calculation, or code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Reasoning or explanation</a:t>
            </a:r>
          </a:p>
          <a:p>
            <a:pPr marL="0" indent="0" algn="l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Format, tone, or level of detail</a:t>
            </a:r>
          </a:p>
        </p:txBody>
      </p:sp>
    </p:spTree>
    <p:extLst>
      <p:ext uri="{BB962C8B-B14F-4D97-AF65-F5344CB8AC3E}">
        <p14:creationId xmlns:p14="http://schemas.microsoft.com/office/powerpoint/2010/main" val="1797684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551BD2-0219-436D-BB52-33787AA18B2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3 | HOW TO REVISE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A19A12-9562-43EC-A92A-F3DA82704D58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2: Decide what to preserve and what to change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252035-B868-4ABD-85B8-77A6D44AD239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A5B737-596E-47DC-83A0-5740127D1D1D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E64C31-FBC7-4CF8-80FA-53EECE3EB1BC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22A6AB-1A63-47AE-908E-06434C665D03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7F1E86-9C9C-4D89-B0A9-B1AEE493B78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781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Revision should protect the parts that already passed evaluation.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A4DC28-9B7B-4989-B637-1E814774C572}"/>
              </a:ext>
            </a:extLst>
          </p:cNvPr>
          <p:cNvSpPr>
            <a:spLocks noGrp="1"/>
          </p:cNvSpPr>
          <p:nvPr/>
        </p:nvSpPr>
        <p:spPr>
          <a:xfrm>
            <a:off x="86868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Preserve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E4DE45-1E5F-4CAE-818E-D41856F6570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Verified claims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Correct calculations or code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Useful structure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Required constraints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312589-9B2D-48A8-A1DB-86C15AA1F7E8}"/>
              </a:ext>
            </a:extLst>
          </p:cNvPr>
          <p:cNvSpPr>
            <a:spLocks noGrp="1"/>
          </p:cNvSpPr>
          <p:nvPr/>
        </p:nvSpPr>
        <p:spPr>
          <a:xfrm>
            <a:off x="5989320" y="2103120"/>
            <a:ext cx="0" cy="269748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6C4ED7-BB4B-4407-8BCF-17CEDBCECB92}"/>
              </a:ext>
            </a:extLst>
          </p:cNvPr>
          <p:cNvSpPr>
            <a:spLocks noGrp="1"/>
          </p:cNvSpPr>
          <p:nvPr/>
        </p:nvSpPr>
        <p:spPr>
          <a:xfrm>
            <a:off x="662940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Change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4ACCBE-DDEC-4B70-B9CD-71F68FB03688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The failed claim or step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Unsupported assumptions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Faulty logic or code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Unclear wording</a:t>
            </a:r>
          </a:p>
        </p:txBody>
      </p:sp>
    </p:spTree>
    <p:extLst>
      <p:ext uri="{BB962C8B-B14F-4D97-AF65-F5344CB8AC3E}">
        <p14:creationId xmlns:p14="http://schemas.microsoft.com/office/powerpoint/2010/main" val="2085926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551BD2-0219-436D-BB52-33787AA18B2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3 | HOW TO REVISE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A19A12-9562-43EC-A92A-F3DA82704D58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3: Give AI evidence-based feedback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252035-B868-4ABD-85B8-77A6D44AD239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A5B737-596E-47DC-83A0-5740127D1D1D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E64C31-FBC7-4CF8-80FA-53EECE3EB1BC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22A6AB-1A63-47AE-908E-06434C665D03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7F1E86-9C9C-4D89-B0A9-B1AEE493B78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781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Tell AI exactly what failed and the evidence that revealed the problem.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A4DC28-9B7B-4989-B637-1E814774C572}"/>
              </a:ext>
            </a:extLst>
          </p:cNvPr>
          <p:cNvSpPr>
            <a:spLocks noGrp="1"/>
          </p:cNvSpPr>
          <p:nvPr/>
        </p:nvSpPr>
        <p:spPr>
          <a:xfrm>
            <a:off x="86868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The problem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E4DE45-1E5F-4CAE-818E-D41856F6570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Identify the exact claim, step, or file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Describe the expected result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Explain the consequence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312589-9B2D-48A8-A1DB-86C15AA1F7E8}"/>
              </a:ext>
            </a:extLst>
          </p:cNvPr>
          <p:cNvSpPr>
            <a:spLocks noGrp="1"/>
          </p:cNvSpPr>
          <p:nvPr/>
        </p:nvSpPr>
        <p:spPr>
          <a:xfrm>
            <a:off x="5989320" y="2103120"/>
            <a:ext cx="0" cy="269748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6C4ED7-BB4B-4407-8BCF-17CEDBCECB92}"/>
              </a:ext>
            </a:extLst>
          </p:cNvPr>
          <p:cNvSpPr>
            <a:spLocks noGrp="1"/>
          </p:cNvSpPr>
          <p:nvPr/>
        </p:nvSpPr>
        <p:spPr>
          <a:xfrm>
            <a:off x="662940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The evidence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4ACCBE-DDEC-4B70-B9CD-71F68FB03688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Source or reference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Test result or error message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Correct calculation or example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Constraint that was missed</a:t>
            </a:r>
          </a:p>
        </p:txBody>
      </p:sp>
    </p:spTree>
    <p:extLst>
      <p:ext uri="{BB962C8B-B14F-4D97-AF65-F5344CB8AC3E}">
        <p14:creationId xmlns:p14="http://schemas.microsoft.com/office/powerpoint/2010/main" val="2085926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551BD2-0219-436D-BB52-33787AA18B2B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3 | HOW TO REVISE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A19A12-9562-43EC-A92A-F3DA82704D58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4: Bound the revision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252035-B868-4ABD-85B8-77A6D44AD239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A5B737-596E-47DC-83A0-5740127D1D1D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E64C31-FBC7-4CF8-80FA-53EECE3EB1BC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22A6AB-1A63-47AE-908E-06434C665D03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7F1E86-9C9C-4D89-B0A9-B1AEE493B78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781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 bounded request makes the change easier to inspect and compare.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A4DC28-9B7B-4989-B637-1E814774C572}"/>
              </a:ext>
            </a:extLst>
          </p:cNvPr>
          <p:cNvSpPr>
            <a:spLocks noGrp="1"/>
          </p:cNvSpPr>
          <p:nvPr/>
        </p:nvSpPr>
        <p:spPr>
          <a:xfrm>
            <a:off x="86868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Define the boundary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E4DE45-1E5F-4CAE-818E-D41856F65707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Change only the failed component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Preserve accepted content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Keep the same inputs and constraints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312589-9B2D-48A8-A1DB-86C15AA1F7E8}"/>
              </a:ext>
            </a:extLst>
          </p:cNvPr>
          <p:cNvSpPr>
            <a:spLocks noGrp="1"/>
          </p:cNvSpPr>
          <p:nvPr/>
        </p:nvSpPr>
        <p:spPr>
          <a:xfrm>
            <a:off x="5989320" y="2103120"/>
            <a:ext cx="0" cy="269748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6C4ED7-BB4B-4407-8BCF-17CEDBCECB92}"/>
              </a:ext>
            </a:extLst>
          </p:cNvPr>
          <p:cNvSpPr>
            <a:spLocks noGrp="1"/>
          </p:cNvSpPr>
          <p:nvPr/>
        </p:nvSpPr>
        <p:spPr>
          <a:xfrm>
            <a:off x="6629400" y="21214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875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Define the deliverable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4ACCBE-DDEC-4B70-B9CD-71F68FB03688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524375" cy="262890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Return the revised section or code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Explain what changed</a:t>
            </a:r>
          </a:p>
          <a:p>
            <a:pPr marL="0" indent="0">
              <a:buNone/>
            </a:pPr>
            <a:r>
              <a:rPr sz="195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Show updated tests or checks</a:t>
            </a:r>
          </a:p>
        </p:txBody>
      </p:sp>
    </p:spTree>
    <p:extLst>
      <p:ext uri="{BB962C8B-B14F-4D97-AF65-F5344CB8AC3E}">
        <p14:creationId xmlns:p14="http://schemas.microsoft.com/office/powerpoint/2010/main" val="2085926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D86893-9034-42D8-A74E-0C4E856154F9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3 | HOW TO REVISE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9740FF-69DA-4723-B7B4-511583D4D12D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5: Request one focused revision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1C579A-F242-4B64-A265-CBF3ABA15714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8C804E-A737-4442-A1C6-B18FE7FA1038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B13EA1-D031-4711-8A2F-8A379F14989D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B4D7EA-4193-47EE-86EA-9B9B9C3C26DA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933B8E-1AAB-491C-BCCA-0C68DC1A67E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742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 strong revision request combines the failure, the evidence, and the required change.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CAC3AC6-6D5C-4FC2-8B3B-329C1A0F2773}"/>
              </a:ext>
            </a:extLst>
          </p:cNvPr>
          <p:cNvSpPr>
            <a:spLocks noGrp="1"/>
          </p:cNvSpPr>
          <p:nvPr/>
        </p:nvSpPr>
        <p:spPr>
          <a:xfrm>
            <a:off x="914400" y="2148840"/>
            <a:ext cx="2971800" cy="5029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4131391-4880-41BF-A9A3-3FF80FB44E3E}"/>
              </a:ext>
            </a:extLst>
          </p:cNvPr>
          <p:cNvSpPr>
            <a:spLocks noGrp="1"/>
          </p:cNvSpPr>
          <p:nvPr/>
        </p:nvSpPr>
        <p:spPr>
          <a:xfrm>
            <a:off x="960120" y="2880360"/>
            <a:ext cx="2880360" cy="164592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What failed</a:t>
            </a:r>
          </a:p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Where it appears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4EE8AA7-CC69-4668-95B8-B5137C516F96}"/>
              </a:ext>
            </a:extLst>
          </p:cNvPr>
          <p:cNvSpPr>
            <a:spLocks noGrp="1"/>
          </p:cNvSpPr>
          <p:nvPr/>
        </p:nvSpPr>
        <p:spPr>
          <a:xfrm>
            <a:off x="4617720" y="2148840"/>
            <a:ext cx="297180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ADDD88-9BA9-488F-9917-698B20C41F6A}"/>
              </a:ext>
            </a:extLst>
          </p:cNvPr>
          <p:cNvSpPr>
            <a:spLocks noGrp="1"/>
          </p:cNvSpPr>
          <p:nvPr/>
        </p:nvSpPr>
        <p:spPr>
          <a:xfrm>
            <a:off x="4663440" y="2880360"/>
            <a:ext cx="2880360" cy="164592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How you know</a:t>
            </a:r>
          </a:p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Expected result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E7BA175-8A4C-40EC-9A85-0FB05B298BC7}"/>
              </a:ext>
            </a:extLst>
          </p:cNvPr>
          <p:cNvSpPr>
            <a:spLocks noGrp="1"/>
          </p:cNvSpPr>
          <p:nvPr/>
        </p:nvSpPr>
        <p:spPr>
          <a:xfrm>
            <a:off x="8321040" y="2148840"/>
            <a:ext cx="2971800" cy="5029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Revision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B0C38A8-BA6F-422C-8233-245223CE4592}"/>
              </a:ext>
            </a:extLst>
          </p:cNvPr>
          <p:cNvSpPr>
            <a:spLocks noGrp="1"/>
          </p:cNvSpPr>
          <p:nvPr/>
        </p:nvSpPr>
        <p:spPr>
          <a:xfrm>
            <a:off x="8366760" y="2880360"/>
            <a:ext cx="2880360" cy="164592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What must change</a:t>
            </a:r>
          </a:p>
          <a:p>
            <a:pPr marL="0" indent="0">
              <a:buNone/>
            </a:pPr>
            <a:r>
              <a:rPr sz="1800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What must remain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86294BE-28B1-4C98-810F-7D6D79E854C5}"/>
              </a:ext>
            </a:extLst>
          </p:cNvPr>
          <p:cNvSpPr>
            <a:spLocks noGrp="1"/>
          </p:cNvSpPr>
          <p:nvPr/>
        </p:nvSpPr>
        <p:spPr>
          <a:xfrm>
            <a:off x="914400" y="5257800"/>
            <a:ext cx="10287000" cy="533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Change one component, then evaluate it again.</a:t>
            </a:r>
          </a:p>
        </p:txBody>
      </p:sp>
    </p:spTree>
    <p:extLst>
      <p:ext uri="{BB962C8B-B14F-4D97-AF65-F5344CB8AC3E}">
        <p14:creationId xmlns:p14="http://schemas.microsoft.com/office/powerpoint/2010/main" val="709137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1BB473-A610-4B1B-BA4C-942D3CBE502C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PART 3 | HOW TO REVISE AI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151527-B902-4BBA-876D-7E5FCDA7EA54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Step 6: Compare the revision with the accepted version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178CE0-545A-4280-AF48-EF164D6876CE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C254121-58FF-4F5C-A9F5-637F623EC801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803F43-ADB1-499B-9E60-967E33833564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6525A8D-44D1-43F5-AC8E-53C69E949E3A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DC691C2-BEC3-48BD-BBBC-A6102CDC36B4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572750" cy="742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Re-evaluate the change and check that previously accepted work still passes.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6AD717E-ED39-496E-B785-E351F1D77385}"/>
              </a:ext>
            </a:extLst>
          </p:cNvPr>
          <p:cNvSpPr>
            <a:spLocks noGrp="1"/>
          </p:cNvSpPr>
          <p:nvPr/>
        </p:nvSpPr>
        <p:spPr>
          <a:xfrm>
            <a:off x="960120" y="2194560"/>
            <a:ext cx="2971800" cy="12801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A7F3D0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Accepted version</a:t>
            </a:r>
          </a:p>
          <a:p>
            <a:pPr marL="0" indent="0" algn="ctr">
              <a:buNone/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already passed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147E0A-E1C2-405E-B483-6B8D333A7991}"/>
              </a:ext>
            </a:extLst>
          </p:cNvPr>
          <p:cNvSpPr>
            <a:spLocks noGrp="1"/>
          </p:cNvSpPr>
          <p:nvPr/>
        </p:nvSpPr>
        <p:spPr>
          <a:xfrm>
            <a:off x="4315968" y="2450592"/>
            <a:ext cx="685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905" tIns="1905" rIns="1905" bIns="1905" anchor="ctr">
            <a:normAutofit/>
          </a:bodyPr>
          <a:lstStyle/>
          <a:p>
            <a:pPr marL="0" indent="0" algn="ctr">
              <a:buNone/>
            </a:pPr>
            <a:r>
              <a:rPr sz="3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9D383D9-92FF-456A-8E64-B1C08191EB2B}"/>
              </a:ext>
            </a:extLst>
          </p:cNvPr>
          <p:cNvSpPr>
            <a:spLocks noGrp="1"/>
          </p:cNvSpPr>
          <p:nvPr/>
        </p:nvSpPr>
        <p:spPr>
          <a:xfrm>
            <a:off x="5394960" y="2194560"/>
            <a:ext cx="297180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Revised component</a:t>
            </a:r>
          </a:p>
          <a:p>
            <a:pPr marL="0" indent="0" algn="ctr">
              <a:buNone/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45520B-489F-4E9F-9AFD-1B21F8CE30AD}"/>
              </a:ext>
            </a:extLst>
          </p:cNvPr>
          <p:cNvSpPr>
            <a:spLocks noGrp="1"/>
          </p:cNvSpPr>
          <p:nvPr/>
        </p:nvSpPr>
        <p:spPr>
          <a:xfrm>
            <a:off x="8823960" y="2194560"/>
            <a:ext cx="2514600" cy="12801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905" tIns="1905" rIns="1905" bIns="1905" anchor="ctr">
            <a:noAutofit/>
          </a:bodyPr>
          <a:lstStyle/>
          <a:p>
            <a:pPr marL="0" indent="0" algn="ctr">
              <a:buNone/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Same checks</a:t>
            </a:r>
          </a:p>
          <a:p>
            <a:pPr marL="0" indent="0" algn="ctr">
              <a:buNone/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must pass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43E9EED-7DB8-49FB-A987-BEE73F3C733E}"/>
              </a:ext>
            </a:extLst>
          </p:cNvPr>
          <p:cNvSpPr>
            <a:spLocks noGrp="1"/>
          </p:cNvSpPr>
          <p:nvPr/>
        </p:nvSpPr>
        <p:spPr>
          <a:xfrm>
            <a:off x="914400" y="3981450"/>
            <a:ext cx="10287000" cy="1809750"/>
          </a:xfrm>
          <a:prstGeom prst="rect">
            <a:avLst/>
          </a:prstGeom>
          <a:noFill/>
        </p:spPr>
        <p:txBody>
          <a:bodyPr wrap="square" lIns="381" tIns="381" rIns="381" bIns="381" anchor="t">
            <a:noAutofit/>
          </a:bodyPr>
          <a:lstStyle/>
          <a:p>
            <a:pPr marL="0" indent="0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Did the revision fix the failure?</a:t>
            </a:r>
          </a:p>
          <a:p>
            <a:pPr marL="0" indent="0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Did it introduce a new problem?</a:t>
            </a:r>
          </a:p>
          <a:p>
            <a:pPr marL="0" indent="0">
              <a:buNone/>
            </a:pPr>
            <a:r>
              <a:rPr sz="1875">
                <a:solidFill>
                  <a:srgbClr val="4B5563"/>
                </a:solidFill>
                <a:latin typeface="Aptos"/>
                <a:ea typeface="Aptos"/>
                <a:cs typeface="Aptos"/>
              </a:rPr>
              <a:t>• Keep the known-good version until the revision passes.</a:t>
            </a:r>
          </a:p>
        </p:txBody>
      </p:sp>
    </p:spTree>
    <p:extLst>
      <p:ext uri="{BB962C8B-B14F-4D97-AF65-F5344CB8AC3E}">
        <p14:creationId xmlns:p14="http://schemas.microsoft.com/office/powerpoint/2010/main" val="227019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03CD3D-88E8-4C39-92A8-C238AD0BF2D4}"/>
              </a:ext>
            </a:extLst>
          </p:cNvPr>
          <p:cNvSpPr>
            <a:spLocks noGrp="1"/>
          </p:cNvSpPr>
          <p:nvPr/>
        </p:nvSpPr>
        <p:spPr>
          <a:xfrm>
            <a:off x="658368" y="36576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sz="1200" b="1">
                <a:solidFill>
                  <a:srgbClr val="2468E8"/>
                </a:solidFill>
              </a:defRPr>
            </a:pPr>
            <a:r>
              <a:rPr sz="1200" b="1">
                <a:solidFill>
                  <a:srgbClr val="2468E8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F6A265-91F6-4ED6-8997-7F8BB83FC1E7}"/>
              </a:ext>
            </a:extLst>
          </p:cNvPr>
          <p:cNvSpPr>
            <a:spLocks noGrp="1"/>
          </p:cNvSpPr>
          <p:nvPr/>
        </p:nvSpPr>
        <p:spPr>
          <a:xfrm>
            <a:off x="640080" y="621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0000" lnSpcReduction="10000"/>
          </a:bodyPr>
          <a:lstStyle/>
          <a:p>
            <a:pPr marL="0" indent="0">
              <a:buNone/>
            </a:pPr>
            <a:r>
              <a:rPr sz="3000" b="1">
                <a:solidFill>
                  <a:srgbClr val="102544"/>
                </a:solidFill>
                <a:latin typeface="Aptos Display"/>
                <a:ea typeface="Aptos Display"/>
                <a:cs typeface="Aptos Display"/>
              </a:rPr>
              <a:t>Revision is complete only after re-evaluation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47E3F2-3485-4432-A840-59402EBD9FE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F6D005-92F6-4FAA-B916-A60DFE29B88A}"/>
              </a:ext>
            </a:extLst>
          </p:cNvPr>
          <p:cNvSpPr>
            <a:spLocks noGrp="1"/>
          </p:cNvSpPr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61FA3D-5B21-43DB-80BE-06C827126241}"/>
              </a:ext>
            </a:extLst>
          </p:cNvPr>
          <p:cNvSpPr>
            <a:spLocks noGrp="1"/>
          </p:cNvSpPr>
          <p:nvPr/>
        </p:nvSpPr>
        <p:spPr>
          <a:xfrm>
            <a:off x="640080" y="651967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AI/HAT Evaluation + Refinement • Nathan J. McNeese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12FEF48-DC0E-4107-A1AD-3DD2777774AC}"/>
              </a:ext>
            </a:extLst>
          </p:cNvPr>
          <p:cNvSpPr>
            <a:spLocks noGrp="1"/>
          </p:cNvSpPr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50">
                <a:solidFill>
                  <a:srgbClr val="66738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77C805C-0E61-46FD-8272-6CBFA670BE8D}"/>
              </a:ext>
            </a:extLst>
          </p:cNvPr>
          <p:cNvSpPr>
            <a:spLocks noGrp="1"/>
          </p:cNvSpPr>
          <p:nvPr/>
        </p:nvSpPr>
        <p:spPr>
          <a:xfrm>
            <a:off x="752475" y="1381125"/>
            <a:ext cx="10287000" cy="8572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21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Evaluate first. If a component fails, revise it deliberately and run the same checks again.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89735ED-5C05-44DD-8999-68277D4500A7}"/>
              </a:ext>
            </a:extLst>
          </p:cNvPr>
          <p:cNvSpPr>
            <a:spLocks noGrp="1"/>
          </p:cNvSpPr>
          <p:nvPr/>
        </p:nvSpPr>
        <p:spPr>
          <a:xfrm>
            <a:off x="2852928" y="3054096"/>
            <a:ext cx="71323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7464EAE-F5CF-4D41-91D7-43D8E15606E9}"/>
              </a:ext>
            </a:extLst>
          </p:cNvPr>
          <p:cNvSpPr>
            <a:spLocks noGrp="1"/>
          </p:cNvSpPr>
          <p:nvPr/>
        </p:nvSpPr>
        <p:spPr>
          <a:xfrm>
            <a:off x="5074920" y="3054096"/>
            <a:ext cx="71323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C6BE5CD-CE2F-4F9E-915D-347AFDDEB717}"/>
              </a:ext>
            </a:extLst>
          </p:cNvPr>
          <p:cNvSpPr>
            <a:spLocks noGrp="1"/>
          </p:cNvSpPr>
          <p:nvPr/>
        </p:nvSpPr>
        <p:spPr>
          <a:xfrm>
            <a:off x="7296912" y="3054096"/>
            <a:ext cx="713232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19C2E2C-285B-4A3B-9864-FAF9136FC6D2}"/>
              </a:ext>
            </a:extLst>
          </p:cNvPr>
          <p:cNvSpPr>
            <a:spLocks noGrp="1"/>
          </p:cNvSpPr>
          <p:nvPr/>
        </p:nvSpPr>
        <p:spPr>
          <a:xfrm>
            <a:off x="1143000" y="2587752"/>
            <a:ext cx="1600200" cy="9144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905" tIns="1905" rIns="1905" bIns="1905" anchor="ctr">
            <a:normAutofit/>
          </a:bodyPr>
          <a:lstStyle/>
          <a:p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Define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D865A24-F209-44B4-864F-B1793A35C075}"/>
              </a:ext>
            </a:extLst>
          </p:cNvPr>
          <p:cNvSpPr>
            <a:spLocks noGrp="1"/>
          </p:cNvSpPr>
          <p:nvPr/>
        </p:nvSpPr>
        <p:spPr>
          <a:xfrm>
            <a:off x="3611880" y="2587752"/>
            <a:ext cx="1600200" cy="914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905" tIns="1905" rIns="1905" bIns="1905" anchor="ctr">
            <a:normAutofit/>
          </a:bodyPr>
          <a:lstStyle/>
          <a:p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038D8AA-5982-4E29-BE5E-6AD763AE176F}"/>
              </a:ext>
            </a:extLst>
          </p:cNvPr>
          <p:cNvSpPr>
            <a:spLocks noGrp="1"/>
          </p:cNvSpPr>
          <p:nvPr/>
        </p:nvSpPr>
        <p:spPr>
          <a:xfrm>
            <a:off x="6080760" y="2587752"/>
            <a:ext cx="1600200" cy="9144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lIns="1905" tIns="1905" rIns="1905" bIns="1905" anchor="ctr">
            <a:normAutofit/>
          </a:bodyPr>
          <a:lstStyle/>
          <a:p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Revise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A527C7A-5ABC-45FD-8CE2-7C2B83FBE95D}"/>
              </a:ext>
            </a:extLst>
          </p:cNvPr>
          <p:cNvSpPr>
            <a:spLocks noGrp="1"/>
          </p:cNvSpPr>
          <p:nvPr/>
        </p:nvSpPr>
        <p:spPr>
          <a:xfrm>
            <a:off x="8549640" y="2587752"/>
            <a:ext cx="1600200" cy="9144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905" tIns="1905" rIns="1905" bIns="1905" anchor="ctr">
            <a:normAutofit/>
          </a:bodyPr>
          <a:lstStyle/>
          <a:p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A45A526-0FED-47BF-A515-2469F8C6DB15}"/>
              </a:ext>
            </a:extLst>
          </p:cNvPr>
          <p:cNvSpPr>
            <a:spLocks noGrp="1"/>
          </p:cNvSpPr>
          <p:nvPr/>
        </p:nvSpPr>
        <p:spPr>
          <a:xfrm>
            <a:off x="1114425" y="3810000"/>
            <a:ext cx="9925050" cy="876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Clear criteria • evidence • focused revision • verified result</a:t>
            </a:r>
          </a:p>
        </p:txBody>
      </p:sp>
    </p:spTree>
    <p:extLst>
      <p:ext uri="{BB962C8B-B14F-4D97-AF65-F5344CB8AC3E}">
        <p14:creationId xmlns:p14="http://schemas.microsoft.com/office/powerpoint/2010/main" val="31340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1544</Words>
  <Application>Microsoft Office PowerPoint</Application>
  <DocSecurity>0</DocSecurity>
  <PresentationFormat>Widescreen</PresentationFormat>
  <Paragraphs>257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Amanda Marie Bleichrodt</cp:lastModifiedBy>
  <cp:revision>1</cp:revision>
  <dcterms:created xsi:type="dcterms:W3CDTF">2026-07-23T18:43:09Z</dcterms:created>
  <dcterms:modified xsi:type="dcterms:W3CDTF">2026-07-24T12:17:23Z</dcterms:modified>
</cp:coreProperties>
</file>