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5" r:id="rId2"/>
    <p:sldId id="315" r:id="rId3"/>
    <p:sldId id="406" r:id="rId4"/>
    <p:sldId id="258" r:id="rId5"/>
    <p:sldId id="259" r:id="rId6"/>
    <p:sldId id="260" r:id="rId7"/>
    <p:sldId id="261" r:id="rId8"/>
    <p:sldId id="264" r:id="rId9"/>
    <p:sldId id="265" r:id="rId10"/>
    <p:sldId id="40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BF551-21A8-4C57-B5C4-6CB24D792BA8}" v="3" dt="2026-07-15T13:38:19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5F4B9ABB-DEB5-4DC3-A8F9-1752A2D02C85}"/>
    <pc:docChg chg="modSld">
      <pc:chgData name="ambleic@clemson.edu" userId="43615028507_tp_box_2" providerId="OAuth2" clId="{5F4B9ABB-DEB5-4DC3-A8F9-1752A2D02C85}" dt="2026-07-15T13:38:19.995" v="2" actId="20577"/>
      <pc:docMkLst>
        <pc:docMk/>
      </pc:docMkLst>
      <pc:sldChg chg="modSp">
        <pc:chgData name="ambleic@clemson.edu" userId="43615028507_tp_box_2" providerId="OAuth2" clId="{5F4B9ABB-DEB5-4DC3-A8F9-1752A2D02C85}" dt="2026-07-15T13:38:19.995" v="2" actId="20577"/>
        <pc:sldMkLst>
          <pc:docMk/>
          <pc:sldMk cId="4120794692" sldId="264"/>
        </pc:sldMkLst>
        <pc:spChg chg="mod">
          <ac:chgData name="ambleic@clemson.edu" userId="43615028507_tp_box_2" providerId="OAuth2" clId="{5F4B9ABB-DEB5-4DC3-A8F9-1752A2D02C85}" dt="2026-07-15T13:38:19.995" v="2" actId="20577"/>
          <ac:spMkLst>
            <pc:docMk/>
            <pc:sldMk cId="4120794692" sldId="264"/>
            <ac:spMk id="8" creationId="{DB924B41-BA66-EF13-BCD1-09251DA3FE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7456-D9D8-A579-B130-E90EBA74A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FF60A-5566-CEE4-8C46-084FE75B7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0375E-F2DD-5567-9439-81F98CA9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0052E-3C1B-4AC0-22FB-9C4EBD0B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0C91E-2F2A-64D3-97FC-482A6EEC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097-AF1E-B579-6149-5A43B860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F07C-ED21-D62A-B52B-6E0EB12A2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9EE4E-295D-70B5-D08C-3BDBC340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F098A-1B47-A373-E546-38A11BCB6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0FF4B-C78F-A1FB-F5C1-ADFA56A1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1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78E5-02D8-AE84-5DA1-25DEADFE4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025DC-DFEE-9B09-84F8-7EAAAEBA4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6B5DB-0FC3-26EA-2327-FDD4E7EB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20857-83D3-0D1E-1524-D9AAA892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72642-0DF9-5984-C024-BEE8A6DB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3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71C0-3F41-8CFE-C19F-EA1EB2E2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3914-6ADE-DD47-B3DE-91F38208C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6B9B6-63F0-9880-9076-72D460606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1175F-FB23-CC56-A509-3C55BEC5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F6522-3191-6A80-07DF-EA138077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52B14-E268-D162-3443-B0E24FFB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4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70AB-8214-340D-1283-F7FA86E9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F6D9B-A264-A68D-1DBF-87EBD6054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634CC-BA44-F4C3-AED3-825FBFA16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80F91-2DA9-7926-8B01-2FB228D76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89CF6-A80C-973E-EC70-8C2C14EFD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5F59F-8B17-D171-F6C0-5DC42958A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F3CDE-D4E6-B273-E5D6-28F96F756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5D692-E711-2774-9823-4E52A8D4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97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150B-B121-3EAB-D864-F12C5401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4A72A-A360-5159-2F27-F744EBE0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9E71D-D495-0F8E-81CD-35CB70E2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F80C5-9EDF-FEA6-00FE-CE27D6C7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7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0C614-88F9-FF16-7AD4-9C95EF05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92BCA-3DA6-FCFD-1566-442D3823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B67E4-1869-5D40-9502-BB904DC7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4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B43C-CF57-7CB1-6383-0864AB6A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20FA7-DBE3-E171-14B4-524E660FB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7DEBF-A795-ABB4-32D4-5880EF4B2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E5ABE-E792-C00A-A843-A099E4ED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A770E-EB77-A381-F747-2B1F70DF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ED8A9-378E-4F36-AD28-C04B7903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59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56BB-BE74-EBF3-BF2E-0EDB7E91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42AC5-8ABA-199B-88E3-4221510EB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99988-3291-9A47-8E6C-4FFEA630D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2A779-EDA6-33F3-FC47-9663C96A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BC4CE-3B7E-0307-7212-23405E51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03F41-D75C-5835-3673-F42BE3C7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76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D319-DD2F-BA13-7369-73A82FBB5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358DD-7851-A8F5-24D0-E6BE7B9FC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4863C-D111-F372-C390-4C714467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5582-8C45-F668-9217-2250F8E5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3C0DB-EB62-85FC-3266-EA88F870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38DD1-BA06-CB32-C4AB-61084B0F1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FAC2B-AD58-9554-9BF2-2FD8EFEA1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39B76-A961-E618-6D6F-1E794A9A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3F44D-9D52-68B9-5274-AE2A9535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D1444-B96A-094D-9E2E-12114064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4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5C408-DB64-90DC-63E8-62AD927D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E5198-AD9C-4261-32C3-D2E81EB39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1EE64-A702-1C25-9AD1-99D11C9EC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77D5A-2C42-4390-88B4-610DCEBE0B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454BB-B38B-954E-3021-5479E4BE2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9D9F0-528F-47C5-C0F7-961A48582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0050F-3650-45A9-9165-BB23923CB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5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mbleic@clemson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Connecting VS Code </a:t>
            </a:r>
            <a:r>
              <a:rPr lang="en-US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Codex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Lab: Supplementary Materials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 – 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4C20-FF5D-4F85-7F34-C937492C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22144-38AE-9D29-1A34-75FC32FD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slide deck provides a step-by-step walkthrough of connecting Codex and VS Code.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 not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have a Codex (ChatGPT) account, you will not be able to connect Codex and VS Code. Please refer to the appropriate slide-deck to connect the AI of your choice to VS Code.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run into issues, please first work with the AI of your choice to troubleshoot.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continue to have issues, please reach out to Amanda Bleichrodt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ambleic@clemson.edu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594787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ED0978-13AB-454B-0650-9D76B0A5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98" y="110641"/>
            <a:ext cx="11154204" cy="663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786F4-6831-FA7D-65EF-B6D35F1C8D15}"/>
              </a:ext>
            </a:extLst>
          </p:cNvPr>
          <p:cNvSpPr txBox="1"/>
          <p:nvPr/>
        </p:nvSpPr>
        <p:spPr>
          <a:xfrm>
            <a:off x="5562601" y="624602"/>
            <a:ext cx="4733924" cy="31700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1: Opening the Extensions Menu</a:t>
            </a:r>
          </a:p>
          <a:p>
            <a:pPr algn="ctr"/>
            <a:endParaRPr lang="en-US" dirty="0"/>
          </a:p>
          <a:p>
            <a:r>
              <a:rPr lang="en-US" dirty="0"/>
              <a:t>To connect Codex to VS Code, first press: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MAC:</a:t>
            </a:r>
            <a:r>
              <a:rPr lang="en-US" dirty="0"/>
              <a:t> </a:t>
            </a:r>
            <a:r>
              <a:rPr lang="en-US" i="1" dirty="0" err="1"/>
              <a:t>Cmd+Shift+X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Windows/Linux: </a:t>
            </a:r>
            <a:r>
              <a:rPr lang="en-US" i="1" dirty="0" err="1"/>
              <a:t>Ctrl+Shift+X</a:t>
            </a:r>
            <a:endParaRPr lang="en-US" i="1" dirty="0"/>
          </a:p>
          <a:p>
            <a:endParaRPr lang="en-US" dirty="0"/>
          </a:p>
          <a:p>
            <a:r>
              <a:rPr lang="en-US" dirty="0"/>
              <a:t>This opens the </a:t>
            </a:r>
            <a:r>
              <a:rPr lang="en-US" i="1" dirty="0"/>
              <a:t>Extensions</a:t>
            </a:r>
            <a:r>
              <a:rPr lang="en-US" dirty="0"/>
              <a:t> view where we can download the “Codex” extension. If that does not work, </a:t>
            </a:r>
            <a:r>
              <a:rPr lang="en-US" b="1" dirty="0"/>
              <a:t>click the </a:t>
            </a:r>
            <a:r>
              <a:rPr lang="en-US" b="1" i="1" dirty="0"/>
              <a:t>Extensions</a:t>
            </a:r>
            <a:r>
              <a:rPr lang="en-US" dirty="0"/>
              <a:t>  icon on the left side of the page.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06853-EAD8-18A4-2AB9-25F6C2E63A06}"/>
              </a:ext>
            </a:extLst>
          </p:cNvPr>
          <p:cNvSpPr/>
          <p:nvPr/>
        </p:nvSpPr>
        <p:spPr>
          <a:xfrm>
            <a:off x="471273" y="1600200"/>
            <a:ext cx="395502" cy="371475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760A2F-5719-6EC7-D58E-A31D52A0DC39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 flipV="1">
            <a:off x="866775" y="1785938"/>
            <a:ext cx="4695826" cy="42371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42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516018-EB37-2FE5-011B-D511DC89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776" y="109273"/>
            <a:ext cx="9150448" cy="66394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3FD3A9-5F7A-E37B-51A5-A1228FBDF5AE}"/>
              </a:ext>
            </a:extLst>
          </p:cNvPr>
          <p:cNvSpPr txBox="1"/>
          <p:nvPr/>
        </p:nvSpPr>
        <p:spPr>
          <a:xfrm>
            <a:off x="5618677" y="4035315"/>
            <a:ext cx="4733924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2: Installing Codex</a:t>
            </a:r>
          </a:p>
          <a:p>
            <a:pPr algn="ctr"/>
            <a:endParaRPr lang="en-US" dirty="0"/>
          </a:p>
          <a:p>
            <a:r>
              <a:rPr lang="en-US" dirty="0"/>
              <a:t>Once you have opened the </a:t>
            </a:r>
            <a:r>
              <a:rPr lang="en-US" i="1" dirty="0"/>
              <a:t>Extensions Marketplace</a:t>
            </a:r>
            <a:r>
              <a:rPr lang="en-US" dirty="0"/>
              <a:t>, then </a:t>
            </a:r>
            <a:r>
              <a:rPr lang="en-US" b="1" dirty="0"/>
              <a:t>search</a:t>
            </a:r>
            <a:r>
              <a:rPr lang="en-US" dirty="0"/>
              <a:t> </a:t>
            </a:r>
            <a:r>
              <a:rPr lang="en-US" b="1" dirty="0"/>
              <a:t>for “Codex”. </a:t>
            </a:r>
            <a:r>
              <a:rPr lang="en-US" dirty="0"/>
              <a:t>The first option you should see is “Codex – OpenAI’s coding agent”; </a:t>
            </a:r>
            <a:r>
              <a:rPr lang="en-US" b="1" dirty="0"/>
              <a:t>click </a:t>
            </a:r>
            <a:r>
              <a:rPr lang="en-US" b="1" i="1" dirty="0"/>
              <a:t>Install</a:t>
            </a:r>
            <a:r>
              <a:rPr lang="en-US" b="1" dirty="0"/>
              <a:t>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B26DE-64D1-EAC3-58F2-421A41688CAC}"/>
              </a:ext>
            </a:extLst>
          </p:cNvPr>
          <p:cNvSpPr/>
          <p:nvPr/>
        </p:nvSpPr>
        <p:spPr>
          <a:xfrm>
            <a:off x="1887794" y="943897"/>
            <a:ext cx="3244645" cy="766916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131AA2-C03B-9C61-6716-CEB8744BA4DF}"/>
              </a:ext>
            </a:extLst>
          </p:cNvPr>
          <p:cNvCxnSpPr>
            <a:stCxn id="6" idx="0"/>
            <a:endCxn id="7" idx="3"/>
          </p:cNvCxnSpPr>
          <p:nvPr/>
        </p:nvCxnSpPr>
        <p:spPr>
          <a:xfrm flipH="1" flipV="1">
            <a:off x="5132439" y="1327355"/>
            <a:ext cx="2853200" cy="270796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96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7F8E0-0A26-DABA-B131-38D776376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31" y="338496"/>
            <a:ext cx="11611339" cy="61810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8CE7B0-FE47-6D0C-E913-C4D54CDAB0D7}"/>
              </a:ext>
            </a:extLst>
          </p:cNvPr>
          <p:cNvSpPr/>
          <p:nvPr/>
        </p:nvSpPr>
        <p:spPr>
          <a:xfrm>
            <a:off x="8072284" y="560437"/>
            <a:ext cx="373626" cy="334297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924A1-BA66-7B4B-F097-7A9EE451A40B}"/>
              </a:ext>
            </a:extLst>
          </p:cNvPr>
          <p:cNvSpPr txBox="1"/>
          <p:nvPr/>
        </p:nvSpPr>
        <p:spPr>
          <a:xfrm>
            <a:off x="2157249" y="2516464"/>
            <a:ext cx="4733924" cy="23391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3: Opening the Codex Chat</a:t>
            </a:r>
          </a:p>
          <a:p>
            <a:pPr algn="ctr"/>
            <a:endParaRPr lang="en-US" dirty="0"/>
          </a:p>
          <a:p>
            <a:r>
              <a:rPr lang="en-US" dirty="0"/>
              <a:t>Once “Codex” has been installed, we can now open the chat box and start the process to connect our Codex/ChatGPT account to VS Code. To open the Codex chat, </a:t>
            </a:r>
            <a:r>
              <a:rPr lang="en-US" b="1" dirty="0"/>
              <a:t>click the flower design </a:t>
            </a:r>
            <a:r>
              <a:rPr lang="en-US" dirty="0"/>
              <a:t>in the upper right-hand corner of the page. </a:t>
            </a:r>
            <a:endParaRPr lang="en-US" i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CB1947-2F1D-53A6-48F4-2F26D50A6FB7}"/>
              </a:ext>
            </a:extLst>
          </p:cNvPr>
          <p:cNvCxnSpPr>
            <a:stCxn id="7" idx="0"/>
            <a:endCxn id="6" idx="1"/>
          </p:cNvCxnSpPr>
          <p:nvPr/>
        </p:nvCxnSpPr>
        <p:spPr>
          <a:xfrm flipV="1">
            <a:off x="4524211" y="727586"/>
            <a:ext cx="3548073" cy="178887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64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41094E-6023-9C65-D2B4-FE6EB4A36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19" y="329387"/>
            <a:ext cx="11691362" cy="61992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E99560-B3A6-4AF2-2370-F191660A8B17}"/>
              </a:ext>
            </a:extLst>
          </p:cNvPr>
          <p:cNvSpPr/>
          <p:nvPr/>
        </p:nvSpPr>
        <p:spPr>
          <a:xfrm>
            <a:off x="10333704" y="5270090"/>
            <a:ext cx="1376516" cy="408547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93A3C-DA6E-5431-DC36-DBF5CBDDF072}"/>
              </a:ext>
            </a:extLst>
          </p:cNvPr>
          <p:cNvSpPr txBox="1"/>
          <p:nvPr/>
        </p:nvSpPr>
        <p:spPr>
          <a:xfrm>
            <a:off x="3966384" y="1916696"/>
            <a:ext cx="4733924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4: Signing in with ChatGPT</a:t>
            </a:r>
          </a:p>
          <a:p>
            <a:pPr algn="ctr"/>
            <a:endParaRPr lang="en-US" dirty="0"/>
          </a:p>
          <a:p>
            <a:r>
              <a:rPr lang="en-US" dirty="0"/>
              <a:t>When you first </a:t>
            </a:r>
            <a:r>
              <a:rPr lang="en-US" dirty="0" err="1"/>
              <a:t>dowload</a:t>
            </a:r>
            <a:r>
              <a:rPr lang="en-US" dirty="0"/>
              <a:t> Codex and open the chat box, you will be prompted to connect to your ChatGPT subscription. To start that process, </a:t>
            </a:r>
            <a:r>
              <a:rPr lang="en-US" b="1" dirty="0"/>
              <a:t>click</a:t>
            </a:r>
            <a:r>
              <a:rPr lang="en-US" dirty="0"/>
              <a:t> </a:t>
            </a:r>
            <a:r>
              <a:rPr lang="en-US" b="1" i="1" dirty="0"/>
              <a:t>Sign in with ChatGPT</a:t>
            </a:r>
            <a:r>
              <a:rPr lang="en-US" dirty="0"/>
              <a:t>. </a:t>
            </a:r>
            <a:endParaRPr lang="en-US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69DE11-45F3-0162-CE06-BDCCDBC75AF0}"/>
              </a:ext>
            </a:extLst>
          </p:cNvPr>
          <p:cNvCxnSpPr>
            <a:stCxn id="8" idx="3"/>
            <a:endCxn id="6" idx="0"/>
          </p:cNvCxnSpPr>
          <p:nvPr/>
        </p:nvCxnSpPr>
        <p:spPr>
          <a:xfrm>
            <a:off x="8700308" y="2809248"/>
            <a:ext cx="2321654" cy="2460842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5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E6D99-AFBF-4B7D-AD81-DC08088C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12" t="15124" r="34431" b="32310"/>
          <a:stretch>
            <a:fillRect/>
          </a:stretch>
        </p:blipFill>
        <p:spPr>
          <a:xfrm>
            <a:off x="209090" y="741634"/>
            <a:ext cx="3519948" cy="305976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3B595-8905-8F25-3739-EB521E898D34}"/>
              </a:ext>
            </a:extLst>
          </p:cNvPr>
          <p:cNvSpPr txBox="1"/>
          <p:nvPr/>
        </p:nvSpPr>
        <p:spPr>
          <a:xfrm>
            <a:off x="209090" y="4507366"/>
            <a:ext cx="11773820" cy="221599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5: Signing into ChatGPT</a:t>
            </a:r>
          </a:p>
          <a:p>
            <a:pPr algn="ctr"/>
            <a:endParaRPr lang="en-US" b="1" i="1" dirty="0"/>
          </a:p>
          <a:p>
            <a:pPr>
              <a:spcAft>
                <a:spcPts val="1200"/>
              </a:spcAft>
            </a:pPr>
            <a:r>
              <a:rPr lang="en-US" dirty="0"/>
              <a:t>After clicking </a:t>
            </a:r>
            <a:r>
              <a:rPr lang="en-US" i="1" dirty="0"/>
              <a:t>Sign in with ChatGPT</a:t>
            </a:r>
            <a:r>
              <a:rPr lang="en-US" dirty="0"/>
              <a:t>, you may be prompted to </a:t>
            </a:r>
            <a:r>
              <a:rPr lang="en-US" i="1" dirty="0"/>
              <a:t>Choose an account to continue into Codex</a:t>
            </a:r>
            <a:r>
              <a:rPr lang="en-US" dirty="0"/>
              <a:t>. </a:t>
            </a:r>
            <a:r>
              <a:rPr lang="en-US" b="1" dirty="0"/>
              <a:t>Select the account shown</a:t>
            </a:r>
            <a:r>
              <a:rPr lang="en-US" dirty="0"/>
              <a:t>, or </a:t>
            </a:r>
            <a:r>
              <a:rPr lang="en-US" b="1" i="1" dirty="0"/>
              <a:t>Log in to another account </a:t>
            </a:r>
            <a:r>
              <a:rPr lang="en-US" dirty="0"/>
              <a:t>(i.e., choose the appropriate response for you). </a:t>
            </a:r>
          </a:p>
          <a:p>
            <a:r>
              <a:rPr lang="en-US" dirty="0"/>
              <a:t>If logging into another account, you will be asked to </a:t>
            </a:r>
            <a:r>
              <a:rPr lang="en-US" b="1" dirty="0"/>
              <a:t>either provide the email address</a:t>
            </a:r>
            <a:r>
              <a:rPr lang="en-US" dirty="0"/>
              <a:t> associated with the account, or to sign in with various 3</a:t>
            </a:r>
            <a:r>
              <a:rPr lang="en-US" baseline="30000" dirty="0"/>
              <a:t>rd</a:t>
            </a:r>
            <a:r>
              <a:rPr lang="en-US" dirty="0"/>
              <a:t> party services (e.g., Google). After entering your account information, you will see one additional menu. </a:t>
            </a:r>
            <a:r>
              <a:rPr lang="en-US" b="1" dirty="0"/>
              <a:t>Select </a:t>
            </a:r>
            <a:r>
              <a:rPr lang="en-US" b="1" i="1" dirty="0"/>
              <a:t>Continue</a:t>
            </a:r>
            <a:r>
              <a:rPr lang="en-US" b="1" dirty="0"/>
              <a:t>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2AC776-A22F-4769-746C-7453E77CE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90" t="14295" r="37097" b="30574"/>
          <a:stretch>
            <a:fillRect/>
          </a:stretch>
        </p:blipFill>
        <p:spPr>
          <a:xfrm>
            <a:off x="4237822" y="197182"/>
            <a:ext cx="3244645" cy="338176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84B65A-3817-EEFD-7E60-580720CBD4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587" r="33792" b="54056"/>
          <a:stretch>
            <a:fillRect/>
          </a:stretch>
        </p:blipFill>
        <p:spPr>
          <a:xfrm>
            <a:off x="7883875" y="947080"/>
            <a:ext cx="4099035" cy="264887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EF124F5-962B-FF71-1095-2370F24237A0}"/>
              </a:ext>
            </a:extLst>
          </p:cNvPr>
          <p:cNvSpPr/>
          <p:nvPr/>
        </p:nvSpPr>
        <p:spPr>
          <a:xfrm>
            <a:off x="540774" y="1720645"/>
            <a:ext cx="2782529" cy="158299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D2BBFD-4FA8-B079-29C8-06822A6439E5}"/>
              </a:ext>
            </a:extLst>
          </p:cNvPr>
          <p:cNvSpPr/>
          <p:nvPr/>
        </p:nvSpPr>
        <p:spPr>
          <a:xfrm>
            <a:off x="4468879" y="1489592"/>
            <a:ext cx="2782529" cy="208935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34B7DF-B617-D8AC-00E1-ACFD43B0EE83}"/>
              </a:ext>
            </a:extLst>
          </p:cNvPr>
          <p:cNvSpPr/>
          <p:nvPr/>
        </p:nvSpPr>
        <p:spPr>
          <a:xfrm>
            <a:off x="9933392" y="2150807"/>
            <a:ext cx="1845653" cy="61451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D96154-F661-379C-FFA5-C5786B81A6B7}"/>
              </a:ext>
            </a:extLst>
          </p:cNvPr>
          <p:cNvCxnSpPr>
            <a:cxnSpLocks/>
            <a:stCxn id="7" idx="0"/>
            <a:endCxn id="12" idx="2"/>
          </p:cNvCxnSpPr>
          <p:nvPr/>
        </p:nvCxnSpPr>
        <p:spPr>
          <a:xfrm flipH="1" flipV="1">
            <a:off x="1932039" y="3303639"/>
            <a:ext cx="4163961" cy="120372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43F414-5A49-B807-A289-C33DEBC89E46}"/>
              </a:ext>
            </a:extLst>
          </p:cNvPr>
          <p:cNvCxnSpPr>
            <a:stCxn id="7" idx="0"/>
            <a:endCxn id="14" idx="2"/>
          </p:cNvCxnSpPr>
          <p:nvPr/>
        </p:nvCxnSpPr>
        <p:spPr>
          <a:xfrm flipH="1" flipV="1">
            <a:off x="5860144" y="3578946"/>
            <a:ext cx="235856" cy="9284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104455-6991-07EE-30B9-46D952DBE102}"/>
              </a:ext>
            </a:extLst>
          </p:cNvPr>
          <p:cNvCxnSpPr>
            <a:stCxn id="7" idx="0"/>
          </p:cNvCxnSpPr>
          <p:nvPr/>
        </p:nvCxnSpPr>
        <p:spPr>
          <a:xfrm flipV="1">
            <a:off x="6096000" y="2765323"/>
            <a:ext cx="4788310" cy="17420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52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0EAE6C-224D-974B-1981-F5CAB2BE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2" y="392657"/>
            <a:ext cx="11995277" cy="60726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E88C8C-50BF-1AC6-5569-4E3A958227D1}"/>
              </a:ext>
            </a:extLst>
          </p:cNvPr>
          <p:cNvSpPr/>
          <p:nvPr/>
        </p:nvSpPr>
        <p:spPr>
          <a:xfrm>
            <a:off x="4768645" y="1415845"/>
            <a:ext cx="2743200" cy="181896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24B41-BA66-EF13-BCD1-09251DA3FE2D}"/>
              </a:ext>
            </a:extLst>
          </p:cNvPr>
          <p:cNvSpPr txBox="1"/>
          <p:nvPr/>
        </p:nvSpPr>
        <p:spPr>
          <a:xfrm>
            <a:off x="254034" y="3784826"/>
            <a:ext cx="4733924" cy="261610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/>
              <a:t>Step 6: </a:t>
            </a:r>
            <a:r>
              <a:rPr lang="en-US" sz="2000" b="1" u="sng" dirty="0"/>
              <a:t>Confirming Set Up</a:t>
            </a:r>
          </a:p>
          <a:p>
            <a:pPr algn="ctr"/>
            <a:endParaRPr lang="en-US" dirty="0"/>
          </a:p>
          <a:p>
            <a:r>
              <a:rPr lang="en-US" dirty="0"/>
              <a:t>After logging in (Step 5) you should see </a:t>
            </a:r>
            <a:r>
              <a:rPr lang="en-US" i="1" dirty="0"/>
              <a:t>Signed in to Codex</a:t>
            </a:r>
            <a:r>
              <a:rPr lang="en-US" dirty="0"/>
              <a:t>. Once you make it to this screen, you can </a:t>
            </a:r>
            <a:r>
              <a:rPr lang="en-US" b="1" dirty="0"/>
              <a:t>close the window </a:t>
            </a:r>
            <a:r>
              <a:rPr lang="en-US" dirty="0"/>
              <a:t>and </a:t>
            </a:r>
            <a:r>
              <a:rPr lang="en-US" b="1" dirty="0"/>
              <a:t>navigate back to VS Code</a:t>
            </a:r>
            <a:r>
              <a:rPr lang="en-US" dirty="0"/>
              <a:t>. </a:t>
            </a:r>
          </a:p>
          <a:p>
            <a:endParaRPr lang="en-US" b="1" i="1" dirty="0"/>
          </a:p>
          <a:p>
            <a:pPr algn="ctr"/>
            <a:r>
              <a:rPr lang="en-US" dirty="0"/>
              <a:t>If you </a:t>
            </a:r>
            <a:r>
              <a:rPr lang="en-US" b="1" dirty="0"/>
              <a:t>do not</a:t>
            </a:r>
            <a:r>
              <a:rPr lang="en-US" dirty="0"/>
              <a:t> see this screen, please let us know!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8BFE40-9367-3AA8-6202-60F3624A0B7E}"/>
              </a:ext>
            </a:extLst>
          </p:cNvPr>
          <p:cNvCxnSpPr>
            <a:stCxn id="8" idx="0"/>
            <a:endCxn id="6" idx="1"/>
          </p:cNvCxnSpPr>
          <p:nvPr/>
        </p:nvCxnSpPr>
        <p:spPr>
          <a:xfrm flipV="1">
            <a:off x="2620996" y="2325329"/>
            <a:ext cx="2147649" cy="14594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79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B27753-B902-E802-90F5-E4C46065C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5" y="250878"/>
            <a:ext cx="11952231" cy="6356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B62A19-DD3D-C2C6-49AA-43B49C4BD677}"/>
              </a:ext>
            </a:extLst>
          </p:cNvPr>
          <p:cNvSpPr txBox="1"/>
          <p:nvPr/>
        </p:nvSpPr>
        <p:spPr>
          <a:xfrm>
            <a:off x="3476012" y="2286000"/>
            <a:ext cx="4733924" cy="178510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Codex in VS Code</a:t>
            </a:r>
          </a:p>
          <a:p>
            <a:pPr algn="ctr"/>
            <a:endParaRPr lang="en-US" dirty="0"/>
          </a:p>
          <a:p>
            <a:r>
              <a:rPr lang="en-US" dirty="0"/>
              <a:t>Once you navigate back to VS Code, you should now see the chat box for Codex ready to go. If you close out the chat, you can re-open it by clicking the flower icon (Step 3).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663320-0CA9-044F-E676-C673D522EE10}"/>
              </a:ext>
            </a:extLst>
          </p:cNvPr>
          <p:cNvSpPr/>
          <p:nvPr/>
        </p:nvSpPr>
        <p:spPr>
          <a:xfrm>
            <a:off x="10107561" y="250878"/>
            <a:ext cx="1964554" cy="6356244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28C53D-6B78-53E6-A9DA-4469C4E14B47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209936" y="3178552"/>
            <a:ext cx="1897625" cy="25044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4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E08C-A7D6-A68E-BCDD-D354234AF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Want to learn more?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922A2-28E8-6218-5F71-D6F2B433D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https://learn.chatgpt.com/docs/codex/ide</a:t>
            </a:r>
          </a:p>
        </p:txBody>
      </p:sp>
    </p:spTree>
    <p:extLst>
      <p:ext uri="{BB962C8B-B14F-4D97-AF65-F5344CB8AC3E}">
        <p14:creationId xmlns:p14="http://schemas.microsoft.com/office/powerpoint/2010/main" val="1466761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538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Connecting VS Code and Codex</vt:lpstr>
      <vt:lpstr>Roadmap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Want to learn more?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2</cp:revision>
  <dcterms:created xsi:type="dcterms:W3CDTF">2026-07-12T05:32:28Z</dcterms:created>
  <dcterms:modified xsi:type="dcterms:W3CDTF">2026-07-15T13:38:27Z</dcterms:modified>
</cp:coreProperties>
</file>