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460" r:id="rId3"/>
    <p:sldId id="462" r:id="rId4"/>
    <p:sldId id="483" r:id="rId5"/>
    <p:sldId id="482" r:id="rId6"/>
    <p:sldId id="484" r:id="rId7"/>
    <p:sldId id="463" r:id="rId8"/>
    <p:sldId id="485" r:id="rId9"/>
    <p:sldId id="486" r:id="rId10"/>
    <p:sldId id="488" r:id="rId11"/>
    <p:sldId id="469" r:id="rId12"/>
    <p:sldId id="470" r:id="rId13"/>
    <p:sldId id="471" r:id="rId14"/>
    <p:sldId id="493" r:id="rId15"/>
    <p:sldId id="489" r:id="rId16"/>
    <p:sldId id="490" r:id="rId17"/>
    <p:sldId id="491" r:id="rId18"/>
    <p:sldId id="492" r:id="rId19"/>
    <p:sldId id="480" r:id="rId20"/>
    <p:sldId id="481" r:id="rId21"/>
    <p:sldId id="267" r:id="rId22"/>
    <p:sldId id="410"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6B4A52-D009-4DAD-97A1-E9E8A9C07555}"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A9720-1ABF-4EB7-B860-3C212697A98A}" type="slidenum">
              <a:rPr lang="en-US" smtClean="0"/>
              <a:t>‹#›</a:t>
            </a:fld>
            <a:endParaRPr lang="en-US"/>
          </a:p>
        </p:txBody>
      </p:sp>
    </p:spTree>
    <p:extLst>
      <p:ext uri="{BB962C8B-B14F-4D97-AF65-F5344CB8AC3E}">
        <p14:creationId xmlns:p14="http://schemas.microsoft.com/office/powerpoint/2010/main" val="1766588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Assumes Activity 1: Running R Code has been completed</a:t>
            </a:r>
          </a:p>
        </p:txBody>
      </p:sp>
      <p:sp>
        <p:nvSpPr>
          <p:cNvPr id="4" name="Slide Number Placeholder 3"/>
          <p:cNvSpPr>
            <a:spLocks noGrp="1"/>
          </p:cNvSpPr>
          <p:nvPr>
            <p:ph type="sldNum" sz="quarter" idx="5"/>
          </p:nvPr>
        </p:nvSpPr>
        <p:spPr/>
        <p:txBody>
          <a:bodyPr/>
          <a:lstStyle/>
          <a:p>
            <a:fld id="{EFC45A4A-0340-4030-8DF6-B0876EC10DF5}" type="slidenum">
              <a:rPr lang="en-US" smtClean="0"/>
              <a:t>2</a:t>
            </a:fld>
            <a:endParaRPr lang="en-US"/>
          </a:p>
        </p:txBody>
      </p:sp>
    </p:spTree>
    <p:extLst>
      <p:ext uri="{BB962C8B-B14F-4D97-AF65-F5344CB8AC3E}">
        <p14:creationId xmlns:p14="http://schemas.microsoft.com/office/powerpoint/2010/main" val="666800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6</a:t>
            </a:fld>
            <a:endParaRPr lang="en-US"/>
          </a:p>
        </p:txBody>
      </p:sp>
    </p:spTree>
    <p:extLst>
      <p:ext uri="{BB962C8B-B14F-4D97-AF65-F5344CB8AC3E}">
        <p14:creationId xmlns:p14="http://schemas.microsoft.com/office/powerpoint/2010/main" val="3675515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Way 2</a:t>
            </a:r>
          </a:p>
        </p:txBody>
      </p:sp>
      <p:sp>
        <p:nvSpPr>
          <p:cNvPr id="4" name="Slide Number Placeholder 3"/>
          <p:cNvSpPr>
            <a:spLocks noGrp="1"/>
          </p:cNvSpPr>
          <p:nvPr>
            <p:ph type="sldNum" sz="quarter" idx="5"/>
          </p:nvPr>
        </p:nvSpPr>
        <p:spPr/>
        <p:txBody>
          <a:bodyPr/>
          <a:lstStyle/>
          <a:p>
            <a:fld id="{EFC45A4A-0340-4030-8DF6-B0876EC10DF5}" type="slidenum">
              <a:rPr lang="en-US" smtClean="0"/>
              <a:t>13</a:t>
            </a:fld>
            <a:endParaRPr lang="en-US"/>
          </a:p>
        </p:txBody>
      </p:sp>
    </p:spTree>
    <p:extLst>
      <p:ext uri="{BB962C8B-B14F-4D97-AF65-F5344CB8AC3E}">
        <p14:creationId xmlns:p14="http://schemas.microsoft.com/office/powerpoint/2010/main" val="1415375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14</a:t>
            </a:fld>
            <a:endParaRPr lang="en-US"/>
          </a:p>
        </p:txBody>
      </p:sp>
    </p:spTree>
    <p:extLst>
      <p:ext uri="{BB962C8B-B14F-4D97-AF65-F5344CB8AC3E}">
        <p14:creationId xmlns:p14="http://schemas.microsoft.com/office/powerpoint/2010/main" val="3621932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69609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46801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CCC0-D1DC-0049-3171-ED644B92C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CF844-FB31-C0AE-A00C-230DAA05D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FF653E-5BE5-96BD-C6B2-4A2319C94C17}"/>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1F488B2C-0F12-955B-6EE9-096BBDAC7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DA28C-C062-09E3-9CC2-A02C1ED00E4C}"/>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119232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755A-334E-EC0C-55F7-A37BB5EE3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6E7A8D-CBAF-1B76-B1F2-F4025DAD7D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E3BC6-399C-A348-3493-7FD89646EAB1}"/>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C99138B2-CA5F-D2E0-E5D3-730922E8C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17E2-B05D-978A-A100-7AD4D4616C69}"/>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08011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3D27-78A9-B07E-85E4-E0491C1710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CC767A-5BC7-359D-CF7C-62EFDF56E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F8A0B8-0A02-873F-2A59-0104CBBAF557}"/>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FB9761F2-61BC-D9A2-A7EB-B9A0AA8FF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A9DE2-1079-9D0F-CA6D-B4E970EB11F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138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E709-4C5F-39F2-E01F-D56EA2E9E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25737-1757-1198-1FAF-1A70D28B7F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18A81-37FD-6D13-5BF5-B6F5429A83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C40F1C-612D-1EDE-A83A-8D3D4820FF5F}"/>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6" name="Footer Placeholder 5">
            <a:extLst>
              <a:ext uri="{FF2B5EF4-FFF2-40B4-BE49-F238E27FC236}">
                <a16:creationId xmlns:a16="http://schemas.microsoft.com/office/drawing/2014/main" id="{73C72805-D6B8-68A7-4714-BBC872984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080E5-8659-9D07-BC12-0A7B8170F38F}"/>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65181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21F7-DF3C-74E3-2897-3CCA35D81C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69153-4EB1-B537-5227-504EB20E3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39D33D-7158-9160-4B00-11CED78015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127AC-95C9-011A-49CA-8316F3D32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CE1210-60C5-2184-046A-1145D0BA60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242B1F-EE27-E93C-16B1-26CFE4B78681}"/>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8" name="Footer Placeholder 7">
            <a:extLst>
              <a:ext uri="{FF2B5EF4-FFF2-40B4-BE49-F238E27FC236}">
                <a16:creationId xmlns:a16="http://schemas.microsoft.com/office/drawing/2014/main" id="{B5F8C892-7B56-2CD5-8580-C95A11D75E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0CF62A-CFDC-2277-2517-4C48599D2031}"/>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81228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B83E-D321-27D2-E0E7-DF9DF80214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560ABA-FA7C-2148-E77E-24C93B56809E}"/>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4" name="Footer Placeholder 3">
            <a:extLst>
              <a:ext uri="{FF2B5EF4-FFF2-40B4-BE49-F238E27FC236}">
                <a16:creationId xmlns:a16="http://schemas.microsoft.com/office/drawing/2014/main" id="{6904AD4B-F724-B78E-E81D-D099BBA970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1BF66B-AB19-ABDF-E4DA-03987F8C345B}"/>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508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F4BB4-9DC0-93B8-E91C-965A0B135E86}"/>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3" name="Footer Placeholder 2">
            <a:extLst>
              <a:ext uri="{FF2B5EF4-FFF2-40B4-BE49-F238E27FC236}">
                <a16:creationId xmlns:a16="http://schemas.microsoft.com/office/drawing/2014/main" id="{EBF695CB-90BE-1D6B-6702-CDA7D989F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77B7C2-09A8-0152-662D-42A3F2BE72E3}"/>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2111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695-9EC8-93B4-1613-E507947B6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EE019-F400-025E-9198-493113358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4A6BB7-1E45-A6D0-3479-939CA2E7A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4582E-FFF0-4BBD-9D27-EB8537D3D171}"/>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6" name="Footer Placeholder 5">
            <a:extLst>
              <a:ext uri="{FF2B5EF4-FFF2-40B4-BE49-F238E27FC236}">
                <a16:creationId xmlns:a16="http://schemas.microsoft.com/office/drawing/2014/main" id="{BEF9AFD8-62E5-2E6B-86A9-E0A471087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3F255-0C74-FD47-EF6D-BBF0FC3770E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4714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2DBE-4C4F-63AE-437A-24F23B6B0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C2A4A-C87A-53DA-86F8-C9B6D4B44C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C2D007-F73C-F202-61C8-AED5D2F3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4DFB5-1AC9-E18D-7508-AB6FCC70E008}"/>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6" name="Footer Placeholder 5">
            <a:extLst>
              <a:ext uri="{FF2B5EF4-FFF2-40B4-BE49-F238E27FC236}">
                <a16:creationId xmlns:a16="http://schemas.microsoft.com/office/drawing/2014/main" id="{98527F30-DDC9-98BE-E7DE-BE678F92EE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B3996-7049-2B9C-2D9E-395D72062A6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229859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9D5E-9891-1626-153E-0D5241885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568D7-02B4-BB74-B7A5-E2DD11244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D402D-DA03-C75D-1985-8F1B853C7A72}"/>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6A93D180-25DB-02AB-8EF5-88BE4374D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3902F-E247-37B0-6531-82158E45CD4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23414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539064-E86F-2662-5D74-98D0302C2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12A47-C537-FE8F-2F8C-F6EFB14087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2A4AB-5264-CFCB-B983-5E542965F1CF}"/>
              </a:ext>
            </a:extLst>
          </p:cNvPr>
          <p:cNvSpPr>
            <a:spLocks noGrp="1"/>
          </p:cNvSpPr>
          <p:nvPr>
            <p:ph type="dt" sz="half" idx="10"/>
          </p:nvPr>
        </p:nvSpPr>
        <p:spPr/>
        <p:txBody>
          <a:body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E92E77F7-B36B-3CF7-BFAA-B5F9E63B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0C304-1703-6675-129B-DD28A3660237}"/>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7611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22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3AA6A7-848C-B12B-DB21-9BA0266DB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74E3F-DC21-9EA1-E405-2E571A45DD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3A990-691E-8386-BCB2-E01753D8E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49C927-FC8C-4E5E-ADC9-E8BAD3639D69}" type="datetimeFigureOut">
              <a:rPr lang="en-US" smtClean="0"/>
              <a:t>7/16/2026</a:t>
            </a:fld>
            <a:endParaRPr lang="en-US"/>
          </a:p>
        </p:txBody>
      </p:sp>
      <p:sp>
        <p:nvSpPr>
          <p:cNvPr id="5" name="Footer Placeholder 4">
            <a:extLst>
              <a:ext uri="{FF2B5EF4-FFF2-40B4-BE49-F238E27FC236}">
                <a16:creationId xmlns:a16="http://schemas.microsoft.com/office/drawing/2014/main" id="{341A3C0B-17AE-81A5-3AD6-99CED382F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5FE41-6BF4-DD2D-E6DF-EAD8A3465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84AF1D-30C5-4150-B436-9B02F65CEBFC}" type="slidenum">
              <a:rPr lang="en-US" smtClean="0"/>
              <a:t>‹#›</a:t>
            </a:fld>
            <a:endParaRPr lang="en-US"/>
          </a:p>
        </p:txBody>
      </p:sp>
    </p:spTree>
    <p:extLst>
      <p:ext uri="{BB962C8B-B14F-4D97-AF65-F5344CB8AC3E}">
        <p14:creationId xmlns:p14="http://schemas.microsoft.com/office/powerpoint/2010/main" val="426738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CA12E-ABD2-0B92-6A3F-BE09167C403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148FBE0-80A0-338B-A765-757A048D6F2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81100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21CD-34EF-EDD4-4D64-947C2C81B6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543F2E-9B4F-CCC3-C687-2FD45CD8FF8E}"/>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rgbClr val="7030A0"/>
                </a:solidFill>
                <a:latin typeface="Arial" panose="020B0604020202020204" pitchFamily="34" charset="0"/>
                <a:cs typeface="Arial" panose="020B0604020202020204" pitchFamily="34" charset="0"/>
              </a:rPr>
              <a:t>GitHub Commits (Uploading Results)</a:t>
            </a:r>
            <a:endParaRPr lang="en-US" sz="4267">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83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17435-B63D-CE82-0F62-0AFC10E8CE24}"/>
              </a:ext>
            </a:extLst>
          </p:cNvPr>
          <p:cNvPicPr>
            <a:picLocks noChangeAspect="1"/>
          </p:cNvPicPr>
          <p:nvPr/>
        </p:nvPicPr>
        <p:blipFill>
          <a:blip r:embed="rId2"/>
          <a:stretch>
            <a:fillRect/>
          </a:stretch>
        </p:blipFill>
        <p:spPr>
          <a:xfrm>
            <a:off x="194200" y="250398"/>
            <a:ext cx="11803600" cy="6357205"/>
          </a:xfrm>
          <a:prstGeom prst="rect">
            <a:avLst/>
          </a:prstGeom>
        </p:spPr>
      </p:pic>
      <p:sp>
        <p:nvSpPr>
          <p:cNvPr id="6" name="TextBox 5">
            <a:extLst>
              <a:ext uri="{FF2B5EF4-FFF2-40B4-BE49-F238E27FC236}">
                <a16:creationId xmlns:a16="http://schemas.microsoft.com/office/drawing/2014/main" id="{0981C317-8632-2A52-68E2-7DBF5C8EA8A6}"/>
              </a:ext>
            </a:extLst>
          </p:cNvPr>
          <p:cNvSpPr txBox="1"/>
          <p:nvPr/>
        </p:nvSpPr>
        <p:spPr>
          <a:xfrm>
            <a:off x="6582959" y="1706959"/>
            <a:ext cx="3755922" cy="2308324"/>
          </a:xfrm>
          <a:prstGeom prst="rect">
            <a:avLst/>
          </a:prstGeom>
          <a:solidFill>
            <a:schemeClr val="bg1"/>
          </a:solidFill>
          <a:ln w="57150">
            <a:solidFill>
              <a:schemeClr val="tx1"/>
            </a:solidFill>
          </a:ln>
        </p:spPr>
        <p:txBody>
          <a:bodyPr wrap="square" rtlCol="0">
            <a:spAutoFit/>
          </a:bodyPr>
          <a:lstStyle/>
          <a:p>
            <a:pPr algn="ctr"/>
            <a:r>
              <a:rPr lang="en-US">
                <a:cs typeface="Courier New" panose="02070309020205020404" pitchFamily="49" charset="0"/>
              </a:rPr>
              <a:t>After completing Activity 1, you should now see an output folder, along with various figures and data files. We are going to walk through how to “push” or upload them to the course GitHub repository and your copy (fork). We will cover </a:t>
            </a:r>
            <a:r>
              <a:rPr lang="en-US" u="sng">
                <a:cs typeface="Courier New" panose="02070309020205020404" pitchFamily="49" charset="0"/>
              </a:rPr>
              <a:t>two</a:t>
            </a:r>
            <a:r>
              <a:rPr lang="en-US">
                <a:cs typeface="Courier New" panose="02070309020205020404" pitchFamily="49" charset="0"/>
              </a:rPr>
              <a:t> ways of pushing to GitHub.</a:t>
            </a:r>
          </a:p>
        </p:txBody>
      </p:sp>
      <p:sp>
        <p:nvSpPr>
          <p:cNvPr id="7" name="Rectangle 6">
            <a:extLst>
              <a:ext uri="{FF2B5EF4-FFF2-40B4-BE49-F238E27FC236}">
                <a16:creationId xmlns:a16="http://schemas.microsoft.com/office/drawing/2014/main" id="{1A0903B5-C4E1-EA56-C2EB-E9B245855539}"/>
              </a:ext>
            </a:extLst>
          </p:cNvPr>
          <p:cNvSpPr/>
          <p:nvPr/>
        </p:nvSpPr>
        <p:spPr>
          <a:xfrm>
            <a:off x="492369" y="546849"/>
            <a:ext cx="2192216" cy="1793631"/>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EF88032-6903-86C9-AB0A-C0715074DA9F}"/>
              </a:ext>
            </a:extLst>
          </p:cNvPr>
          <p:cNvCxnSpPr>
            <a:cxnSpLocks/>
            <a:stCxn id="6" idx="1"/>
            <a:endCxn id="7" idx="3"/>
          </p:cNvCxnSpPr>
          <p:nvPr/>
        </p:nvCxnSpPr>
        <p:spPr>
          <a:xfrm flipH="1" flipV="1">
            <a:off x="2684585" y="1443665"/>
            <a:ext cx="3898374" cy="141745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96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16B08F7-203D-FF69-487A-1159BE1A5C01}"/>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chemeClr val="accent2"/>
                </a:solidFill>
                <a:latin typeface="Arial" panose="020B0604020202020204" pitchFamily="34" charset="0"/>
                <a:cs typeface="Arial" panose="020B0604020202020204" pitchFamily="34" charset="0"/>
              </a:rPr>
              <a:t>Commit via VS Code</a:t>
            </a:r>
            <a:endParaRPr lang="en-US" sz="4267">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15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73B-8E61-CA4F-2BCE-92C225DE81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32D90D-FDAB-63C4-6F1E-E019AA847B4C}"/>
              </a:ext>
            </a:extLst>
          </p:cNvPr>
          <p:cNvPicPr>
            <a:picLocks noChangeAspect="1"/>
          </p:cNvPicPr>
          <p:nvPr/>
        </p:nvPicPr>
        <p:blipFill>
          <a:blip r:embed="rId2"/>
          <a:stretch>
            <a:fillRect/>
          </a:stretch>
        </p:blipFill>
        <p:spPr>
          <a:xfrm>
            <a:off x="194200" y="250398"/>
            <a:ext cx="11803600" cy="6357205"/>
          </a:xfrm>
          <a:prstGeom prst="rect">
            <a:avLst/>
          </a:prstGeom>
        </p:spPr>
      </p:pic>
      <p:sp>
        <p:nvSpPr>
          <p:cNvPr id="6" name="TextBox 5">
            <a:extLst>
              <a:ext uri="{FF2B5EF4-FFF2-40B4-BE49-F238E27FC236}">
                <a16:creationId xmlns:a16="http://schemas.microsoft.com/office/drawing/2014/main" id="{C074C81A-5387-8D86-658E-402F3EEC4B8E}"/>
              </a:ext>
            </a:extLst>
          </p:cNvPr>
          <p:cNvSpPr txBox="1"/>
          <p:nvPr/>
        </p:nvSpPr>
        <p:spPr>
          <a:xfrm>
            <a:off x="4218039" y="1589728"/>
            <a:ext cx="3755922" cy="2585323"/>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1: Open Source Control</a:t>
            </a:r>
          </a:p>
          <a:p>
            <a:pPr algn="ctr"/>
            <a:endParaRPr lang="en-US">
              <a:cs typeface="Courier New" panose="02070309020205020404" pitchFamily="49" charset="0"/>
            </a:endParaRPr>
          </a:p>
          <a:p>
            <a:pPr algn="ctr"/>
            <a:r>
              <a:rPr lang="en-US">
                <a:cs typeface="Courier New" panose="02070309020205020404" pitchFamily="49" charset="0"/>
              </a:rPr>
              <a:t>The first thing we need to do is open the Source Control menu. This is the menu that allows us to version-control our changes, and upload the changes to our local repository in GitHub. To open the control menu, press: </a:t>
            </a:r>
            <a:r>
              <a:rPr lang="en-US" b="1">
                <a:cs typeface="Courier New" panose="02070309020205020404" pitchFamily="49" charset="0"/>
              </a:rPr>
              <a:t>CTRL + SHIFT + G </a:t>
            </a:r>
          </a:p>
        </p:txBody>
      </p:sp>
    </p:spTree>
    <p:extLst>
      <p:ext uri="{BB962C8B-B14F-4D97-AF65-F5344CB8AC3E}">
        <p14:creationId xmlns:p14="http://schemas.microsoft.com/office/powerpoint/2010/main" val="396941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3EF8D2-E72E-296C-8748-5B9650068056}"/>
              </a:ext>
            </a:extLst>
          </p:cNvPr>
          <p:cNvPicPr>
            <a:picLocks noChangeAspect="1"/>
          </p:cNvPicPr>
          <p:nvPr/>
        </p:nvPicPr>
        <p:blipFill>
          <a:blip r:embed="rId3"/>
          <a:stretch>
            <a:fillRect/>
          </a:stretch>
        </p:blipFill>
        <p:spPr>
          <a:xfrm>
            <a:off x="152400" y="241717"/>
            <a:ext cx="11887200" cy="6374566"/>
          </a:xfrm>
          <a:prstGeom prst="rect">
            <a:avLst/>
          </a:prstGeom>
        </p:spPr>
      </p:pic>
      <p:sp>
        <p:nvSpPr>
          <p:cNvPr id="6" name="Rectangle 5">
            <a:extLst>
              <a:ext uri="{FF2B5EF4-FFF2-40B4-BE49-F238E27FC236}">
                <a16:creationId xmlns:a16="http://schemas.microsoft.com/office/drawing/2014/main" id="{97C24295-45AC-85EC-AECA-B37E052CCCBD}"/>
              </a:ext>
            </a:extLst>
          </p:cNvPr>
          <p:cNvSpPr/>
          <p:nvPr/>
        </p:nvSpPr>
        <p:spPr>
          <a:xfrm>
            <a:off x="480646" y="480646"/>
            <a:ext cx="5615354" cy="589670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EB108EF-EDEA-82F5-EB6E-E47794C2045C}"/>
              </a:ext>
            </a:extLst>
          </p:cNvPr>
          <p:cNvSpPr txBox="1"/>
          <p:nvPr/>
        </p:nvSpPr>
        <p:spPr>
          <a:xfrm>
            <a:off x="7482916" y="4135895"/>
            <a:ext cx="3755922" cy="2308324"/>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2: Staging the Files</a:t>
            </a:r>
          </a:p>
          <a:p>
            <a:pPr algn="ctr"/>
            <a:endParaRPr lang="en-US" b="1">
              <a:cs typeface="Courier New" panose="02070309020205020404" pitchFamily="49" charset="0"/>
            </a:endParaRPr>
          </a:p>
          <a:p>
            <a:pPr algn="ctr"/>
            <a:r>
              <a:rPr lang="en-US">
                <a:cs typeface="Courier New" panose="02070309020205020404" pitchFamily="49" charset="0"/>
              </a:rPr>
              <a:t>Staging files is how we tell Git which changes (files) to include in our next commit or upload. For this exercise, we will </a:t>
            </a:r>
            <a:r>
              <a:rPr lang="en-US" b="1">
                <a:cs typeface="Courier New" panose="02070309020205020404" pitchFamily="49" charset="0"/>
              </a:rPr>
              <a:t>upload all files</a:t>
            </a:r>
            <a:r>
              <a:rPr lang="en-US">
                <a:cs typeface="Courier New" panose="02070309020205020404" pitchFamily="49" charset="0"/>
              </a:rPr>
              <a:t>. In VS Code, this is achieved by </a:t>
            </a:r>
            <a:r>
              <a:rPr lang="en-US" b="1">
                <a:cs typeface="Courier New" panose="02070309020205020404" pitchFamily="49" charset="0"/>
              </a:rPr>
              <a:t>clicking the +</a:t>
            </a:r>
            <a:r>
              <a:rPr lang="en-US">
                <a:cs typeface="Courier New" panose="02070309020205020404" pitchFamily="49" charset="0"/>
              </a:rPr>
              <a:t> next to the ‘Changes’ drop down. </a:t>
            </a:r>
          </a:p>
        </p:txBody>
      </p:sp>
      <p:sp>
        <p:nvSpPr>
          <p:cNvPr id="8" name="TextBox 7">
            <a:extLst>
              <a:ext uri="{FF2B5EF4-FFF2-40B4-BE49-F238E27FC236}">
                <a16:creationId xmlns:a16="http://schemas.microsoft.com/office/drawing/2014/main" id="{8A7FDCFF-C0FC-6032-F1E6-9FE546EE27EF}"/>
              </a:ext>
            </a:extLst>
          </p:cNvPr>
          <p:cNvSpPr txBox="1"/>
          <p:nvPr/>
        </p:nvSpPr>
        <p:spPr>
          <a:xfrm>
            <a:off x="7482916" y="480646"/>
            <a:ext cx="3755922" cy="3416320"/>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Source Control Panel</a:t>
            </a:r>
          </a:p>
          <a:p>
            <a:pPr algn="ctr"/>
            <a:endParaRPr lang="en-US">
              <a:cs typeface="Courier New" panose="02070309020205020404" pitchFamily="49" charset="0"/>
            </a:endParaRPr>
          </a:p>
          <a:p>
            <a:pPr algn="ctr"/>
            <a:r>
              <a:rPr lang="en-US">
                <a:cs typeface="Courier New" panose="02070309020205020404" pitchFamily="49" charset="0"/>
              </a:rPr>
              <a:t>The VS Code Source control panel is your visual hub for Git (versioning Software from earlier). It shows all of our modified files at a glance, grouped into ‘Changes’ (edits not yet queued) and ‘Staged Changes’ (edits ready for upload). It Is where we will track what we change, decide what to save, and record it to our projects history. </a:t>
            </a:r>
          </a:p>
        </p:txBody>
      </p:sp>
      <p:cxnSp>
        <p:nvCxnSpPr>
          <p:cNvPr id="10" name="Straight Arrow Connector 9">
            <a:extLst>
              <a:ext uri="{FF2B5EF4-FFF2-40B4-BE49-F238E27FC236}">
                <a16:creationId xmlns:a16="http://schemas.microsoft.com/office/drawing/2014/main" id="{AA7F6CE4-0CE4-97FD-63E2-F1F4883B12CE}"/>
              </a:ext>
            </a:extLst>
          </p:cNvPr>
          <p:cNvCxnSpPr>
            <a:stCxn id="8" idx="1"/>
            <a:endCxn id="6" idx="3"/>
          </p:cNvCxnSpPr>
          <p:nvPr/>
        </p:nvCxnSpPr>
        <p:spPr>
          <a:xfrm flipH="1">
            <a:off x="6096000" y="2188806"/>
            <a:ext cx="1386916" cy="124019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7CF78BAC-D6AB-8A25-2DA4-13EA4D4540BF}"/>
              </a:ext>
            </a:extLst>
          </p:cNvPr>
          <p:cNvSpPr/>
          <p:nvPr/>
        </p:nvSpPr>
        <p:spPr>
          <a:xfrm>
            <a:off x="5521569" y="1160586"/>
            <a:ext cx="257908" cy="2813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E95AB8A-56E3-8BF2-D7F0-73C85517801C}"/>
              </a:ext>
            </a:extLst>
          </p:cNvPr>
          <p:cNvCxnSpPr>
            <a:stCxn id="7" idx="1"/>
            <a:endCxn id="11" idx="2"/>
          </p:cNvCxnSpPr>
          <p:nvPr/>
        </p:nvCxnSpPr>
        <p:spPr>
          <a:xfrm flipH="1" flipV="1">
            <a:off x="5650523" y="1441938"/>
            <a:ext cx="1832393" cy="384811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777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71E38FF-4962-F25E-9781-B81D51A679A1}"/>
              </a:ext>
            </a:extLst>
          </p:cNvPr>
          <p:cNvPicPr>
            <a:picLocks noChangeAspect="1"/>
          </p:cNvPicPr>
          <p:nvPr/>
        </p:nvPicPr>
        <p:blipFill>
          <a:blip r:embed="rId2"/>
          <a:stretch>
            <a:fillRect/>
          </a:stretch>
        </p:blipFill>
        <p:spPr>
          <a:xfrm>
            <a:off x="187570" y="248012"/>
            <a:ext cx="11816861" cy="6361976"/>
          </a:xfrm>
          <a:prstGeom prst="rect">
            <a:avLst/>
          </a:prstGeom>
        </p:spPr>
      </p:pic>
      <p:sp>
        <p:nvSpPr>
          <p:cNvPr id="7" name="TextBox 6">
            <a:extLst>
              <a:ext uri="{FF2B5EF4-FFF2-40B4-BE49-F238E27FC236}">
                <a16:creationId xmlns:a16="http://schemas.microsoft.com/office/drawing/2014/main" id="{DC7F099E-0B5A-9784-8375-4AEF740AF170}"/>
              </a:ext>
            </a:extLst>
          </p:cNvPr>
          <p:cNvSpPr txBox="1"/>
          <p:nvPr/>
        </p:nvSpPr>
        <p:spPr>
          <a:xfrm>
            <a:off x="7225006" y="1451311"/>
            <a:ext cx="4591855" cy="4801314"/>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3: Commit (Upload) to GitHub</a:t>
            </a:r>
          </a:p>
          <a:p>
            <a:pPr algn="ctr"/>
            <a:endParaRPr lang="en-US" b="1">
              <a:cs typeface="Courier New" panose="02070309020205020404" pitchFamily="49" charset="0"/>
            </a:endParaRPr>
          </a:p>
          <a:p>
            <a:pPr algn="ctr"/>
            <a:r>
              <a:rPr lang="en-US">
                <a:cs typeface="Courier New" panose="02070309020205020404" pitchFamily="49" charset="0"/>
              </a:rPr>
              <a:t>After completing Step 2, you should now see that all of your changed files appear under the ‘Staged Changes’ drop down, rather than the ‘Changes’ drop down. Now, to start the process of moving these files to your GitHub repository (fork), we first need to provide a Commit message. This is a note or brief phrase indicating the change that is occurring with this upload. For our activity, we will type: </a:t>
            </a:r>
          </a:p>
          <a:p>
            <a:pPr algn="ctr"/>
            <a:endParaRPr lang="en-US">
              <a:latin typeface="Courier New" panose="02070309020205020404" pitchFamily="49" charset="0"/>
              <a:cs typeface="Courier New" panose="02070309020205020404" pitchFamily="49" charset="0"/>
            </a:endParaRPr>
          </a:p>
          <a:p>
            <a:pPr algn="ctr"/>
            <a:r>
              <a:rPr lang="en-US">
                <a:latin typeface="Courier New" panose="02070309020205020404" pitchFamily="49" charset="0"/>
                <a:cs typeface="Courier New" panose="02070309020205020404" pitchFamily="49" charset="0"/>
              </a:rPr>
              <a:t>activity_1_upload</a:t>
            </a:r>
          </a:p>
          <a:p>
            <a:pPr algn="ctr"/>
            <a:endParaRPr lang="en-US">
              <a:cs typeface="Courier New" panose="02070309020205020404" pitchFamily="49" charset="0"/>
            </a:endParaRPr>
          </a:p>
          <a:p>
            <a:pPr algn="ctr"/>
            <a:r>
              <a:rPr lang="en-US">
                <a:cs typeface="Courier New" panose="02070309020205020404" pitchFamily="49" charset="0"/>
              </a:rPr>
              <a:t>Finally, click </a:t>
            </a:r>
            <a:r>
              <a:rPr lang="en-US" b="1">
                <a:cs typeface="Courier New" panose="02070309020205020404" pitchFamily="49" charset="0"/>
              </a:rPr>
              <a:t>Commit</a:t>
            </a:r>
            <a:r>
              <a:rPr lang="en-US">
                <a:cs typeface="Courier New" panose="02070309020205020404" pitchFamily="49" charset="0"/>
              </a:rPr>
              <a:t> to begin the upload process.</a:t>
            </a:r>
          </a:p>
        </p:txBody>
      </p:sp>
      <p:sp>
        <p:nvSpPr>
          <p:cNvPr id="8" name="Rectangle 7">
            <a:extLst>
              <a:ext uri="{FF2B5EF4-FFF2-40B4-BE49-F238E27FC236}">
                <a16:creationId xmlns:a16="http://schemas.microsoft.com/office/drawing/2014/main" id="{2054A0CC-48D5-92D9-F4C5-EF0BABF6190F}"/>
              </a:ext>
            </a:extLst>
          </p:cNvPr>
          <p:cNvSpPr/>
          <p:nvPr/>
        </p:nvSpPr>
        <p:spPr>
          <a:xfrm>
            <a:off x="486507" y="1187542"/>
            <a:ext cx="961293" cy="261419"/>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BB2548-6992-3A9F-B109-168ECF71246D}"/>
              </a:ext>
            </a:extLst>
          </p:cNvPr>
          <p:cNvSpPr/>
          <p:nvPr/>
        </p:nvSpPr>
        <p:spPr>
          <a:xfrm>
            <a:off x="498230" y="795411"/>
            <a:ext cx="803032" cy="261419"/>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2F07470-F714-EEDA-EA19-34601AA7B459}"/>
              </a:ext>
            </a:extLst>
          </p:cNvPr>
          <p:cNvCxnSpPr>
            <a:cxnSpLocks/>
            <a:stCxn id="7" idx="1"/>
            <a:endCxn id="9" idx="3"/>
          </p:cNvCxnSpPr>
          <p:nvPr/>
        </p:nvCxnSpPr>
        <p:spPr>
          <a:xfrm flipH="1" flipV="1">
            <a:off x="1301262" y="926121"/>
            <a:ext cx="5923744" cy="2925847"/>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0A6424E-09AB-8E87-4093-811BFCC5C887}"/>
              </a:ext>
            </a:extLst>
          </p:cNvPr>
          <p:cNvCxnSpPr>
            <a:cxnSpLocks/>
            <a:stCxn id="7" idx="1"/>
            <a:endCxn id="8" idx="3"/>
          </p:cNvCxnSpPr>
          <p:nvPr/>
        </p:nvCxnSpPr>
        <p:spPr>
          <a:xfrm flipH="1" flipV="1">
            <a:off x="1447800" y="1318252"/>
            <a:ext cx="5777206" cy="253371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EE4CCECE-1EE2-EB9E-5439-E1A6FFE69944}"/>
              </a:ext>
            </a:extLst>
          </p:cNvPr>
          <p:cNvSpPr/>
          <p:nvPr/>
        </p:nvSpPr>
        <p:spPr>
          <a:xfrm>
            <a:off x="2836985" y="1008185"/>
            <a:ext cx="621323" cy="261419"/>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F984DFAB-1FD5-3D83-19F3-E51F93CF1B96}"/>
              </a:ext>
            </a:extLst>
          </p:cNvPr>
          <p:cNvCxnSpPr>
            <a:stCxn id="7" idx="1"/>
            <a:endCxn id="24" idx="2"/>
          </p:cNvCxnSpPr>
          <p:nvPr/>
        </p:nvCxnSpPr>
        <p:spPr>
          <a:xfrm flipH="1" flipV="1">
            <a:off x="3147647" y="1269604"/>
            <a:ext cx="4077359" cy="258236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77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4B365-2376-483E-4DE9-3C0577CA8B7F}"/>
              </a:ext>
            </a:extLst>
          </p:cNvPr>
          <p:cNvPicPr>
            <a:picLocks noChangeAspect="1"/>
          </p:cNvPicPr>
          <p:nvPr/>
        </p:nvPicPr>
        <p:blipFill>
          <a:blip r:embed="rId2"/>
          <a:stretch>
            <a:fillRect/>
          </a:stretch>
        </p:blipFill>
        <p:spPr>
          <a:xfrm>
            <a:off x="219515" y="280992"/>
            <a:ext cx="11752971" cy="6296016"/>
          </a:xfrm>
          <a:prstGeom prst="rect">
            <a:avLst/>
          </a:prstGeom>
        </p:spPr>
      </p:pic>
      <p:sp>
        <p:nvSpPr>
          <p:cNvPr id="6" name="TextBox 5">
            <a:extLst>
              <a:ext uri="{FF2B5EF4-FFF2-40B4-BE49-F238E27FC236}">
                <a16:creationId xmlns:a16="http://schemas.microsoft.com/office/drawing/2014/main" id="{5061455C-2EF6-3227-DBE9-C3C36D0A693C}"/>
              </a:ext>
            </a:extLst>
          </p:cNvPr>
          <p:cNvSpPr txBox="1"/>
          <p:nvPr/>
        </p:nvSpPr>
        <p:spPr>
          <a:xfrm>
            <a:off x="6826421" y="1017557"/>
            <a:ext cx="4591855" cy="5078313"/>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4: Sync Changes</a:t>
            </a:r>
          </a:p>
          <a:p>
            <a:pPr algn="ctr"/>
            <a:endParaRPr lang="en-US" b="1">
              <a:cs typeface="Courier New" panose="02070309020205020404" pitchFamily="49" charset="0"/>
            </a:endParaRPr>
          </a:p>
          <a:p>
            <a:pPr algn="ctr"/>
            <a:r>
              <a:rPr lang="en-US"/>
              <a:t>Syncing keeps your local work and the remote repository (GitHub) in agreement. When you click </a:t>
            </a:r>
            <a:r>
              <a:rPr lang="en-US" b="1"/>
              <a:t>Sync Changes</a:t>
            </a:r>
            <a:r>
              <a:rPr lang="en-US"/>
              <a:t>, VS Code does two things in one step: it pushes your committed changes up to the remote and pulls down any new changes made directly in GitHub. You'll find it at the bottom status bar or in the Source Control panel, often showing arrows with numbers,  ↓ for commits waiting to come down, ↑ for commits waiting to go up. Committing saves your work locally; syncing is what shares it and brings you up to date.</a:t>
            </a:r>
            <a:br>
              <a:rPr lang="en-US"/>
            </a:br>
            <a:br>
              <a:rPr lang="en-US"/>
            </a:br>
            <a:r>
              <a:rPr lang="en-US"/>
              <a:t>To synch your new changes, click </a:t>
            </a:r>
            <a:r>
              <a:rPr lang="en-US" b="1"/>
              <a:t>Sync Changes</a:t>
            </a:r>
            <a:r>
              <a:rPr lang="en-US"/>
              <a:t>.</a:t>
            </a:r>
            <a:endParaRPr lang="en-US">
              <a:cs typeface="Courier New" panose="02070309020205020404" pitchFamily="49" charset="0"/>
            </a:endParaRPr>
          </a:p>
        </p:txBody>
      </p:sp>
      <p:sp>
        <p:nvSpPr>
          <p:cNvPr id="7" name="Rectangle 6">
            <a:extLst>
              <a:ext uri="{FF2B5EF4-FFF2-40B4-BE49-F238E27FC236}">
                <a16:creationId xmlns:a16="http://schemas.microsoft.com/office/drawing/2014/main" id="{99603DA6-DDFE-63EF-30FC-D7BD6897B5E0}"/>
              </a:ext>
            </a:extLst>
          </p:cNvPr>
          <p:cNvSpPr/>
          <p:nvPr/>
        </p:nvSpPr>
        <p:spPr>
          <a:xfrm>
            <a:off x="2567354" y="973016"/>
            <a:ext cx="1301261" cy="36341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7975252-3460-CFED-10DE-9A3DB2C5DC21}"/>
              </a:ext>
            </a:extLst>
          </p:cNvPr>
          <p:cNvCxnSpPr>
            <a:stCxn id="6" idx="1"/>
          </p:cNvCxnSpPr>
          <p:nvPr/>
        </p:nvCxnSpPr>
        <p:spPr>
          <a:xfrm flipH="1" flipV="1">
            <a:off x="3868615" y="1148862"/>
            <a:ext cx="2957806" cy="240785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43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4637C-7F0B-E9A4-D5F6-E5807953AE7B}"/>
              </a:ext>
            </a:extLst>
          </p:cNvPr>
          <p:cNvPicPr>
            <a:picLocks noChangeAspect="1"/>
          </p:cNvPicPr>
          <p:nvPr/>
        </p:nvPicPr>
        <p:blipFill>
          <a:blip r:embed="rId2"/>
          <a:stretch>
            <a:fillRect/>
          </a:stretch>
        </p:blipFill>
        <p:spPr>
          <a:xfrm>
            <a:off x="354590" y="410481"/>
            <a:ext cx="11482821" cy="6037039"/>
          </a:xfrm>
          <a:prstGeom prst="rect">
            <a:avLst/>
          </a:prstGeom>
        </p:spPr>
      </p:pic>
      <p:sp>
        <p:nvSpPr>
          <p:cNvPr id="5" name="TextBox 4">
            <a:extLst>
              <a:ext uri="{FF2B5EF4-FFF2-40B4-BE49-F238E27FC236}">
                <a16:creationId xmlns:a16="http://schemas.microsoft.com/office/drawing/2014/main" id="{6C3A219E-2946-A429-DE37-BFFC2EC91B7B}"/>
              </a:ext>
            </a:extLst>
          </p:cNvPr>
          <p:cNvSpPr txBox="1"/>
          <p:nvPr/>
        </p:nvSpPr>
        <p:spPr>
          <a:xfrm>
            <a:off x="1242646" y="3984231"/>
            <a:ext cx="9706708" cy="2308324"/>
          </a:xfrm>
          <a:prstGeom prst="rect">
            <a:avLst/>
          </a:prstGeom>
          <a:solidFill>
            <a:schemeClr val="bg1"/>
          </a:solidFill>
          <a:ln>
            <a:solidFill>
              <a:schemeClr val="bg1"/>
            </a:solidFill>
          </a:ln>
        </p:spPr>
        <p:txBody>
          <a:bodyPr wrap="square">
            <a:spAutoFit/>
          </a:bodyPr>
          <a:lstStyle/>
          <a:p>
            <a:pPr algn="ctr"/>
            <a:r>
              <a:rPr lang="en-US" b="1">
                <a:cs typeface="Courier New" panose="02070309020205020404" pitchFamily="49" charset="0"/>
              </a:rPr>
              <a:t>Step 5: Confirming Upload to the Main Branch</a:t>
            </a:r>
          </a:p>
          <a:p>
            <a:pPr algn="ctr">
              <a:buNone/>
            </a:pPr>
            <a:endParaRPr lang="en-US"/>
          </a:p>
          <a:p>
            <a:pPr algn="ctr">
              <a:buNone/>
            </a:pPr>
            <a:r>
              <a:rPr lang="en-US"/>
              <a:t>The main branch is your repository's </a:t>
            </a:r>
            <a:r>
              <a:rPr lang="en-US" b="1"/>
              <a:t>official, up-to-date version of your project</a:t>
            </a:r>
            <a:r>
              <a:rPr lang="en-US"/>
              <a:t>. It's what people see by default and what other branches typically merge back into once their changes are ready. Think of it as the trunk: experimental work happens on separate branches, but main holds the version you consider stable and current.</a:t>
            </a:r>
          </a:p>
          <a:p>
            <a:pPr algn="ctr">
              <a:buNone/>
            </a:pPr>
            <a:endParaRPr lang="en-US"/>
          </a:p>
          <a:p>
            <a:pPr algn="ctr">
              <a:buNone/>
            </a:pPr>
            <a:r>
              <a:rPr lang="en-US" b="1"/>
              <a:t>Click OK</a:t>
            </a:r>
            <a:r>
              <a:rPr lang="en-US"/>
              <a:t>. </a:t>
            </a:r>
          </a:p>
        </p:txBody>
      </p:sp>
      <p:sp>
        <p:nvSpPr>
          <p:cNvPr id="6" name="Rectangle 5">
            <a:extLst>
              <a:ext uri="{FF2B5EF4-FFF2-40B4-BE49-F238E27FC236}">
                <a16:creationId xmlns:a16="http://schemas.microsoft.com/office/drawing/2014/main" id="{7EA3459B-E9F1-C07F-0D09-F033E5147189}"/>
              </a:ext>
            </a:extLst>
          </p:cNvPr>
          <p:cNvSpPr/>
          <p:nvPr/>
        </p:nvSpPr>
        <p:spPr>
          <a:xfrm>
            <a:off x="4583723" y="3317630"/>
            <a:ext cx="973015" cy="35169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0046D3E-708D-E8C5-B4E2-D83C4CE64420}"/>
              </a:ext>
            </a:extLst>
          </p:cNvPr>
          <p:cNvCxnSpPr>
            <a:stCxn id="5" idx="0"/>
            <a:endCxn id="6" idx="2"/>
          </p:cNvCxnSpPr>
          <p:nvPr/>
        </p:nvCxnSpPr>
        <p:spPr>
          <a:xfrm flipH="1" flipV="1">
            <a:off x="5070231" y="3669323"/>
            <a:ext cx="1025769" cy="31490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55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2F7E-AD3C-BE75-0860-ABB7BF63A1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5755CA-8BA8-08A6-AFCC-9D6C6AED8F2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chemeClr val="accent2"/>
                </a:solidFill>
                <a:latin typeface="Arial" panose="020B0604020202020204" pitchFamily="34" charset="0"/>
                <a:cs typeface="Arial" panose="020B0604020202020204" pitchFamily="34" charset="0"/>
              </a:rPr>
              <a:t>Commit via GitHub</a:t>
            </a:r>
          </a:p>
          <a:p>
            <a:pPr algn="ctr"/>
            <a:r>
              <a:rPr lang="en-US" sz="2500" b="1">
                <a:solidFill>
                  <a:schemeClr val="accent5"/>
                </a:solidFill>
                <a:latin typeface="Arial" panose="020B0604020202020204" pitchFamily="34" charset="0"/>
                <a:cs typeface="Arial" panose="020B0604020202020204" pitchFamily="34" charset="0"/>
              </a:rPr>
              <a:t>*Does not require Git download</a:t>
            </a:r>
            <a:endParaRPr lang="en-US" sz="250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979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805A5A-38E3-5A06-E860-D69FA481E0C3}"/>
              </a:ext>
            </a:extLst>
          </p:cNvPr>
          <p:cNvPicPr>
            <a:picLocks noChangeAspect="1"/>
          </p:cNvPicPr>
          <p:nvPr/>
        </p:nvPicPr>
        <p:blipFill>
          <a:blip r:embed="rId2"/>
          <a:stretch>
            <a:fillRect/>
          </a:stretch>
        </p:blipFill>
        <p:spPr>
          <a:xfrm>
            <a:off x="367111" y="146539"/>
            <a:ext cx="11457778" cy="6564923"/>
          </a:xfrm>
          <a:prstGeom prst="rect">
            <a:avLst/>
          </a:prstGeom>
        </p:spPr>
      </p:pic>
      <p:sp>
        <p:nvSpPr>
          <p:cNvPr id="2" name="TextBox 1">
            <a:extLst>
              <a:ext uri="{FF2B5EF4-FFF2-40B4-BE49-F238E27FC236}">
                <a16:creationId xmlns:a16="http://schemas.microsoft.com/office/drawing/2014/main" id="{7E1441BD-670B-4930-A175-D6869F5E0462}"/>
              </a:ext>
            </a:extLst>
          </p:cNvPr>
          <p:cNvSpPr txBox="1"/>
          <p:nvPr/>
        </p:nvSpPr>
        <p:spPr>
          <a:xfrm>
            <a:off x="7805301" y="3652990"/>
            <a:ext cx="3755922" cy="2862322"/>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1: Navigate to your GitHub Fork</a:t>
            </a:r>
          </a:p>
          <a:p>
            <a:pPr algn="ctr"/>
            <a:endParaRPr lang="en-US">
              <a:cs typeface="Courier New" panose="02070309020205020404" pitchFamily="49" charset="0"/>
            </a:endParaRPr>
          </a:p>
          <a:p>
            <a:pPr algn="ctr"/>
            <a:r>
              <a:rPr lang="en-US">
                <a:cs typeface="Courier New" panose="02070309020205020404" pitchFamily="49" charset="0"/>
              </a:rPr>
              <a:t>We can also upload or commit our results via GitHub directly. This circumvents the need for the Git download we discussed earlier but takes a bit more time to upload files. First, you will want to navigate to your GitHub fork. </a:t>
            </a:r>
            <a:endParaRPr lang="en-US" b="1">
              <a:cs typeface="Courier New" panose="02070309020205020404" pitchFamily="49" charset="0"/>
            </a:endParaRPr>
          </a:p>
        </p:txBody>
      </p:sp>
    </p:spTree>
    <p:extLst>
      <p:ext uri="{BB962C8B-B14F-4D97-AF65-F5344CB8AC3E}">
        <p14:creationId xmlns:p14="http://schemas.microsoft.com/office/powerpoint/2010/main" val="151898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1C52CF-C4BF-2752-87D4-D5DD9308A389}"/>
              </a:ext>
            </a:extLst>
          </p:cNvPr>
          <p:cNvPicPr>
            <a:picLocks noChangeAspect="1"/>
          </p:cNvPicPr>
          <p:nvPr/>
        </p:nvPicPr>
        <p:blipFill>
          <a:blip r:embed="rId2"/>
          <a:stretch>
            <a:fillRect/>
          </a:stretch>
        </p:blipFill>
        <p:spPr>
          <a:xfrm>
            <a:off x="186521" y="215567"/>
            <a:ext cx="11818959" cy="6426867"/>
          </a:xfrm>
          <a:prstGeom prst="rect">
            <a:avLst/>
          </a:prstGeom>
        </p:spPr>
      </p:pic>
      <p:sp>
        <p:nvSpPr>
          <p:cNvPr id="4" name="TextBox 3">
            <a:extLst>
              <a:ext uri="{FF2B5EF4-FFF2-40B4-BE49-F238E27FC236}">
                <a16:creationId xmlns:a16="http://schemas.microsoft.com/office/drawing/2014/main" id="{8A30DF4E-50EE-34FC-DBDF-D3E28982EF93}"/>
              </a:ext>
            </a:extLst>
          </p:cNvPr>
          <p:cNvSpPr txBox="1"/>
          <p:nvPr/>
        </p:nvSpPr>
        <p:spPr>
          <a:xfrm>
            <a:off x="7805301" y="3652990"/>
            <a:ext cx="3755922" cy="2308324"/>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2: Navigating to the Lab-Materials Folder</a:t>
            </a:r>
          </a:p>
          <a:p>
            <a:pPr algn="ctr"/>
            <a:endParaRPr lang="en-US">
              <a:cs typeface="Courier New" panose="02070309020205020404" pitchFamily="49" charset="0"/>
            </a:endParaRPr>
          </a:p>
          <a:p>
            <a:pPr algn="ctr"/>
            <a:r>
              <a:rPr lang="en-US">
                <a:cs typeface="Courier New" panose="02070309020205020404" pitchFamily="49" charset="0"/>
              </a:rPr>
              <a:t>We want to keep our outputs within the Lab-Materials folder. Therefore, prior to adding our files to GitHub, we need to </a:t>
            </a:r>
            <a:r>
              <a:rPr lang="en-US" b="1">
                <a:cs typeface="Courier New" panose="02070309020205020404" pitchFamily="49" charset="0"/>
              </a:rPr>
              <a:t>navigate to the Lab-Materials folder</a:t>
            </a:r>
            <a:r>
              <a:rPr lang="en-US">
                <a:cs typeface="Courier New" panose="02070309020205020404" pitchFamily="49" charset="0"/>
              </a:rPr>
              <a:t>. </a:t>
            </a:r>
            <a:endParaRPr lang="en-US" b="1">
              <a:cs typeface="Courier New" panose="02070309020205020404" pitchFamily="49" charset="0"/>
            </a:endParaRPr>
          </a:p>
        </p:txBody>
      </p:sp>
    </p:spTree>
    <p:extLst>
      <p:ext uri="{BB962C8B-B14F-4D97-AF65-F5344CB8AC3E}">
        <p14:creationId xmlns:p14="http://schemas.microsoft.com/office/powerpoint/2010/main" val="203508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8F1F83-2EC1-6718-26BF-1F1914635B1C}"/>
              </a:ext>
            </a:extLst>
          </p:cNvPr>
          <p:cNvPicPr>
            <a:picLocks noChangeAspect="1"/>
          </p:cNvPicPr>
          <p:nvPr/>
        </p:nvPicPr>
        <p:blipFill>
          <a:blip r:embed="rId3"/>
          <a:stretch>
            <a:fillRect/>
          </a:stretch>
        </p:blipFill>
        <p:spPr>
          <a:xfrm>
            <a:off x="212048" y="225944"/>
            <a:ext cx="11767904" cy="6406113"/>
          </a:xfrm>
          <a:prstGeom prst="rect">
            <a:avLst/>
          </a:prstGeom>
        </p:spPr>
      </p:pic>
      <p:sp>
        <p:nvSpPr>
          <p:cNvPr id="5" name="TextBox 4">
            <a:extLst>
              <a:ext uri="{FF2B5EF4-FFF2-40B4-BE49-F238E27FC236}">
                <a16:creationId xmlns:a16="http://schemas.microsoft.com/office/drawing/2014/main" id="{FB8BDD8B-9D3E-A959-9A50-F91BA3DC5B69}"/>
              </a:ext>
            </a:extLst>
          </p:cNvPr>
          <p:cNvSpPr txBox="1"/>
          <p:nvPr/>
        </p:nvSpPr>
        <p:spPr>
          <a:xfrm>
            <a:off x="2670048" y="3616414"/>
            <a:ext cx="6001671" cy="2862322"/>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3: Starting the Process of Uploading files </a:t>
            </a:r>
          </a:p>
          <a:p>
            <a:pPr algn="ctr"/>
            <a:endParaRPr lang="en-US">
              <a:cs typeface="Courier New" panose="02070309020205020404" pitchFamily="49" charset="0"/>
            </a:endParaRPr>
          </a:p>
          <a:p>
            <a:pPr algn="ctr"/>
            <a:r>
              <a:rPr lang="en-US">
                <a:cs typeface="Courier New" panose="02070309020205020404" pitchFamily="49" charset="0"/>
              </a:rPr>
              <a:t>To start the process of uploading our files, we first are going to click the </a:t>
            </a:r>
            <a:r>
              <a:rPr lang="en-US" b="1">
                <a:cs typeface="Courier New" panose="02070309020205020404" pitchFamily="49" charset="0"/>
              </a:rPr>
              <a:t>Add file </a:t>
            </a:r>
            <a:r>
              <a:rPr lang="en-US">
                <a:cs typeface="Courier New" panose="02070309020205020404" pitchFamily="49" charset="0"/>
              </a:rPr>
              <a:t>button in the upper right-hand corner. </a:t>
            </a:r>
          </a:p>
          <a:p>
            <a:pPr algn="ctr"/>
            <a:endParaRPr lang="en-US">
              <a:cs typeface="Courier New" panose="02070309020205020404" pitchFamily="49" charset="0"/>
            </a:endParaRPr>
          </a:p>
          <a:p>
            <a:pPr algn="ctr"/>
            <a:r>
              <a:rPr lang="en-US">
                <a:cs typeface="Courier New" panose="02070309020205020404" pitchFamily="49" charset="0"/>
              </a:rPr>
              <a:t>As we already have the files on our local machine we want to upload to GitHub, we need to click </a:t>
            </a:r>
            <a:r>
              <a:rPr lang="en-US" b="1">
                <a:cs typeface="Courier New" panose="02070309020205020404" pitchFamily="49" charset="0"/>
              </a:rPr>
              <a:t>Upload files </a:t>
            </a:r>
            <a:r>
              <a:rPr lang="en-US">
                <a:cs typeface="Courier New" panose="02070309020205020404" pitchFamily="49" charset="0"/>
              </a:rPr>
              <a:t>rather than Create new file. This tells GitHub that we want to search our local machine rather than create something directly in the GitHub.</a:t>
            </a:r>
            <a:endParaRPr lang="en-US" b="1">
              <a:cs typeface="Courier New" panose="02070309020205020404" pitchFamily="49" charset="0"/>
            </a:endParaRPr>
          </a:p>
        </p:txBody>
      </p:sp>
      <p:sp>
        <p:nvSpPr>
          <p:cNvPr id="6" name="Rectangle 5">
            <a:extLst>
              <a:ext uri="{FF2B5EF4-FFF2-40B4-BE49-F238E27FC236}">
                <a16:creationId xmlns:a16="http://schemas.microsoft.com/office/drawing/2014/main" id="{0B0A4036-0306-1CCA-17E7-AE919CBF3E10}"/>
              </a:ext>
            </a:extLst>
          </p:cNvPr>
          <p:cNvSpPr/>
          <p:nvPr/>
        </p:nvSpPr>
        <p:spPr>
          <a:xfrm>
            <a:off x="10728960" y="975360"/>
            <a:ext cx="841248" cy="36576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EC54C11-EA3A-3DC6-E3E1-2BB9B76814E8}"/>
              </a:ext>
            </a:extLst>
          </p:cNvPr>
          <p:cNvSpPr/>
          <p:nvPr/>
        </p:nvSpPr>
        <p:spPr>
          <a:xfrm>
            <a:off x="10107168" y="1548384"/>
            <a:ext cx="1371600" cy="27432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77CA8AD2-81A5-0668-2B34-E7FDC8F6264C}"/>
              </a:ext>
            </a:extLst>
          </p:cNvPr>
          <p:cNvCxnSpPr>
            <a:stCxn id="5" idx="0"/>
            <a:endCxn id="6" idx="1"/>
          </p:cNvCxnSpPr>
          <p:nvPr/>
        </p:nvCxnSpPr>
        <p:spPr>
          <a:xfrm flipV="1">
            <a:off x="5670884" y="1158240"/>
            <a:ext cx="5058076" cy="245817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FD46975-CE89-4564-B567-7B2685B25506}"/>
              </a:ext>
            </a:extLst>
          </p:cNvPr>
          <p:cNvCxnSpPr>
            <a:stCxn id="5" idx="3"/>
            <a:endCxn id="7" idx="2"/>
          </p:cNvCxnSpPr>
          <p:nvPr/>
        </p:nvCxnSpPr>
        <p:spPr>
          <a:xfrm flipV="1">
            <a:off x="8671719" y="1822704"/>
            <a:ext cx="2121249" cy="3224871"/>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6976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158B8-960C-552C-DBD3-54583F7616E5}"/>
              </a:ext>
            </a:extLst>
          </p:cNvPr>
          <p:cNvPicPr>
            <a:picLocks noChangeAspect="1"/>
          </p:cNvPicPr>
          <p:nvPr/>
        </p:nvPicPr>
        <p:blipFill>
          <a:blip r:embed="rId3"/>
          <a:stretch>
            <a:fillRect/>
          </a:stretch>
        </p:blipFill>
        <p:spPr>
          <a:xfrm>
            <a:off x="195072" y="225338"/>
            <a:ext cx="11801856" cy="6407325"/>
          </a:xfrm>
          <a:prstGeom prst="rect">
            <a:avLst/>
          </a:prstGeom>
        </p:spPr>
      </p:pic>
      <p:sp>
        <p:nvSpPr>
          <p:cNvPr id="4" name="TextBox 3">
            <a:extLst>
              <a:ext uri="{FF2B5EF4-FFF2-40B4-BE49-F238E27FC236}">
                <a16:creationId xmlns:a16="http://schemas.microsoft.com/office/drawing/2014/main" id="{5AE42FB4-9AF6-E1C5-3FE6-914E75FE2883}"/>
              </a:ext>
            </a:extLst>
          </p:cNvPr>
          <p:cNvSpPr txBox="1"/>
          <p:nvPr/>
        </p:nvSpPr>
        <p:spPr>
          <a:xfrm>
            <a:off x="6925056" y="3128734"/>
            <a:ext cx="4880007" cy="2585323"/>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4: Uploading the files</a:t>
            </a:r>
          </a:p>
          <a:p>
            <a:pPr algn="ctr"/>
            <a:endParaRPr lang="en-US">
              <a:cs typeface="Courier New" panose="02070309020205020404" pitchFamily="49" charset="0"/>
            </a:endParaRPr>
          </a:p>
          <a:p>
            <a:pPr algn="ctr"/>
            <a:r>
              <a:rPr lang="en-US">
                <a:cs typeface="Courier New" panose="02070309020205020404" pitchFamily="49" charset="0"/>
              </a:rPr>
              <a:t>To upload files, we are going to first click </a:t>
            </a:r>
            <a:r>
              <a:rPr lang="en-US" b="1">
                <a:cs typeface="Courier New" panose="02070309020205020404" pitchFamily="49" charset="0"/>
              </a:rPr>
              <a:t>Choose your files</a:t>
            </a:r>
            <a:r>
              <a:rPr lang="en-US">
                <a:cs typeface="Courier New" panose="02070309020205020404" pitchFamily="49" charset="0"/>
              </a:rPr>
              <a:t>. This will open our file explorer and allow us to drag over our entire output folder. GitHub does not allow you to select an entire folder to upload, only individual files. It will however let you drag over an entire folder, which is what we will do for this activity.</a:t>
            </a:r>
            <a:endParaRPr lang="en-US" b="1">
              <a:cs typeface="Courier New" panose="02070309020205020404" pitchFamily="49" charset="0"/>
            </a:endParaRPr>
          </a:p>
        </p:txBody>
      </p:sp>
      <p:sp>
        <p:nvSpPr>
          <p:cNvPr id="5" name="Rectangle 4">
            <a:extLst>
              <a:ext uri="{FF2B5EF4-FFF2-40B4-BE49-F238E27FC236}">
                <a16:creationId xmlns:a16="http://schemas.microsoft.com/office/drawing/2014/main" id="{FFC1D3AA-F882-A1CF-A835-56169E83F9FF}"/>
              </a:ext>
            </a:extLst>
          </p:cNvPr>
          <p:cNvSpPr/>
          <p:nvPr/>
        </p:nvSpPr>
        <p:spPr>
          <a:xfrm>
            <a:off x="5559552" y="2487168"/>
            <a:ext cx="1133856" cy="2072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D5512A7-77AB-8ED8-722B-43C5032910D8}"/>
              </a:ext>
            </a:extLst>
          </p:cNvPr>
          <p:cNvCxnSpPr>
            <a:stCxn id="4" idx="1"/>
            <a:endCxn id="5" idx="2"/>
          </p:cNvCxnSpPr>
          <p:nvPr/>
        </p:nvCxnSpPr>
        <p:spPr>
          <a:xfrm flipH="1" flipV="1">
            <a:off x="6126480" y="2694432"/>
            <a:ext cx="798576" cy="172696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798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3E489C-7BB3-DC68-7DFA-1E408554475A}"/>
              </a:ext>
            </a:extLst>
          </p:cNvPr>
          <p:cNvPicPr>
            <a:picLocks noChangeAspect="1"/>
          </p:cNvPicPr>
          <p:nvPr/>
        </p:nvPicPr>
        <p:blipFill>
          <a:blip r:embed="rId2"/>
          <a:stretch>
            <a:fillRect/>
          </a:stretch>
        </p:blipFill>
        <p:spPr>
          <a:xfrm>
            <a:off x="753819" y="234542"/>
            <a:ext cx="10684363" cy="6388917"/>
          </a:xfrm>
          <a:prstGeom prst="rect">
            <a:avLst/>
          </a:prstGeom>
        </p:spPr>
      </p:pic>
      <p:sp>
        <p:nvSpPr>
          <p:cNvPr id="5" name="TextBox 4">
            <a:extLst>
              <a:ext uri="{FF2B5EF4-FFF2-40B4-BE49-F238E27FC236}">
                <a16:creationId xmlns:a16="http://schemas.microsoft.com/office/drawing/2014/main" id="{F1AA4085-2235-1792-FEA6-D249EC5D74B4}"/>
              </a:ext>
            </a:extLst>
          </p:cNvPr>
          <p:cNvSpPr txBox="1"/>
          <p:nvPr/>
        </p:nvSpPr>
        <p:spPr>
          <a:xfrm>
            <a:off x="6558174" y="3429000"/>
            <a:ext cx="4880007" cy="2862322"/>
          </a:xfrm>
          <a:prstGeom prst="rect">
            <a:avLst/>
          </a:prstGeom>
          <a:solidFill>
            <a:schemeClr val="bg1"/>
          </a:solidFill>
          <a:ln w="57150">
            <a:solidFill>
              <a:schemeClr val="tx1"/>
            </a:solidFill>
          </a:ln>
        </p:spPr>
        <p:txBody>
          <a:bodyPr wrap="square" rtlCol="0">
            <a:spAutoFit/>
          </a:bodyPr>
          <a:lstStyle/>
          <a:p>
            <a:pPr algn="ctr"/>
            <a:r>
              <a:rPr lang="en-US" b="1">
                <a:cs typeface="Courier New" panose="02070309020205020404" pitchFamily="49" charset="0"/>
              </a:rPr>
              <a:t>Step 4: Dragging the folder</a:t>
            </a:r>
          </a:p>
          <a:p>
            <a:pPr algn="ctr"/>
            <a:endParaRPr lang="en-US">
              <a:cs typeface="Courier New" panose="02070309020205020404" pitchFamily="49" charset="0"/>
            </a:endParaRPr>
          </a:p>
          <a:p>
            <a:pPr algn="ctr"/>
            <a:r>
              <a:rPr lang="en-US">
                <a:cs typeface="Courier New" panose="02070309020205020404" pitchFamily="49" charset="0"/>
              </a:rPr>
              <a:t>As discussed on the previous slide, we want to drag our output folder to GitHub. This ensures that the entire folder moves, and all files within the folder stay within it for the move. </a:t>
            </a:r>
          </a:p>
          <a:p>
            <a:pPr algn="ctr"/>
            <a:endParaRPr lang="en-US" b="1">
              <a:cs typeface="Courier New" panose="02070309020205020404" pitchFamily="49" charset="0"/>
            </a:endParaRPr>
          </a:p>
          <a:p>
            <a:pPr algn="ctr"/>
            <a:r>
              <a:rPr lang="en-US">
                <a:cs typeface="Courier New" panose="02070309020205020404" pitchFamily="49" charset="0"/>
              </a:rPr>
              <a:t>To drag the folder, right click, and move your curser over the Drag additional files here to add them to your repository rectangle on GitHub. </a:t>
            </a:r>
          </a:p>
        </p:txBody>
      </p:sp>
      <p:sp>
        <p:nvSpPr>
          <p:cNvPr id="6" name="Rectangle 5">
            <a:extLst>
              <a:ext uri="{FF2B5EF4-FFF2-40B4-BE49-F238E27FC236}">
                <a16:creationId xmlns:a16="http://schemas.microsoft.com/office/drawing/2014/main" id="{E0E5D046-C04C-20A0-31B0-1A80F727FA27}"/>
              </a:ext>
            </a:extLst>
          </p:cNvPr>
          <p:cNvSpPr/>
          <p:nvPr/>
        </p:nvSpPr>
        <p:spPr>
          <a:xfrm>
            <a:off x="2353056" y="1231392"/>
            <a:ext cx="2462784" cy="32918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3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6183F9-42E9-AE5E-3A2C-603F68D92A32}"/>
              </a:ext>
            </a:extLst>
          </p:cNvPr>
          <p:cNvPicPr>
            <a:picLocks noChangeAspect="1"/>
          </p:cNvPicPr>
          <p:nvPr/>
        </p:nvPicPr>
        <p:blipFill>
          <a:blip r:embed="rId2"/>
          <a:stretch>
            <a:fillRect/>
          </a:stretch>
        </p:blipFill>
        <p:spPr>
          <a:xfrm>
            <a:off x="255697" y="0"/>
            <a:ext cx="11680605" cy="6858000"/>
          </a:xfrm>
          <a:prstGeom prst="rect">
            <a:avLst/>
          </a:prstGeom>
        </p:spPr>
      </p:pic>
    </p:spTree>
    <p:extLst>
      <p:ext uri="{BB962C8B-B14F-4D97-AF65-F5344CB8AC3E}">
        <p14:creationId xmlns:p14="http://schemas.microsoft.com/office/powerpoint/2010/main" val="238546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E6270-43D8-6B6D-4E7E-B57FBE7CDE4C}"/>
              </a:ext>
            </a:extLst>
          </p:cNvPr>
          <p:cNvPicPr>
            <a:picLocks noChangeAspect="1"/>
          </p:cNvPicPr>
          <p:nvPr/>
        </p:nvPicPr>
        <p:blipFill>
          <a:blip r:embed="rId2"/>
          <a:stretch>
            <a:fillRect/>
          </a:stretch>
        </p:blipFill>
        <p:spPr>
          <a:xfrm>
            <a:off x="0" y="1530665"/>
            <a:ext cx="12192000" cy="3796669"/>
          </a:xfrm>
          <a:prstGeom prst="rect">
            <a:avLst/>
          </a:prstGeom>
        </p:spPr>
      </p:pic>
    </p:spTree>
    <p:extLst>
      <p:ext uri="{BB962C8B-B14F-4D97-AF65-F5344CB8AC3E}">
        <p14:creationId xmlns:p14="http://schemas.microsoft.com/office/powerpoint/2010/main" val="229921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03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C5C806-5CF5-E86C-36F6-9D5C75E96047}"/>
              </a:ext>
            </a:extLst>
          </p:cNvPr>
          <p:cNvPicPr>
            <a:picLocks noChangeAspect="1"/>
          </p:cNvPicPr>
          <p:nvPr/>
        </p:nvPicPr>
        <p:blipFill>
          <a:blip r:embed="rId2"/>
          <a:stretch>
            <a:fillRect/>
          </a:stretch>
        </p:blipFill>
        <p:spPr>
          <a:xfrm>
            <a:off x="0" y="115799"/>
            <a:ext cx="12192000" cy="6626402"/>
          </a:xfrm>
          <a:prstGeom prst="rect">
            <a:avLst/>
          </a:prstGeom>
        </p:spPr>
      </p:pic>
    </p:spTree>
    <p:extLst>
      <p:ext uri="{BB962C8B-B14F-4D97-AF65-F5344CB8AC3E}">
        <p14:creationId xmlns:p14="http://schemas.microsoft.com/office/powerpoint/2010/main" val="557881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04A10B-C3DE-85F5-D431-3F480E8A5B83}"/>
              </a:ext>
            </a:extLst>
          </p:cNvPr>
          <p:cNvPicPr>
            <a:picLocks noChangeAspect="1"/>
          </p:cNvPicPr>
          <p:nvPr/>
        </p:nvPicPr>
        <p:blipFill>
          <a:blip r:embed="rId2"/>
          <a:stretch>
            <a:fillRect/>
          </a:stretch>
        </p:blipFill>
        <p:spPr>
          <a:xfrm>
            <a:off x="0" y="108533"/>
            <a:ext cx="12192000" cy="6640934"/>
          </a:xfrm>
          <a:prstGeom prst="rect">
            <a:avLst/>
          </a:prstGeom>
        </p:spPr>
      </p:pic>
    </p:spTree>
    <p:extLst>
      <p:ext uri="{BB962C8B-B14F-4D97-AF65-F5344CB8AC3E}">
        <p14:creationId xmlns:p14="http://schemas.microsoft.com/office/powerpoint/2010/main" val="2408722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487680"/>
            <a:ext cx="10363200" cy="853440"/>
          </a:xfrm>
          <a:prstGeom prst="rect">
            <a:avLst/>
          </a:prstGeom>
          <a:noFill/>
          <a:ln/>
        </p:spPr>
        <p:txBody>
          <a:bodyPr wrap="square" lIns="0" tIns="0" rIns="0" bIns="0" rtlCol="0" anchor="ctr"/>
          <a:lstStyle/>
          <a:p>
            <a:r>
              <a:rPr lang="en-US" sz="4267" b="1">
                <a:solidFill>
                  <a:srgbClr val="1A1A2E"/>
                </a:solidFill>
                <a:latin typeface="Trebuchet MS" pitchFamily="34" charset="0"/>
                <a:ea typeface="Trebuchet MS" pitchFamily="34" charset="-122"/>
                <a:cs typeface="Trebuchet MS" pitchFamily="34" charset="-120"/>
              </a:rPr>
              <a:t>When to Push</a:t>
            </a:r>
            <a:endParaRPr lang="en-US" sz="4267"/>
          </a:p>
        </p:txBody>
      </p:sp>
      <p:sp>
        <p:nvSpPr>
          <p:cNvPr id="3" name="Text 1"/>
          <p:cNvSpPr/>
          <p:nvPr/>
        </p:nvSpPr>
        <p:spPr>
          <a:xfrm>
            <a:off x="853440" y="1280160"/>
            <a:ext cx="10363200" cy="487680"/>
          </a:xfrm>
          <a:prstGeom prst="rect">
            <a:avLst/>
          </a:prstGeom>
          <a:noFill/>
          <a:ln/>
        </p:spPr>
        <p:txBody>
          <a:bodyPr wrap="square" lIns="0" tIns="0" rIns="0" bIns="0" rtlCol="0" anchor="ctr"/>
          <a:lstStyle/>
          <a:p>
            <a:r>
              <a:rPr lang="en-US" sz="1867">
                <a:solidFill>
                  <a:srgbClr val="334155"/>
                </a:solidFill>
                <a:latin typeface="Calibri" pitchFamily="34" charset="0"/>
                <a:ea typeface="Calibri" pitchFamily="34" charset="-122"/>
                <a:cs typeface="Calibri" pitchFamily="34" charset="-120"/>
              </a:rPr>
              <a:t>Push after completing each phase of the lab. Each push is a checkpoint — the agent verifies your progress.</a:t>
            </a:r>
            <a:endParaRPr lang="en-US" sz="1867"/>
          </a:p>
        </p:txBody>
      </p:sp>
      <p:sp>
        <p:nvSpPr>
          <p:cNvPr id="4" name="Shape 2"/>
          <p:cNvSpPr/>
          <p:nvPr/>
        </p:nvSpPr>
        <p:spPr>
          <a:xfrm>
            <a:off x="853440" y="2072640"/>
            <a:ext cx="97536" cy="670560"/>
          </a:xfrm>
          <a:prstGeom prst="rect">
            <a:avLst/>
          </a:prstGeom>
          <a:solidFill>
            <a:srgbClr val="45BF8E"/>
          </a:solidFill>
          <a:ln/>
        </p:spPr>
        <p:txBody>
          <a:bodyPr/>
          <a:lstStyle/>
          <a:p>
            <a:endParaRPr lang="en-US" sz="2400"/>
          </a:p>
        </p:txBody>
      </p:sp>
      <p:sp>
        <p:nvSpPr>
          <p:cNvPr id="5" name="Text 3"/>
          <p:cNvSpPr/>
          <p:nvPr/>
        </p:nvSpPr>
        <p:spPr>
          <a:xfrm>
            <a:off x="1158240" y="2072640"/>
            <a:ext cx="3657600" cy="341376"/>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After Data Cleaning</a:t>
            </a:r>
            <a:endParaRPr lang="en-US" sz="1867"/>
          </a:p>
        </p:txBody>
      </p:sp>
      <p:sp>
        <p:nvSpPr>
          <p:cNvPr id="6" name="Text 4"/>
          <p:cNvSpPr/>
          <p:nvPr/>
        </p:nvSpPr>
        <p:spPr>
          <a:xfrm>
            <a:off x="1158240" y="2414016"/>
            <a:ext cx="10119360" cy="341376"/>
          </a:xfrm>
          <a:prstGeom prst="rect">
            <a:avLst/>
          </a:prstGeom>
          <a:noFill/>
          <a:ln/>
        </p:spPr>
        <p:txBody>
          <a:bodyPr wrap="square" lIns="0" tIns="0" rIns="0" bIns="0" rtlCol="0" anchor="ctr"/>
          <a:lstStyle/>
          <a:p>
            <a:r>
              <a:rPr lang="en-US" sz="1400">
                <a:solidFill>
                  <a:srgbClr val="64748B"/>
                </a:solidFill>
                <a:latin typeface="Consolas" pitchFamily="34" charset="0"/>
                <a:ea typeface="Consolas" pitchFamily="34" charset="-122"/>
                <a:cs typeface="Consolas" pitchFamily="34" charset="-120"/>
              </a:rPr>
              <a:t>rules.md, scripts/01_cleaning.R, output/cleaned_flu_admissions.csv</a:t>
            </a:r>
            <a:endParaRPr lang="en-US" sz="1400"/>
          </a:p>
        </p:txBody>
      </p:sp>
      <p:sp>
        <p:nvSpPr>
          <p:cNvPr id="7" name="Shape 5"/>
          <p:cNvSpPr/>
          <p:nvPr/>
        </p:nvSpPr>
        <p:spPr>
          <a:xfrm>
            <a:off x="853440" y="2926080"/>
            <a:ext cx="97536" cy="670560"/>
          </a:xfrm>
          <a:prstGeom prst="rect">
            <a:avLst/>
          </a:prstGeom>
          <a:solidFill>
            <a:srgbClr val="45BF8E"/>
          </a:solidFill>
          <a:ln/>
        </p:spPr>
        <p:txBody>
          <a:bodyPr/>
          <a:lstStyle/>
          <a:p>
            <a:endParaRPr lang="en-US" sz="2400"/>
          </a:p>
        </p:txBody>
      </p:sp>
      <p:sp>
        <p:nvSpPr>
          <p:cNvPr id="8" name="Text 6"/>
          <p:cNvSpPr/>
          <p:nvPr/>
        </p:nvSpPr>
        <p:spPr>
          <a:xfrm>
            <a:off x="1158240" y="2926080"/>
            <a:ext cx="3657600" cy="341376"/>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After Visualization</a:t>
            </a:r>
            <a:endParaRPr lang="en-US" sz="1867"/>
          </a:p>
        </p:txBody>
      </p:sp>
      <p:sp>
        <p:nvSpPr>
          <p:cNvPr id="9" name="Text 7"/>
          <p:cNvSpPr/>
          <p:nvPr/>
        </p:nvSpPr>
        <p:spPr>
          <a:xfrm>
            <a:off x="1158240" y="3267456"/>
            <a:ext cx="10119360" cy="341376"/>
          </a:xfrm>
          <a:prstGeom prst="rect">
            <a:avLst/>
          </a:prstGeom>
          <a:noFill/>
          <a:ln/>
        </p:spPr>
        <p:txBody>
          <a:bodyPr wrap="square" lIns="0" tIns="0" rIns="0" bIns="0" rtlCol="0" anchor="ctr"/>
          <a:lstStyle/>
          <a:p>
            <a:r>
              <a:rPr lang="en-US" sz="1400">
                <a:solidFill>
                  <a:srgbClr val="64748B"/>
                </a:solidFill>
                <a:latin typeface="Consolas" pitchFamily="34" charset="0"/>
                <a:ea typeface="Consolas" pitchFamily="34" charset="-122"/>
                <a:cs typeface="Consolas" pitchFamily="34" charset="-120"/>
              </a:rPr>
              <a:t>Updated rules.md, scripts/02_visualization.R, output/figures/*.png, output/*.csv</a:t>
            </a:r>
            <a:endParaRPr lang="en-US" sz="1400"/>
          </a:p>
        </p:txBody>
      </p:sp>
      <p:sp>
        <p:nvSpPr>
          <p:cNvPr id="10" name="Shape 8"/>
          <p:cNvSpPr/>
          <p:nvPr/>
        </p:nvSpPr>
        <p:spPr>
          <a:xfrm>
            <a:off x="853440" y="3779520"/>
            <a:ext cx="97536" cy="670560"/>
          </a:xfrm>
          <a:prstGeom prst="rect">
            <a:avLst/>
          </a:prstGeom>
          <a:solidFill>
            <a:srgbClr val="45BF8E"/>
          </a:solidFill>
          <a:ln/>
        </p:spPr>
        <p:txBody>
          <a:bodyPr/>
          <a:lstStyle/>
          <a:p>
            <a:endParaRPr lang="en-US" sz="2400"/>
          </a:p>
        </p:txBody>
      </p:sp>
      <p:sp>
        <p:nvSpPr>
          <p:cNvPr id="11" name="Text 9"/>
          <p:cNvSpPr/>
          <p:nvPr/>
        </p:nvSpPr>
        <p:spPr>
          <a:xfrm>
            <a:off x="1158240" y="3779520"/>
            <a:ext cx="3657600" cy="341376"/>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After Feature Selection</a:t>
            </a:r>
            <a:endParaRPr lang="en-US" sz="1867"/>
          </a:p>
        </p:txBody>
      </p:sp>
      <p:sp>
        <p:nvSpPr>
          <p:cNvPr id="12" name="Text 10"/>
          <p:cNvSpPr/>
          <p:nvPr/>
        </p:nvSpPr>
        <p:spPr>
          <a:xfrm>
            <a:off x="1158240" y="4120896"/>
            <a:ext cx="10119360" cy="341376"/>
          </a:xfrm>
          <a:prstGeom prst="rect">
            <a:avLst/>
          </a:prstGeom>
          <a:noFill/>
          <a:ln/>
        </p:spPr>
        <p:txBody>
          <a:bodyPr wrap="square" lIns="0" tIns="0" rIns="0" bIns="0" rtlCol="0" anchor="ctr"/>
          <a:lstStyle/>
          <a:p>
            <a:r>
              <a:rPr lang="en-US" sz="1400">
                <a:solidFill>
                  <a:srgbClr val="64748B"/>
                </a:solidFill>
                <a:latin typeface="Consolas" pitchFamily="34" charset="0"/>
                <a:ea typeface="Consolas" pitchFamily="34" charset="-122"/>
                <a:cs typeface="Consolas" pitchFamily="34" charset="-120"/>
              </a:rPr>
              <a:t>Updated rules.md, scripts/02b_feature_prep.R, output/modeling_data.csv</a:t>
            </a:r>
            <a:endParaRPr lang="en-US" sz="1400"/>
          </a:p>
        </p:txBody>
      </p:sp>
      <p:sp>
        <p:nvSpPr>
          <p:cNvPr id="13" name="Shape 11"/>
          <p:cNvSpPr/>
          <p:nvPr/>
        </p:nvSpPr>
        <p:spPr>
          <a:xfrm>
            <a:off x="853440" y="4632960"/>
            <a:ext cx="97536" cy="670560"/>
          </a:xfrm>
          <a:prstGeom prst="rect">
            <a:avLst/>
          </a:prstGeom>
          <a:solidFill>
            <a:srgbClr val="45BF8E"/>
          </a:solidFill>
          <a:ln/>
        </p:spPr>
        <p:txBody>
          <a:bodyPr/>
          <a:lstStyle/>
          <a:p>
            <a:endParaRPr lang="en-US" sz="2400"/>
          </a:p>
        </p:txBody>
      </p:sp>
      <p:sp>
        <p:nvSpPr>
          <p:cNvPr id="14" name="Text 12"/>
          <p:cNvSpPr/>
          <p:nvPr/>
        </p:nvSpPr>
        <p:spPr>
          <a:xfrm>
            <a:off x="1158240" y="4632960"/>
            <a:ext cx="3657600" cy="341376"/>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After Modeling &amp; Forecasting</a:t>
            </a:r>
            <a:endParaRPr lang="en-US" sz="1867"/>
          </a:p>
        </p:txBody>
      </p:sp>
      <p:sp>
        <p:nvSpPr>
          <p:cNvPr id="15" name="Text 13"/>
          <p:cNvSpPr/>
          <p:nvPr/>
        </p:nvSpPr>
        <p:spPr>
          <a:xfrm>
            <a:off x="1158240" y="4974336"/>
            <a:ext cx="10119360" cy="341376"/>
          </a:xfrm>
          <a:prstGeom prst="rect">
            <a:avLst/>
          </a:prstGeom>
          <a:noFill/>
          <a:ln/>
        </p:spPr>
        <p:txBody>
          <a:bodyPr wrap="square" lIns="0" tIns="0" rIns="0" bIns="0" rtlCol="0" anchor="ctr"/>
          <a:lstStyle/>
          <a:p>
            <a:r>
              <a:rPr lang="en-US" sz="1400">
                <a:solidFill>
                  <a:srgbClr val="64748B"/>
                </a:solidFill>
                <a:latin typeface="Consolas" pitchFamily="34" charset="0"/>
                <a:ea typeface="Consolas" pitchFamily="34" charset="-122"/>
                <a:cs typeface="Consolas" pitchFamily="34" charset="-120"/>
              </a:rPr>
              <a:t>Updated rules.md, scripts/03_modeling.R, scripts/04_forecasting.R, results/forecasts*.csv</a:t>
            </a:r>
            <a:endParaRPr lang="en-US" sz="1400"/>
          </a:p>
        </p:txBody>
      </p:sp>
      <p:sp>
        <p:nvSpPr>
          <p:cNvPr id="16" name="Shape 14"/>
          <p:cNvSpPr/>
          <p:nvPr/>
        </p:nvSpPr>
        <p:spPr>
          <a:xfrm>
            <a:off x="853440" y="5486400"/>
            <a:ext cx="97536" cy="670560"/>
          </a:xfrm>
          <a:prstGeom prst="rect">
            <a:avLst/>
          </a:prstGeom>
          <a:solidFill>
            <a:srgbClr val="45BF8E"/>
          </a:solidFill>
          <a:ln/>
        </p:spPr>
        <p:txBody>
          <a:bodyPr/>
          <a:lstStyle/>
          <a:p>
            <a:endParaRPr lang="en-US" sz="2400"/>
          </a:p>
        </p:txBody>
      </p:sp>
      <p:sp>
        <p:nvSpPr>
          <p:cNvPr id="17" name="Text 15"/>
          <p:cNvSpPr/>
          <p:nvPr/>
        </p:nvSpPr>
        <p:spPr>
          <a:xfrm>
            <a:off x="1158240" y="5486400"/>
            <a:ext cx="3657600" cy="341376"/>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After Evaluation</a:t>
            </a:r>
            <a:endParaRPr lang="en-US" sz="1867"/>
          </a:p>
        </p:txBody>
      </p:sp>
      <p:sp>
        <p:nvSpPr>
          <p:cNvPr id="18" name="Text 16"/>
          <p:cNvSpPr/>
          <p:nvPr/>
        </p:nvSpPr>
        <p:spPr>
          <a:xfrm>
            <a:off x="1158240" y="5827776"/>
            <a:ext cx="10119360" cy="341376"/>
          </a:xfrm>
          <a:prstGeom prst="rect">
            <a:avLst/>
          </a:prstGeom>
          <a:noFill/>
          <a:ln/>
        </p:spPr>
        <p:txBody>
          <a:bodyPr wrap="square" lIns="0" tIns="0" rIns="0" bIns="0" rtlCol="0" anchor="ctr"/>
          <a:lstStyle/>
          <a:p>
            <a:r>
              <a:rPr lang="en-US" sz="1400">
                <a:solidFill>
                  <a:srgbClr val="64748B"/>
                </a:solidFill>
                <a:latin typeface="Consolas" pitchFamily="34" charset="0"/>
                <a:ea typeface="Consolas" pitchFamily="34" charset="-122"/>
                <a:cs typeface="Consolas" pitchFamily="34" charset="-120"/>
              </a:rPr>
              <a:t>Updated rules.md, scripts/05_evaluation.R, output/eval_*.csv, output/figures/*.png</a:t>
            </a:r>
            <a:endParaRPr lang="en-US" sz="1400"/>
          </a:p>
        </p:txBody>
      </p:sp>
    </p:spTree>
    <p:extLst>
      <p:ext uri="{BB962C8B-B14F-4D97-AF65-F5344CB8AC3E}">
        <p14:creationId xmlns:p14="http://schemas.microsoft.com/office/powerpoint/2010/main" val="3379264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0" cy="6858000"/>
          </a:xfrm>
          <a:prstGeom prst="rect">
            <a:avLst/>
          </a:prstGeom>
          <a:solidFill>
            <a:srgbClr val="0F3460"/>
          </a:solidFill>
          <a:ln/>
        </p:spPr>
        <p:txBody>
          <a:bodyPr/>
          <a:lstStyle/>
          <a:p>
            <a:endParaRPr lang="en-US"/>
          </a:p>
        </p:txBody>
      </p:sp>
      <p:sp>
        <p:nvSpPr>
          <p:cNvPr id="3" name="Text 1"/>
          <p:cNvSpPr/>
          <p:nvPr/>
        </p:nvSpPr>
        <p:spPr>
          <a:xfrm>
            <a:off x="0" y="365760"/>
            <a:ext cx="731520" cy="487680"/>
          </a:xfrm>
          <a:prstGeom prst="rect">
            <a:avLst/>
          </a:prstGeom>
          <a:noFill/>
          <a:ln/>
        </p:spPr>
        <p:txBody>
          <a:bodyPr wrap="square" lIns="0" tIns="0" rIns="0" bIns="0" rtlCol="0" anchor="ctr"/>
          <a:lstStyle/>
          <a:p>
            <a:pPr algn="ctr"/>
            <a:r>
              <a:rPr lang="en-US" sz="1600" b="1">
                <a:solidFill>
                  <a:srgbClr val="FFFFFF"/>
                </a:solidFill>
                <a:latin typeface="Trebuchet MS" pitchFamily="34" charset="0"/>
                <a:ea typeface="Trebuchet MS" pitchFamily="34" charset="-122"/>
                <a:cs typeface="Trebuchet MS" pitchFamily="34" charset="-120"/>
              </a:rPr>
              <a:t>Step 7</a:t>
            </a:r>
            <a:endParaRPr lang="en-US" sz="1600"/>
          </a:p>
        </p:txBody>
      </p:sp>
      <p:sp>
        <p:nvSpPr>
          <p:cNvPr id="4" name="Text 2"/>
          <p:cNvSpPr/>
          <p:nvPr/>
        </p:nvSpPr>
        <p:spPr>
          <a:xfrm>
            <a:off x="1097280" y="487680"/>
            <a:ext cx="9753600" cy="731520"/>
          </a:xfrm>
          <a:prstGeom prst="rect">
            <a:avLst/>
          </a:prstGeom>
          <a:noFill/>
          <a:ln/>
        </p:spPr>
        <p:txBody>
          <a:bodyPr wrap="square" lIns="0" tIns="0" rIns="0" bIns="0" rtlCol="0" anchor="ctr"/>
          <a:lstStyle/>
          <a:p>
            <a:r>
              <a:rPr lang="en-US" sz="4000" b="1">
                <a:solidFill>
                  <a:srgbClr val="1A1A2E"/>
                </a:solidFill>
                <a:latin typeface="Trebuchet MS" pitchFamily="34" charset="0"/>
                <a:ea typeface="Trebuchet MS" pitchFamily="34" charset="-122"/>
                <a:cs typeface="Trebuchet MS" pitchFamily="34" charset="-120"/>
              </a:rPr>
              <a:t>Agent Checks Your Work</a:t>
            </a:r>
            <a:endParaRPr lang="en-US" sz="4000"/>
          </a:p>
        </p:txBody>
      </p:sp>
      <p:sp>
        <p:nvSpPr>
          <p:cNvPr id="5" name="Shape 3"/>
          <p:cNvSpPr/>
          <p:nvPr/>
        </p:nvSpPr>
        <p:spPr>
          <a:xfrm>
            <a:off x="1097280" y="1463040"/>
            <a:ext cx="4876800" cy="3048000"/>
          </a:xfrm>
          <a:prstGeom prst="rect">
            <a:avLst/>
          </a:prstGeom>
          <a:solidFill>
            <a:srgbClr val="F0FDF4"/>
          </a:solidFill>
          <a:ln/>
          <a:effectLst>
            <a:outerShdw blurRad="50800" dist="25400" dir="81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341120" y="1645920"/>
            <a:ext cx="487680" cy="487680"/>
          </a:xfrm>
          <a:prstGeom prst="rect">
            <a:avLst/>
          </a:prstGeom>
        </p:spPr>
      </p:pic>
      <p:sp>
        <p:nvSpPr>
          <p:cNvPr id="7" name="Text 4"/>
          <p:cNvSpPr/>
          <p:nvPr/>
        </p:nvSpPr>
        <p:spPr>
          <a:xfrm>
            <a:off x="1950720" y="1645920"/>
            <a:ext cx="3657600" cy="487680"/>
          </a:xfrm>
          <a:prstGeom prst="rect">
            <a:avLst/>
          </a:prstGeom>
          <a:noFill/>
          <a:ln/>
        </p:spPr>
        <p:txBody>
          <a:bodyPr wrap="square" lIns="0" tIns="0" rIns="0" bIns="0" rtlCol="0" anchor="ctr"/>
          <a:lstStyle/>
          <a:p>
            <a:r>
              <a:rPr lang="en-US" sz="2133" b="1">
                <a:solidFill>
                  <a:srgbClr val="3FB950"/>
                </a:solidFill>
                <a:latin typeface="Trebuchet MS" pitchFamily="34" charset="0"/>
                <a:ea typeface="Trebuchet MS" pitchFamily="34" charset="-122"/>
                <a:cs typeface="Trebuchet MS" pitchFamily="34" charset="-120"/>
              </a:rPr>
              <a:t>All checks passed</a:t>
            </a:r>
            <a:endParaRPr lang="en-US" sz="2133"/>
          </a:p>
        </p:txBody>
      </p:sp>
      <p:sp>
        <p:nvSpPr>
          <p:cNvPr id="8" name="Text 5"/>
          <p:cNvSpPr/>
          <p:nvPr/>
        </p:nvSpPr>
        <p:spPr>
          <a:xfrm>
            <a:off x="1341120" y="2255520"/>
            <a:ext cx="4389120" cy="195072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 Required files exist</a:t>
            </a:r>
            <a:endParaRPr lang="en-US" sz="1600"/>
          </a:p>
          <a:p>
            <a:r>
              <a:rPr lang="en-US" sz="1600">
                <a:solidFill>
                  <a:srgbClr val="334155"/>
                </a:solidFill>
                <a:latin typeface="Calibri" pitchFamily="34" charset="0"/>
                <a:ea typeface="Calibri" pitchFamily="34" charset="-122"/>
                <a:cs typeface="Calibri" pitchFamily="34" charset="-120"/>
              </a:rPr>
              <a:t>✓ Output format is correct</a:t>
            </a:r>
            <a:endParaRPr lang="en-US" sz="1600"/>
          </a:p>
          <a:p>
            <a:r>
              <a:rPr lang="en-US" sz="1600">
                <a:solidFill>
                  <a:srgbClr val="334155"/>
                </a:solidFill>
                <a:latin typeface="Calibri" pitchFamily="34" charset="0"/>
                <a:ea typeface="Calibri" pitchFamily="34" charset="-122"/>
                <a:cs typeface="Calibri" pitchFamily="34" charset="-120"/>
              </a:rPr>
              <a:t>✓ Change log updated</a:t>
            </a:r>
            <a:endParaRPr lang="en-US" sz="1600"/>
          </a:p>
          <a:p>
            <a:endParaRPr lang="en-US" sz="1600"/>
          </a:p>
          <a:p>
            <a:r>
              <a:rPr lang="en-US" sz="1733" b="1">
                <a:solidFill>
                  <a:srgbClr val="3FB950"/>
                </a:solidFill>
                <a:latin typeface="Calibri" pitchFamily="34" charset="0"/>
                <a:ea typeface="Calibri" pitchFamily="34" charset="-122"/>
                <a:cs typeface="Calibri" pitchFamily="34" charset="-120"/>
              </a:rPr>
              <a:t>→ PR auto-merges!</a:t>
            </a:r>
            <a:endParaRPr lang="en-US" sz="1600"/>
          </a:p>
        </p:txBody>
      </p:sp>
      <p:sp>
        <p:nvSpPr>
          <p:cNvPr id="9" name="Shape 6"/>
          <p:cNvSpPr/>
          <p:nvPr/>
        </p:nvSpPr>
        <p:spPr>
          <a:xfrm>
            <a:off x="6339840" y="1463040"/>
            <a:ext cx="4876800" cy="3048000"/>
          </a:xfrm>
          <a:prstGeom prst="rect">
            <a:avLst/>
          </a:prstGeom>
          <a:solidFill>
            <a:srgbClr val="FEF2F2"/>
          </a:solidFill>
          <a:ln/>
          <a:effectLst>
            <a:outerShdw blurRad="50800" dist="25400" dir="8100000" algn="bl" rotWithShape="0">
              <a:srgbClr val="000000">
                <a:alpha val="10000"/>
              </a:srgbClr>
            </a:outerShdw>
          </a:effectLst>
        </p:spPr>
        <p:txBody>
          <a:bodyPr/>
          <a:lstStyle/>
          <a:p>
            <a:endParaRPr lang="en-US"/>
          </a:p>
        </p:txBody>
      </p:sp>
      <p:sp>
        <p:nvSpPr>
          <p:cNvPr id="10" name="Text 7"/>
          <p:cNvSpPr/>
          <p:nvPr/>
        </p:nvSpPr>
        <p:spPr>
          <a:xfrm>
            <a:off x="6461760" y="1645920"/>
            <a:ext cx="487680" cy="487680"/>
          </a:xfrm>
          <a:prstGeom prst="rect">
            <a:avLst/>
          </a:prstGeom>
          <a:noFill/>
          <a:ln/>
        </p:spPr>
        <p:txBody>
          <a:bodyPr wrap="square" lIns="0" tIns="0" rIns="0" bIns="0" rtlCol="0" anchor="ctr"/>
          <a:lstStyle/>
          <a:p>
            <a:pPr algn="ctr"/>
            <a:r>
              <a:rPr lang="en-US" sz="2933">
                <a:solidFill>
                  <a:srgbClr val="F85149"/>
                </a:solidFill>
                <a:latin typeface="Calibri" pitchFamily="34" charset="0"/>
                <a:ea typeface="Calibri" pitchFamily="34" charset="-122"/>
                <a:cs typeface="Calibri" pitchFamily="34" charset="-120"/>
              </a:rPr>
              <a:t>✕</a:t>
            </a:r>
            <a:endParaRPr lang="en-US" sz="2933"/>
          </a:p>
        </p:txBody>
      </p:sp>
      <p:sp>
        <p:nvSpPr>
          <p:cNvPr id="11" name="Text 8"/>
          <p:cNvSpPr/>
          <p:nvPr/>
        </p:nvSpPr>
        <p:spPr>
          <a:xfrm>
            <a:off x="7071360" y="1645920"/>
            <a:ext cx="3657600" cy="487680"/>
          </a:xfrm>
          <a:prstGeom prst="rect">
            <a:avLst/>
          </a:prstGeom>
          <a:noFill/>
          <a:ln/>
        </p:spPr>
        <p:txBody>
          <a:bodyPr wrap="square" lIns="0" tIns="0" rIns="0" bIns="0" rtlCol="0" anchor="ctr"/>
          <a:lstStyle/>
          <a:p>
            <a:r>
              <a:rPr lang="en-US" sz="2133" b="1">
                <a:solidFill>
                  <a:srgbClr val="F85149"/>
                </a:solidFill>
                <a:latin typeface="Trebuchet MS" pitchFamily="34" charset="0"/>
                <a:ea typeface="Trebuchet MS" pitchFamily="34" charset="-122"/>
                <a:cs typeface="Trebuchet MS" pitchFamily="34" charset="-120"/>
              </a:rPr>
              <a:t>Some checks failed</a:t>
            </a:r>
            <a:endParaRPr lang="en-US" sz="2133"/>
          </a:p>
        </p:txBody>
      </p:sp>
      <p:sp>
        <p:nvSpPr>
          <p:cNvPr id="12" name="Text 9"/>
          <p:cNvSpPr/>
          <p:nvPr/>
        </p:nvSpPr>
        <p:spPr>
          <a:xfrm>
            <a:off x="6583680" y="2255520"/>
            <a:ext cx="4389120" cy="195072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 Missing output files</a:t>
            </a:r>
            <a:endParaRPr lang="en-US" sz="1600"/>
          </a:p>
          <a:p>
            <a:r>
              <a:rPr lang="en-US" sz="1600">
                <a:solidFill>
                  <a:srgbClr val="334155"/>
                </a:solidFill>
                <a:latin typeface="Calibri" pitchFamily="34" charset="0"/>
                <a:ea typeface="Calibri" pitchFamily="34" charset="-122"/>
                <a:cs typeface="Calibri" pitchFamily="34" charset="-120"/>
              </a:rPr>
              <a:t>✕ Wrong CSV format</a:t>
            </a:r>
            <a:endParaRPr lang="en-US" sz="1600"/>
          </a:p>
          <a:p>
            <a:endParaRPr lang="en-US" sz="1600"/>
          </a:p>
          <a:p>
            <a:r>
              <a:rPr lang="en-US" sz="1733" b="1">
                <a:solidFill>
                  <a:srgbClr val="F85149"/>
                </a:solidFill>
                <a:latin typeface="Calibri" pitchFamily="34" charset="0"/>
                <a:ea typeface="Calibri" pitchFamily="34" charset="-122"/>
                <a:cs typeface="Calibri" pitchFamily="34" charset="-120"/>
              </a:rPr>
              <a:t>→ Agent leaves feedback</a:t>
            </a:r>
            <a:endParaRPr lang="en-US" sz="1600"/>
          </a:p>
          <a:p>
            <a:r>
              <a:rPr lang="en-US" sz="1733" b="1">
                <a:solidFill>
                  <a:srgbClr val="F85149"/>
                </a:solidFill>
                <a:latin typeface="Calibri" pitchFamily="34" charset="0"/>
                <a:ea typeface="Calibri" pitchFamily="34" charset="-122"/>
                <a:cs typeface="Calibri" pitchFamily="34" charset="-120"/>
              </a:rPr>
              <a:t>→ Fix locally, push again</a:t>
            </a:r>
            <a:endParaRPr lang="en-US" sz="1600"/>
          </a:p>
        </p:txBody>
      </p:sp>
      <p:sp>
        <p:nvSpPr>
          <p:cNvPr id="13" name="Shape 10"/>
          <p:cNvSpPr/>
          <p:nvPr/>
        </p:nvSpPr>
        <p:spPr>
          <a:xfrm>
            <a:off x="1097280" y="4998720"/>
            <a:ext cx="10119360" cy="1219200"/>
          </a:xfrm>
          <a:prstGeom prst="rect">
            <a:avLst/>
          </a:prstGeom>
          <a:solidFill>
            <a:srgbClr val="F6F8FA"/>
          </a:solidFill>
          <a:ln/>
          <a:effectLst>
            <a:outerShdw blurRad="50800" dist="25400" dir="8100000" algn="bl" rotWithShape="0">
              <a:srgbClr val="000000">
                <a:alpha val="10000"/>
              </a:srgbClr>
            </a:outerShdw>
          </a:effectLst>
        </p:spPr>
        <p:txBody>
          <a:bodyPr/>
          <a:lstStyle/>
          <a:p>
            <a:endParaRPr lang="en-US"/>
          </a:p>
        </p:txBody>
      </p:sp>
      <p:sp>
        <p:nvSpPr>
          <p:cNvPr id="14" name="Text 11"/>
          <p:cNvSpPr/>
          <p:nvPr/>
        </p:nvSpPr>
        <p:spPr>
          <a:xfrm>
            <a:off x="1341120" y="5059680"/>
            <a:ext cx="8534400" cy="365760"/>
          </a:xfrm>
          <a:prstGeom prst="rect">
            <a:avLst/>
          </a:prstGeom>
          <a:noFill/>
          <a:ln/>
        </p:spPr>
        <p:txBody>
          <a:bodyPr wrap="square" lIns="0" tIns="0" rIns="0" bIns="0" rtlCol="0" anchor="ctr"/>
          <a:lstStyle/>
          <a:p>
            <a:r>
              <a:rPr lang="en-US" sz="1867" b="1">
                <a:solidFill>
                  <a:srgbClr val="1A1A2E"/>
                </a:solidFill>
                <a:latin typeface="Trebuchet MS" pitchFamily="34" charset="0"/>
                <a:ea typeface="Trebuchet MS" pitchFamily="34" charset="-122"/>
                <a:cs typeface="Trebuchet MS" pitchFamily="34" charset="-120"/>
              </a:rPr>
              <a:t>If checks fail, don't panic:</a:t>
            </a:r>
            <a:endParaRPr lang="en-US" sz="1867"/>
          </a:p>
        </p:txBody>
      </p:sp>
      <p:sp>
        <p:nvSpPr>
          <p:cNvPr id="15" name="Text 12"/>
          <p:cNvSpPr/>
          <p:nvPr/>
        </p:nvSpPr>
        <p:spPr>
          <a:xfrm>
            <a:off x="1341120" y="5486400"/>
            <a:ext cx="9631680" cy="60960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Read the agent's feedback on the PR page → fix the issue in VS Code → commit &amp; push again → the agent re-checks automatically. No new PR needed.</a:t>
            </a:r>
            <a:endParaRPr 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487680"/>
            <a:ext cx="10363200" cy="853440"/>
          </a:xfrm>
          <a:prstGeom prst="rect">
            <a:avLst/>
          </a:prstGeom>
          <a:noFill/>
          <a:ln/>
        </p:spPr>
        <p:txBody>
          <a:bodyPr wrap="square" lIns="0" tIns="0" rIns="0" bIns="0" rtlCol="0" anchor="ctr"/>
          <a:lstStyle/>
          <a:p>
            <a:r>
              <a:rPr lang="en-US" sz="4267" b="1">
                <a:solidFill>
                  <a:srgbClr val="1A1A2E"/>
                </a:solidFill>
                <a:latin typeface="Trebuchet MS" pitchFamily="34" charset="0"/>
                <a:ea typeface="Trebuchet MS" pitchFamily="34" charset="-122"/>
                <a:cs typeface="Trebuchet MS" pitchFamily="34" charset="-120"/>
              </a:rPr>
              <a:t>When Checks Fail</a:t>
            </a:r>
            <a:endParaRPr lang="en-US" sz="4267"/>
          </a:p>
        </p:txBody>
      </p:sp>
      <p:sp>
        <p:nvSpPr>
          <p:cNvPr id="3" name="Text 1"/>
          <p:cNvSpPr/>
          <p:nvPr/>
        </p:nvSpPr>
        <p:spPr>
          <a:xfrm>
            <a:off x="853440" y="1280160"/>
            <a:ext cx="10363200" cy="487680"/>
          </a:xfrm>
          <a:prstGeom prst="rect">
            <a:avLst/>
          </a:prstGeom>
          <a:noFill/>
          <a:ln/>
        </p:spPr>
        <p:txBody>
          <a:bodyPr wrap="square" lIns="0" tIns="0" rIns="0" bIns="0" rtlCol="0" anchor="ctr"/>
          <a:lstStyle/>
          <a:p>
            <a:r>
              <a:rPr lang="en-US" sz="1867">
                <a:solidFill>
                  <a:srgbClr val="334155"/>
                </a:solidFill>
                <a:latin typeface="Calibri" pitchFamily="34" charset="0"/>
                <a:ea typeface="Calibri" pitchFamily="34" charset="-122"/>
                <a:cs typeface="Calibri" pitchFamily="34" charset="-120"/>
              </a:rPr>
              <a:t>Don't panic. Failing checks are a normal part of the workflow. The agent tells you what's wrong.</a:t>
            </a:r>
            <a:endParaRPr lang="en-US" sz="1867"/>
          </a:p>
        </p:txBody>
      </p:sp>
      <p:sp>
        <p:nvSpPr>
          <p:cNvPr id="4" name="Shape 2"/>
          <p:cNvSpPr/>
          <p:nvPr/>
        </p:nvSpPr>
        <p:spPr>
          <a:xfrm>
            <a:off x="853440" y="2072640"/>
            <a:ext cx="10485120" cy="85344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a:p>
        </p:txBody>
      </p:sp>
      <p:sp>
        <p:nvSpPr>
          <p:cNvPr id="5" name="Shape 3"/>
          <p:cNvSpPr/>
          <p:nvPr/>
        </p:nvSpPr>
        <p:spPr>
          <a:xfrm>
            <a:off x="1097280" y="2255520"/>
            <a:ext cx="463296" cy="463296"/>
          </a:xfrm>
          <a:prstGeom prst="ellipse">
            <a:avLst/>
          </a:prstGeom>
          <a:solidFill>
            <a:srgbClr val="F87171"/>
          </a:solidFill>
          <a:ln/>
        </p:spPr>
        <p:txBody>
          <a:bodyPr/>
          <a:lstStyle/>
          <a:p>
            <a:endParaRPr lang="en-US" sz="2400"/>
          </a:p>
        </p:txBody>
      </p:sp>
      <p:sp>
        <p:nvSpPr>
          <p:cNvPr id="6" name="Text 4"/>
          <p:cNvSpPr/>
          <p:nvPr/>
        </p:nvSpPr>
        <p:spPr>
          <a:xfrm>
            <a:off x="1097280" y="2255520"/>
            <a:ext cx="463296" cy="463296"/>
          </a:xfrm>
          <a:prstGeom prst="rect">
            <a:avLst/>
          </a:prstGeom>
          <a:noFill/>
          <a:ln/>
        </p:spPr>
        <p:txBody>
          <a:bodyPr wrap="square" lIns="0" tIns="0" rIns="0" bIns="0" rtlCol="0" anchor="ctr"/>
          <a:lstStyle/>
          <a:p>
            <a:pPr algn="ctr"/>
            <a:r>
              <a:rPr lang="en-US" sz="1867" b="1">
                <a:solidFill>
                  <a:srgbClr val="FFFFFF"/>
                </a:solidFill>
                <a:latin typeface="Trebuchet MS" pitchFamily="34" charset="0"/>
                <a:ea typeface="Trebuchet MS" pitchFamily="34" charset="-122"/>
                <a:cs typeface="Trebuchet MS" pitchFamily="34" charset="-120"/>
              </a:rPr>
              <a:t>1</a:t>
            </a:r>
            <a:endParaRPr lang="en-US" sz="1867"/>
          </a:p>
        </p:txBody>
      </p:sp>
      <p:sp>
        <p:nvSpPr>
          <p:cNvPr id="7" name="Text 5"/>
          <p:cNvSpPr/>
          <p:nvPr/>
        </p:nvSpPr>
        <p:spPr>
          <a:xfrm>
            <a:off x="1828800" y="2133600"/>
            <a:ext cx="9144000" cy="365760"/>
          </a:xfrm>
          <a:prstGeom prst="rect">
            <a:avLst/>
          </a:prstGeom>
          <a:noFill/>
          <a:ln/>
        </p:spPr>
        <p:txBody>
          <a:bodyPr wrap="square" lIns="0" tIns="0" rIns="0" bIns="0" rtlCol="0" anchor="ctr"/>
          <a:lstStyle/>
          <a:p>
            <a:r>
              <a:rPr lang="en-US" sz="2000" b="1">
                <a:solidFill>
                  <a:srgbClr val="1A1A2E"/>
                </a:solidFill>
                <a:latin typeface="Trebuchet MS" pitchFamily="34" charset="0"/>
                <a:ea typeface="Trebuchet MS" pitchFamily="34" charset="-122"/>
                <a:cs typeface="Trebuchet MS" pitchFamily="34" charset="-120"/>
              </a:rPr>
              <a:t>Read the feedback</a:t>
            </a:r>
            <a:endParaRPr lang="en-US" sz="2000"/>
          </a:p>
        </p:txBody>
      </p:sp>
      <p:sp>
        <p:nvSpPr>
          <p:cNvPr id="8" name="Text 6"/>
          <p:cNvSpPr/>
          <p:nvPr/>
        </p:nvSpPr>
        <p:spPr>
          <a:xfrm>
            <a:off x="1828800" y="2499360"/>
            <a:ext cx="9144000" cy="36576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The agent posts a comment on your PR explaining what failed.</a:t>
            </a:r>
            <a:endParaRPr lang="en-US" sz="1600"/>
          </a:p>
        </p:txBody>
      </p:sp>
      <p:sp>
        <p:nvSpPr>
          <p:cNvPr id="9" name="Shape 7"/>
          <p:cNvSpPr/>
          <p:nvPr/>
        </p:nvSpPr>
        <p:spPr>
          <a:xfrm>
            <a:off x="853440" y="3108960"/>
            <a:ext cx="10485120" cy="853440"/>
          </a:xfrm>
          <a:prstGeom prst="rect">
            <a:avLst/>
          </a:prstGeom>
          <a:solidFill>
            <a:srgbClr val="FFFFFF"/>
          </a:solidFill>
          <a:ln/>
        </p:spPr>
        <p:txBody>
          <a:bodyPr/>
          <a:lstStyle/>
          <a:p>
            <a:endParaRPr lang="en-US" sz="2400"/>
          </a:p>
        </p:txBody>
      </p:sp>
      <p:sp>
        <p:nvSpPr>
          <p:cNvPr id="10" name="Shape 8"/>
          <p:cNvSpPr/>
          <p:nvPr/>
        </p:nvSpPr>
        <p:spPr>
          <a:xfrm>
            <a:off x="1097280" y="3291840"/>
            <a:ext cx="463296" cy="463296"/>
          </a:xfrm>
          <a:prstGeom prst="ellipse">
            <a:avLst/>
          </a:prstGeom>
          <a:solidFill>
            <a:srgbClr val="F87171"/>
          </a:solidFill>
          <a:ln/>
        </p:spPr>
        <p:txBody>
          <a:bodyPr/>
          <a:lstStyle/>
          <a:p>
            <a:endParaRPr lang="en-US" sz="2400"/>
          </a:p>
        </p:txBody>
      </p:sp>
      <p:sp>
        <p:nvSpPr>
          <p:cNvPr id="11" name="Text 9"/>
          <p:cNvSpPr/>
          <p:nvPr/>
        </p:nvSpPr>
        <p:spPr>
          <a:xfrm>
            <a:off x="1097280" y="3291840"/>
            <a:ext cx="463296" cy="463296"/>
          </a:xfrm>
          <a:prstGeom prst="rect">
            <a:avLst/>
          </a:prstGeom>
          <a:noFill/>
          <a:ln/>
        </p:spPr>
        <p:txBody>
          <a:bodyPr wrap="square" lIns="0" tIns="0" rIns="0" bIns="0" rtlCol="0" anchor="ctr"/>
          <a:lstStyle/>
          <a:p>
            <a:pPr algn="ctr"/>
            <a:r>
              <a:rPr lang="en-US" sz="1867" b="1">
                <a:solidFill>
                  <a:srgbClr val="FFFFFF"/>
                </a:solidFill>
                <a:latin typeface="Trebuchet MS" pitchFamily="34" charset="0"/>
                <a:ea typeface="Trebuchet MS" pitchFamily="34" charset="-122"/>
                <a:cs typeface="Trebuchet MS" pitchFamily="34" charset="-120"/>
              </a:rPr>
              <a:t>2</a:t>
            </a:r>
            <a:endParaRPr lang="en-US" sz="1867"/>
          </a:p>
        </p:txBody>
      </p:sp>
      <p:sp>
        <p:nvSpPr>
          <p:cNvPr id="12" name="Text 10"/>
          <p:cNvSpPr/>
          <p:nvPr/>
        </p:nvSpPr>
        <p:spPr>
          <a:xfrm>
            <a:off x="1828800" y="3169920"/>
            <a:ext cx="9144000" cy="365760"/>
          </a:xfrm>
          <a:prstGeom prst="rect">
            <a:avLst/>
          </a:prstGeom>
          <a:noFill/>
          <a:ln/>
        </p:spPr>
        <p:txBody>
          <a:bodyPr wrap="square" lIns="0" tIns="0" rIns="0" bIns="0" rtlCol="0" anchor="ctr"/>
          <a:lstStyle/>
          <a:p>
            <a:r>
              <a:rPr lang="en-US" sz="2000" b="1">
                <a:solidFill>
                  <a:srgbClr val="1A1A2E"/>
                </a:solidFill>
                <a:latin typeface="Trebuchet MS" pitchFamily="34" charset="0"/>
                <a:ea typeface="Trebuchet MS" pitchFamily="34" charset="-122"/>
                <a:cs typeface="Trebuchet MS" pitchFamily="34" charset="-120"/>
              </a:rPr>
              <a:t>Fix it locally</a:t>
            </a:r>
            <a:endParaRPr lang="en-US" sz="2000"/>
          </a:p>
        </p:txBody>
      </p:sp>
      <p:sp>
        <p:nvSpPr>
          <p:cNvPr id="13" name="Text 11"/>
          <p:cNvSpPr/>
          <p:nvPr/>
        </p:nvSpPr>
        <p:spPr>
          <a:xfrm>
            <a:off x="1828800" y="3535680"/>
            <a:ext cx="9144000" cy="36576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Go back to VS Code, make the fix, re-run your script.</a:t>
            </a:r>
            <a:endParaRPr lang="en-US" sz="1600"/>
          </a:p>
        </p:txBody>
      </p:sp>
      <p:sp>
        <p:nvSpPr>
          <p:cNvPr id="14" name="Shape 12"/>
          <p:cNvSpPr/>
          <p:nvPr/>
        </p:nvSpPr>
        <p:spPr>
          <a:xfrm>
            <a:off x="853440" y="4145280"/>
            <a:ext cx="10485120" cy="85344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a:p>
        </p:txBody>
      </p:sp>
      <p:sp>
        <p:nvSpPr>
          <p:cNvPr id="15" name="Shape 13"/>
          <p:cNvSpPr/>
          <p:nvPr/>
        </p:nvSpPr>
        <p:spPr>
          <a:xfrm>
            <a:off x="1097280" y="4328160"/>
            <a:ext cx="463296" cy="463296"/>
          </a:xfrm>
          <a:prstGeom prst="ellipse">
            <a:avLst/>
          </a:prstGeom>
          <a:solidFill>
            <a:srgbClr val="F87171"/>
          </a:solidFill>
          <a:ln/>
        </p:spPr>
        <p:txBody>
          <a:bodyPr/>
          <a:lstStyle/>
          <a:p>
            <a:endParaRPr lang="en-US" sz="2400"/>
          </a:p>
        </p:txBody>
      </p:sp>
      <p:sp>
        <p:nvSpPr>
          <p:cNvPr id="16" name="Text 14"/>
          <p:cNvSpPr/>
          <p:nvPr/>
        </p:nvSpPr>
        <p:spPr>
          <a:xfrm>
            <a:off x="1097280" y="4328160"/>
            <a:ext cx="463296" cy="463296"/>
          </a:xfrm>
          <a:prstGeom prst="rect">
            <a:avLst/>
          </a:prstGeom>
          <a:noFill/>
          <a:ln/>
        </p:spPr>
        <p:txBody>
          <a:bodyPr wrap="square" lIns="0" tIns="0" rIns="0" bIns="0" rtlCol="0" anchor="ctr"/>
          <a:lstStyle/>
          <a:p>
            <a:pPr algn="ctr"/>
            <a:r>
              <a:rPr lang="en-US" sz="1867" b="1">
                <a:solidFill>
                  <a:srgbClr val="FFFFFF"/>
                </a:solidFill>
                <a:latin typeface="Trebuchet MS" pitchFamily="34" charset="0"/>
                <a:ea typeface="Trebuchet MS" pitchFamily="34" charset="-122"/>
                <a:cs typeface="Trebuchet MS" pitchFamily="34" charset="-120"/>
              </a:rPr>
              <a:t>3</a:t>
            </a:r>
            <a:endParaRPr lang="en-US" sz="1867"/>
          </a:p>
        </p:txBody>
      </p:sp>
      <p:sp>
        <p:nvSpPr>
          <p:cNvPr id="17" name="Text 15"/>
          <p:cNvSpPr/>
          <p:nvPr/>
        </p:nvSpPr>
        <p:spPr>
          <a:xfrm>
            <a:off x="1828800" y="4206240"/>
            <a:ext cx="9144000" cy="365760"/>
          </a:xfrm>
          <a:prstGeom prst="rect">
            <a:avLst/>
          </a:prstGeom>
          <a:noFill/>
          <a:ln/>
        </p:spPr>
        <p:txBody>
          <a:bodyPr wrap="square" lIns="0" tIns="0" rIns="0" bIns="0" rtlCol="0" anchor="ctr"/>
          <a:lstStyle/>
          <a:p>
            <a:r>
              <a:rPr lang="en-US" sz="2000" b="1">
                <a:solidFill>
                  <a:srgbClr val="1A1A2E"/>
                </a:solidFill>
                <a:latin typeface="Trebuchet MS" pitchFamily="34" charset="0"/>
                <a:ea typeface="Trebuchet MS" pitchFamily="34" charset="-122"/>
                <a:cs typeface="Trebuchet MS" pitchFamily="34" charset="-120"/>
              </a:rPr>
              <a:t>Push again</a:t>
            </a:r>
            <a:endParaRPr lang="en-US" sz="2000"/>
          </a:p>
        </p:txBody>
      </p:sp>
      <p:sp>
        <p:nvSpPr>
          <p:cNvPr id="18" name="Text 16"/>
          <p:cNvSpPr/>
          <p:nvPr/>
        </p:nvSpPr>
        <p:spPr>
          <a:xfrm>
            <a:off x="1828800" y="4572000"/>
            <a:ext cx="9144000" cy="36576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git add, commit, push — to the same branch. The PR updates automatically.</a:t>
            </a:r>
            <a:endParaRPr lang="en-US" sz="1600"/>
          </a:p>
        </p:txBody>
      </p:sp>
      <p:sp>
        <p:nvSpPr>
          <p:cNvPr id="19" name="Shape 17"/>
          <p:cNvSpPr/>
          <p:nvPr/>
        </p:nvSpPr>
        <p:spPr>
          <a:xfrm>
            <a:off x="853440" y="5181600"/>
            <a:ext cx="10485120" cy="853440"/>
          </a:xfrm>
          <a:prstGeom prst="rect">
            <a:avLst/>
          </a:prstGeom>
          <a:solidFill>
            <a:srgbClr val="FFFFFF"/>
          </a:solidFill>
          <a:ln/>
        </p:spPr>
        <p:txBody>
          <a:bodyPr/>
          <a:lstStyle/>
          <a:p>
            <a:endParaRPr lang="en-US" sz="2400"/>
          </a:p>
        </p:txBody>
      </p:sp>
      <p:sp>
        <p:nvSpPr>
          <p:cNvPr id="20" name="Shape 18"/>
          <p:cNvSpPr/>
          <p:nvPr/>
        </p:nvSpPr>
        <p:spPr>
          <a:xfrm>
            <a:off x="1097280" y="5364480"/>
            <a:ext cx="463296" cy="463296"/>
          </a:xfrm>
          <a:prstGeom prst="ellipse">
            <a:avLst/>
          </a:prstGeom>
          <a:solidFill>
            <a:srgbClr val="F87171"/>
          </a:solidFill>
          <a:ln/>
        </p:spPr>
        <p:txBody>
          <a:bodyPr/>
          <a:lstStyle/>
          <a:p>
            <a:endParaRPr lang="en-US" sz="2400"/>
          </a:p>
        </p:txBody>
      </p:sp>
      <p:sp>
        <p:nvSpPr>
          <p:cNvPr id="21" name="Text 19"/>
          <p:cNvSpPr/>
          <p:nvPr/>
        </p:nvSpPr>
        <p:spPr>
          <a:xfrm>
            <a:off x="1097280" y="5364480"/>
            <a:ext cx="463296" cy="463296"/>
          </a:xfrm>
          <a:prstGeom prst="rect">
            <a:avLst/>
          </a:prstGeom>
          <a:noFill/>
          <a:ln/>
        </p:spPr>
        <p:txBody>
          <a:bodyPr wrap="square" lIns="0" tIns="0" rIns="0" bIns="0" rtlCol="0" anchor="ctr"/>
          <a:lstStyle/>
          <a:p>
            <a:pPr algn="ctr"/>
            <a:r>
              <a:rPr lang="en-US" sz="1867" b="1">
                <a:solidFill>
                  <a:srgbClr val="FFFFFF"/>
                </a:solidFill>
                <a:latin typeface="Trebuchet MS" pitchFamily="34" charset="0"/>
                <a:ea typeface="Trebuchet MS" pitchFamily="34" charset="-122"/>
                <a:cs typeface="Trebuchet MS" pitchFamily="34" charset="-120"/>
              </a:rPr>
              <a:t>4</a:t>
            </a:r>
            <a:endParaRPr lang="en-US" sz="1867"/>
          </a:p>
        </p:txBody>
      </p:sp>
      <p:sp>
        <p:nvSpPr>
          <p:cNvPr id="22" name="Text 20"/>
          <p:cNvSpPr/>
          <p:nvPr/>
        </p:nvSpPr>
        <p:spPr>
          <a:xfrm>
            <a:off x="1828800" y="5242560"/>
            <a:ext cx="9144000" cy="365760"/>
          </a:xfrm>
          <a:prstGeom prst="rect">
            <a:avLst/>
          </a:prstGeom>
          <a:noFill/>
          <a:ln/>
        </p:spPr>
        <p:txBody>
          <a:bodyPr wrap="square" lIns="0" tIns="0" rIns="0" bIns="0" rtlCol="0" anchor="ctr"/>
          <a:lstStyle/>
          <a:p>
            <a:r>
              <a:rPr lang="en-US" sz="2000" b="1">
                <a:solidFill>
                  <a:srgbClr val="1A1A2E"/>
                </a:solidFill>
                <a:latin typeface="Trebuchet MS" pitchFamily="34" charset="0"/>
                <a:ea typeface="Trebuchet MS" pitchFamily="34" charset="-122"/>
                <a:cs typeface="Trebuchet MS" pitchFamily="34" charset="-120"/>
              </a:rPr>
              <a:t>Agent re-checks</a:t>
            </a:r>
            <a:endParaRPr lang="en-US" sz="2000"/>
          </a:p>
        </p:txBody>
      </p:sp>
      <p:sp>
        <p:nvSpPr>
          <p:cNvPr id="23" name="Text 21"/>
          <p:cNvSpPr/>
          <p:nvPr/>
        </p:nvSpPr>
        <p:spPr>
          <a:xfrm>
            <a:off x="1828800" y="5608320"/>
            <a:ext cx="9144000" cy="365760"/>
          </a:xfrm>
          <a:prstGeom prst="rect">
            <a:avLst/>
          </a:prstGeom>
          <a:noFill/>
          <a:ln/>
        </p:spPr>
        <p:txBody>
          <a:bodyPr wrap="square" lIns="0" tIns="0" rIns="0" bIns="0" rtlCol="0" anchor="ctr"/>
          <a:lstStyle/>
          <a:p>
            <a:r>
              <a:rPr lang="en-US" sz="1600">
                <a:solidFill>
                  <a:srgbClr val="334155"/>
                </a:solidFill>
                <a:latin typeface="Calibri" pitchFamily="34" charset="0"/>
                <a:ea typeface="Calibri" pitchFamily="34" charset="-122"/>
                <a:cs typeface="Calibri" pitchFamily="34" charset="-120"/>
              </a:rPr>
              <a:t>The checks run again on your updated code. No new PR needed.</a:t>
            </a:r>
            <a:endParaRPr lang="en-US" sz="1600"/>
          </a:p>
        </p:txBody>
      </p:sp>
    </p:spTree>
    <p:extLst>
      <p:ext uri="{BB962C8B-B14F-4D97-AF65-F5344CB8AC3E}">
        <p14:creationId xmlns:p14="http://schemas.microsoft.com/office/powerpoint/2010/main" val="844197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1240</Words>
  <Application>Microsoft Office PowerPoint</Application>
  <PresentationFormat>Widescreen</PresentationFormat>
  <Paragraphs>100</Paragraphs>
  <Slides>23</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Calibri</vt:lpstr>
      <vt:lpstr>Consolas</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cp:revision>
  <dcterms:created xsi:type="dcterms:W3CDTF">2026-07-17T01:11:23Z</dcterms:created>
  <dcterms:modified xsi:type="dcterms:W3CDTF">2026-07-17T01:11:56Z</dcterms:modified>
</cp:coreProperties>
</file>