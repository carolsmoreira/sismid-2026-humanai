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405" r:id="rId2"/>
    <p:sldId id="421" r:id="rId3"/>
    <p:sldId id="308" r:id="rId4"/>
    <p:sldId id="407" r:id="rId5"/>
    <p:sldId id="408" r:id="rId6"/>
    <p:sldId id="274" r:id="rId7"/>
    <p:sldId id="307" r:id="rId8"/>
    <p:sldId id="409" r:id="rId9"/>
    <p:sldId id="276" r:id="rId10"/>
    <p:sldId id="417" r:id="rId11"/>
    <p:sldId id="416" r:id="rId12"/>
    <p:sldId id="410" r:id="rId13"/>
    <p:sldId id="412" r:id="rId14"/>
    <p:sldId id="415" r:id="rId15"/>
    <p:sldId id="418" r:id="rId16"/>
    <p:sldId id="419" r:id="rId17"/>
    <p:sldId id="42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6978"/>
    <a:srgbClr val="FFF4EC"/>
    <a:srgbClr val="DCEAF7"/>
    <a:srgbClr val="E8F8F0"/>
    <a:srgbClr val="F0ECF8"/>
    <a:srgbClr val="E8F4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14CAB9-23BF-4DE4-9BCE-3B63932B966C}" v="25" dt="2026-07-12T22:50:31.037"/>
    <p1510:client id="{862F0EDD-70CF-408A-981B-AFBA607425F6}" v="2" dt="2026-07-13T18:29:18.3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5" autoAdjust="0"/>
    <p:restoredTop sz="94660"/>
  </p:normalViewPr>
  <p:slideViewPr>
    <p:cSldViewPr snapToGrid="0">
      <p:cViewPr varScale="1">
        <p:scale>
          <a:sx n="70" d="100"/>
          <a:sy n="70" d="100"/>
        </p:scale>
        <p:origin x="46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bleic@clemson.edu" userId="43615028507_tp_box_2" providerId="OAuth2" clId="{5F4B9ABB-DEB5-4DC3-A8F9-1752A2D02C85}"/>
    <pc:docChg chg="undo custSel modSld">
      <pc:chgData name="ambleic@clemson.edu" userId="43615028507_tp_box_2" providerId="OAuth2" clId="{5F4B9ABB-DEB5-4DC3-A8F9-1752A2D02C85}" dt="2026-07-12T22:52:21.958" v="221" actId="20577"/>
      <pc:docMkLst>
        <pc:docMk/>
      </pc:docMkLst>
      <pc:sldChg chg="modSp">
        <pc:chgData name="ambleic@clemson.edu" userId="43615028507_tp_box_2" providerId="OAuth2" clId="{5F4B9ABB-DEB5-4DC3-A8F9-1752A2D02C85}" dt="2026-07-12T22:47:24.470" v="176" actId="20577"/>
        <pc:sldMkLst>
          <pc:docMk/>
          <pc:sldMk cId="0" sldId="274"/>
        </pc:sldMkLst>
        <pc:spChg chg="mod">
          <ac:chgData name="ambleic@clemson.edu" userId="43615028507_tp_box_2" providerId="OAuth2" clId="{5F4B9ABB-DEB5-4DC3-A8F9-1752A2D02C85}" dt="2026-07-12T22:47:24.470" v="176" actId="20577"/>
          <ac:spMkLst>
            <pc:docMk/>
            <pc:sldMk cId="0" sldId="274"/>
            <ac:spMk id="41" creationId="{6AA31603-3D24-BB70-7A5B-4B72C2CAEE80}"/>
          </ac:spMkLst>
        </pc:spChg>
      </pc:sldChg>
      <pc:sldChg chg="modSp">
        <pc:chgData name="ambleic@clemson.edu" userId="43615028507_tp_box_2" providerId="OAuth2" clId="{5F4B9ABB-DEB5-4DC3-A8F9-1752A2D02C85}" dt="2026-07-12T14:51:20.892" v="62" actId="20577"/>
        <pc:sldMkLst>
          <pc:docMk/>
          <pc:sldMk cId="3304282249" sldId="307"/>
        </pc:sldMkLst>
        <pc:spChg chg="mod">
          <ac:chgData name="ambleic@clemson.edu" userId="43615028507_tp_box_2" providerId="OAuth2" clId="{5F4B9ABB-DEB5-4DC3-A8F9-1752A2D02C85}" dt="2026-07-12T14:51:20.892" v="62" actId="20577"/>
          <ac:spMkLst>
            <pc:docMk/>
            <pc:sldMk cId="3304282249" sldId="307"/>
            <ac:spMk id="20" creationId="{37A8D232-AAD6-8472-C518-A56F611C69BD}"/>
          </ac:spMkLst>
        </pc:spChg>
      </pc:sldChg>
      <pc:sldChg chg="modSp mod">
        <pc:chgData name="ambleic@clemson.edu" userId="43615028507_tp_box_2" providerId="OAuth2" clId="{5F4B9ABB-DEB5-4DC3-A8F9-1752A2D02C85}" dt="2026-07-12T22:52:21.958" v="221" actId="20577"/>
        <pc:sldMkLst>
          <pc:docMk/>
          <pc:sldMk cId="3159209876" sldId="308"/>
        </pc:sldMkLst>
        <pc:spChg chg="mod">
          <ac:chgData name="ambleic@clemson.edu" userId="43615028507_tp_box_2" providerId="OAuth2" clId="{5F4B9ABB-DEB5-4DC3-A8F9-1752A2D02C85}" dt="2026-07-12T14:50:28.542" v="60"/>
          <ac:spMkLst>
            <pc:docMk/>
            <pc:sldMk cId="3159209876" sldId="308"/>
            <ac:spMk id="6" creationId="{9346C554-AF69-9E25-27D5-6D80026C616B}"/>
          </ac:spMkLst>
        </pc:spChg>
        <pc:spChg chg="mod">
          <ac:chgData name="ambleic@clemson.edu" userId="43615028507_tp_box_2" providerId="OAuth2" clId="{5F4B9ABB-DEB5-4DC3-A8F9-1752A2D02C85}" dt="2026-07-12T22:51:54.317" v="215" actId="14100"/>
          <ac:spMkLst>
            <pc:docMk/>
            <pc:sldMk cId="3159209876" sldId="308"/>
            <ac:spMk id="7" creationId="{B7D6E1AA-9A8F-609B-2D13-AADCCD49A3AA}"/>
          </ac:spMkLst>
        </pc:spChg>
        <pc:spChg chg="mod">
          <ac:chgData name="ambleic@clemson.edu" userId="43615028507_tp_box_2" providerId="OAuth2" clId="{5F4B9ABB-DEB5-4DC3-A8F9-1752A2D02C85}" dt="2026-07-12T14:50:28.542" v="60"/>
          <ac:spMkLst>
            <pc:docMk/>
            <pc:sldMk cId="3159209876" sldId="308"/>
            <ac:spMk id="38" creationId="{B5A2C030-69C6-A503-4D93-82F93DFA82AC}"/>
          </ac:spMkLst>
        </pc:spChg>
        <pc:spChg chg="mod">
          <ac:chgData name="ambleic@clemson.edu" userId="43615028507_tp_box_2" providerId="OAuth2" clId="{5F4B9ABB-DEB5-4DC3-A8F9-1752A2D02C85}" dt="2026-07-12T22:52:21.958" v="221" actId="20577"/>
          <ac:spMkLst>
            <pc:docMk/>
            <pc:sldMk cId="3159209876" sldId="308"/>
            <ac:spMk id="39" creationId="{DF68F927-E755-9F08-0573-D3F69468B7EF}"/>
          </ac:spMkLst>
        </pc:spChg>
        <pc:spChg chg="mod">
          <ac:chgData name="ambleic@clemson.edu" userId="43615028507_tp_box_2" providerId="OAuth2" clId="{5F4B9ABB-DEB5-4DC3-A8F9-1752A2D02C85}" dt="2026-07-12T14:50:28.542" v="60"/>
          <ac:spMkLst>
            <pc:docMk/>
            <pc:sldMk cId="3159209876" sldId="308"/>
            <ac:spMk id="43" creationId="{E49DB695-05A8-A4AE-830E-613EC6266BE6}"/>
          </ac:spMkLst>
        </pc:spChg>
        <pc:spChg chg="mod">
          <ac:chgData name="ambleic@clemson.edu" userId="43615028507_tp_box_2" providerId="OAuth2" clId="{5F4B9ABB-DEB5-4DC3-A8F9-1752A2D02C85}" dt="2026-07-12T14:50:28.542" v="60"/>
          <ac:spMkLst>
            <pc:docMk/>
            <pc:sldMk cId="3159209876" sldId="308"/>
            <ac:spMk id="53" creationId="{E2A3B260-42AB-A407-0FE6-6DB7C065613D}"/>
          </ac:spMkLst>
        </pc:spChg>
        <pc:spChg chg="mod">
          <ac:chgData name="ambleic@clemson.edu" userId="43615028507_tp_box_2" providerId="OAuth2" clId="{5F4B9ABB-DEB5-4DC3-A8F9-1752A2D02C85}" dt="2026-07-12T14:50:28.542" v="60"/>
          <ac:spMkLst>
            <pc:docMk/>
            <pc:sldMk cId="3159209876" sldId="308"/>
            <ac:spMk id="69" creationId="{CC19D40A-C233-09BC-F21F-EE856438D91F}"/>
          </ac:spMkLst>
        </pc:spChg>
      </pc:sldChg>
      <pc:sldChg chg="modSp mod">
        <pc:chgData name="ambleic@clemson.edu" userId="43615028507_tp_box_2" providerId="OAuth2" clId="{5F4B9ABB-DEB5-4DC3-A8F9-1752A2D02C85}" dt="2026-07-12T14:52:36.037" v="80" actId="207"/>
        <pc:sldMkLst>
          <pc:docMk/>
          <pc:sldMk cId="1089057907" sldId="407"/>
        </pc:sldMkLst>
        <pc:spChg chg="mod">
          <ac:chgData name="ambleic@clemson.edu" userId="43615028507_tp_box_2" providerId="OAuth2" clId="{5F4B9ABB-DEB5-4DC3-A8F9-1752A2D02C85}" dt="2026-07-12T14:52:36.037" v="80" actId="207"/>
          <ac:spMkLst>
            <pc:docMk/>
            <pc:sldMk cId="1089057907" sldId="407"/>
            <ac:spMk id="142" creationId="{00000000-0000-0000-0000-000000000000}"/>
          </ac:spMkLst>
        </pc:spChg>
        <pc:spChg chg="mod">
          <ac:chgData name="ambleic@clemson.edu" userId="43615028507_tp_box_2" providerId="OAuth2" clId="{5F4B9ABB-DEB5-4DC3-A8F9-1752A2D02C85}" dt="2026-07-12T14:52:09.001" v="69" actId="207"/>
          <ac:spMkLst>
            <pc:docMk/>
            <pc:sldMk cId="1089057907" sldId="407"/>
            <ac:spMk id="143" creationId="{00000000-0000-0000-0000-000000000000}"/>
          </ac:spMkLst>
        </pc:spChg>
        <pc:spChg chg="mod">
          <ac:chgData name="ambleic@clemson.edu" userId="43615028507_tp_box_2" providerId="OAuth2" clId="{5F4B9ABB-DEB5-4DC3-A8F9-1752A2D02C85}" dt="2026-07-04T05:13:11.915" v="34" actId="20577"/>
          <ac:spMkLst>
            <pc:docMk/>
            <pc:sldMk cId="1089057907" sldId="407"/>
            <ac:spMk id="144" creationId="{00000000-0000-0000-0000-000000000000}"/>
          </ac:spMkLst>
        </pc:spChg>
      </pc:sldChg>
      <pc:sldChg chg="modSp mod">
        <pc:chgData name="ambleic@clemson.edu" userId="43615028507_tp_box_2" providerId="OAuth2" clId="{5F4B9ABB-DEB5-4DC3-A8F9-1752A2D02C85}" dt="2026-07-12T22:46:22.898" v="170" actId="12788"/>
        <pc:sldMkLst>
          <pc:docMk/>
          <pc:sldMk cId="1869251149" sldId="408"/>
        </pc:sldMkLst>
        <pc:graphicFrameChg chg="mod modGraphic">
          <ac:chgData name="ambleic@clemson.edu" userId="43615028507_tp_box_2" providerId="OAuth2" clId="{5F4B9ABB-DEB5-4DC3-A8F9-1752A2D02C85}" dt="2026-07-12T22:46:22.898" v="170" actId="12788"/>
          <ac:graphicFrameMkLst>
            <pc:docMk/>
            <pc:sldMk cId="1869251149" sldId="408"/>
            <ac:graphicFrameMk id="7" creationId="{C5C4A713-4FC9-6874-2C4C-8864D957FB96}"/>
          </ac:graphicFrameMkLst>
        </pc:graphicFrameChg>
      </pc:sldChg>
      <pc:sldChg chg="modSp">
        <pc:chgData name="ambleic@clemson.edu" userId="43615028507_tp_box_2" providerId="OAuth2" clId="{5F4B9ABB-DEB5-4DC3-A8F9-1752A2D02C85}" dt="2026-07-12T22:50:31.036" v="192" actId="20577"/>
        <pc:sldMkLst>
          <pc:docMk/>
          <pc:sldMk cId="1663621628" sldId="416"/>
        </pc:sldMkLst>
        <pc:spChg chg="mod">
          <ac:chgData name="ambleic@clemson.edu" userId="43615028507_tp_box_2" providerId="OAuth2" clId="{5F4B9ABB-DEB5-4DC3-A8F9-1752A2D02C85}" dt="2026-07-12T22:49:31.526" v="190" actId="20577"/>
          <ac:spMkLst>
            <pc:docMk/>
            <pc:sldMk cId="1663621628" sldId="416"/>
            <ac:spMk id="5" creationId="{EBD04F2E-E14E-03AE-5B61-7C444ED253AA}"/>
          </ac:spMkLst>
        </pc:spChg>
        <pc:spChg chg="mod">
          <ac:chgData name="ambleic@clemson.edu" userId="43615028507_tp_box_2" providerId="OAuth2" clId="{5F4B9ABB-DEB5-4DC3-A8F9-1752A2D02C85}" dt="2026-07-04T20:11:04.415" v="53" actId="113"/>
          <ac:spMkLst>
            <pc:docMk/>
            <pc:sldMk cId="1663621628" sldId="416"/>
            <ac:spMk id="8" creationId="{0C00A2FC-6858-672F-BD70-95BA21BAD6DC}"/>
          </ac:spMkLst>
        </pc:spChg>
        <pc:spChg chg="mod">
          <ac:chgData name="ambleic@clemson.edu" userId="43615028507_tp_box_2" providerId="OAuth2" clId="{5F4B9ABB-DEB5-4DC3-A8F9-1752A2D02C85}" dt="2026-07-12T22:49:18.719" v="184" actId="20577"/>
          <ac:spMkLst>
            <pc:docMk/>
            <pc:sldMk cId="1663621628" sldId="416"/>
            <ac:spMk id="11" creationId="{87164228-EED9-2290-18BA-B80C7E76CF86}"/>
          </ac:spMkLst>
        </pc:spChg>
        <pc:spChg chg="mod">
          <ac:chgData name="ambleic@clemson.edu" userId="43615028507_tp_box_2" providerId="OAuth2" clId="{5F4B9ABB-DEB5-4DC3-A8F9-1752A2D02C85}" dt="2026-07-12T22:49:21.970" v="186" actId="20577"/>
          <ac:spMkLst>
            <pc:docMk/>
            <pc:sldMk cId="1663621628" sldId="416"/>
            <ac:spMk id="14" creationId="{1E792020-C6AD-9A45-CB84-9F1CAD79403E}"/>
          </ac:spMkLst>
        </pc:spChg>
        <pc:spChg chg="mod">
          <ac:chgData name="ambleic@clemson.edu" userId="43615028507_tp_box_2" providerId="OAuth2" clId="{5F4B9ABB-DEB5-4DC3-A8F9-1752A2D02C85}" dt="2026-07-12T22:50:31.036" v="192" actId="20577"/>
          <ac:spMkLst>
            <pc:docMk/>
            <pc:sldMk cId="1663621628" sldId="416"/>
            <ac:spMk id="17" creationId="{E944A787-C0E0-7E63-55FE-38183FFDB167}"/>
          </ac:spMkLst>
        </pc:spChg>
        <pc:spChg chg="mod">
          <ac:chgData name="ambleic@clemson.edu" userId="43615028507_tp_box_2" providerId="OAuth2" clId="{5F4B9ABB-DEB5-4DC3-A8F9-1752A2D02C85}" dt="2026-07-04T05:13:35.670" v="51" actId="20577"/>
          <ac:spMkLst>
            <pc:docMk/>
            <pc:sldMk cId="1663621628" sldId="416"/>
            <ac:spMk id="21" creationId="{3C38A973-21C1-C28F-0F8E-758B0F44D030}"/>
          </ac:spMkLst>
        </pc:spChg>
      </pc:sldChg>
    </pc:docChg>
  </pc:docChgLst>
  <pc:docChgLst>
    <pc:chgData name="Lior Rennert" userId="3892681948_tp_box_2" providerId="OAuth2" clId="{DBC9C590-A9C5-4303-BC05-B23A2856A570}"/>
    <pc:docChg chg="modSld">
      <pc:chgData name="Lior Rennert" userId="3892681948_tp_box_2" providerId="OAuth2" clId="{DBC9C590-A9C5-4303-BC05-B23A2856A570}" dt="2026-07-13T18:29:08.737" v="0"/>
      <pc:docMkLst>
        <pc:docMk/>
      </pc:docMkLst>
      <pc:sldChg chg="modSp">
        <pc:chgData name="Lior Rennert" userId="3892681948_tp_box_2" providerId="OAuth2" clId="{DBC9C590-A9C5-4303-BC05-B23A2856A570}" dt="2026-07-13T18:29:08.737" v="0"/>
        <pc:sldMkLst>
          <pc:docMk/>
          <pc:sldMk cId="0" sldId="276"/>
        </pc:sldMkLst>
        <pc:spChg chg="mod">
          <ac:chgData name="Lior Rennert" userId="3892681948_tp_box_2" providerId="OAuth2" clId="{DBC9C590-A9C5-4303-BC05-B23A2856A570}" dt="2026-07-13T18:29:08.737" v="0"/>
          <ac:spMkLst>
            <pc:docMk/>
            <pc:sldMk cId="0" sldId="276"/>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3813FC-438F-41C6-BA17-82A754B920B0}" type="datetimeFigureOut">
              <a:rPr lang="en-US" smtClean="0"/>
              <a:t>7/13/2026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65534A-FD8A-408B-AC34-BAC5DB966B0A}" type="slidenum">
              <a:rPr lang="en-US" smtClean="0"/>
              <a:t>‹#›</a:t>
            </a:fld>
            <a:endParaRPr lang="en-US"/>
          </a:p>
        </p:txBody>
      </p:sp>
    </p:spTree>
    <p:extLst>
      <p:ext uri="{BB962C8B-B14F-4D97-AF65-F5344CB8AC3E}">
        <p14:creationId xmlns:p14="http://schemas.microsoft.com/office/powerpoint/2010/main" val="3018061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6FF89-7C27-50AA-441C-F59B25720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7DD59-76F5-730B-E689-371561C0E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A3EFF-722C-7A1B-75C3-5A52FD15A9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77BAB4-EA8A-1015-3FDF-2B2C59D582CC}"/>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121445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9413E-B74C-39CC-A72E-7831F742D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426EA-727A-970E-133A-F6B2AE79AE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7EABB-B541-36A6-E49A-C571F1ACC238}"/>
              </a:ext>
            </a:extLst>
          </p:cNvPr>
          <p:cNvSpPr>
            <a:spLocks noGrp="1"/>
          </p:cNvSpPr>
          <p:nvPr>
            <p:ph type="body" idx="1"/>
          </p:nvPr>
        </p:nvSpPr>
        <p:spPr/>
        <p:txBody>
          <a:bodyPr/>
          <a:lstStyle/>
          <a:p>
            <a:r>
              <a:rPr lang="en-US" dirty="0"/>
              <a:t>Add in time/day/session when known</a:t>
            </a:r>
          </a:p>
        </p:txBody>
      </p:sp>
      <p:sp>
        <p:nvSpPr>
          <p:cNvPr id="4" name="Slide Number Placeholder 3">
            <a:extLst>
              <a:ext uri="{FF2B5EF4-FFF2-40B4-BE49-F238E27FC236}">
                <a16:creationId xmlns:a16="http://schemas.microsoft.com/office/drawing/2014/main" id="{8E171D26-A705-542C-97B4-249BF6C46830}"/>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352893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ADE72-006E-9BDA-8615-9A7BE355B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9B44B0-9594-1322-1B36-B259D24682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79233A-6069-A2BE-D74C-767BADFB70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EDC434-AA49-B1AE-B293-415AFE1B7D41}"/>
              </a:ext>
            </a:extLst>
          </p:cNvPr>
          <p:cNvSpPr>
            <a:spLocks noGrp="1"/>
          </p:cNvSpPr>
          <p:nvPr>
            <p:ph type="sldNum" sz="quarter" idx="5"/>
          </p:nvPr>
        </p:nvSpPr>
        <p:spPr/>
        <p:txBody>
          <a:bodyPr/>
          <a:lstStyle/>
          <a:p>
            <a:fld id="{EFC45A4A-0340-4030-8DF6-B0876EC10DF5}" type="slidenum">
              <a:rPr lang="en-US" smtClean="0"/>
              <a:t>7</a:t>
            </a:fld>
            <a:endParaRPr lang="en-US"/>
          </a:p>
        </p:txBody>
      </p:sp>
    </p:spTree>
    <p:extLst>
      <p:ext uri="{BB962C8B-B14F-4D97-AF65-F5344CB8AC3E}">
        <p14:creationId xmlns:p14="http://schemas.microsoft.com/office/powerpoint/2010/main" val="393225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and paste as to – ADDRESS ISSUES WITH HALLICUTE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65534A-FD8A-408B-AC34-BAC5DB966B0A}" type="slidenum">
              <a:rPr lang="en-US" smtClean="0"/>
              <a:t>11</a:t>
            </a:fld>
            <a:endParaRPr lang="en-US"/>
          </a:p>
        </p:txBody>
      </p:sp>
    </p:spTree>
    <p:extLst>
      <p:ext uri="{BB962C8B-B14F-4D97-AF65-F5344CB8AC3E}">
        <p14:creationId xmlns:p14="http://schemas.microsoft.com/office/powerpoint/2010/main" val="1601169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0A97F-CD71-4965-005A-D67EF8BC06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E9A978-74C2-AE49-1D29-0EFC04508F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770A37-2C5B-B785-F964-6E78307BF7C7}"/>
              </a:ext>
            </a:extLst>
          </p:cNvPr>
          <p:cNvSpPr>
            <a:spLocks noGrp="1"/>
          </p:cNvSpPr>
          <p:nvPr>
            <p:ph type="dt" sz="half" idx="10"/>
          </p:nvPr>
        </p:nvSpPr>
        <p:spPr/>
        <p:txBody>
          <a:bodyPr/>
          <a:lstStyle/>
          <a:p>
            <a:fld id="{01365F07-267D-4BA2-BC6C-B3B81FF729D9}" type="datetimeFigureOut">
              <a:rPr lang="en-US" smtClean="0"/>
              <a:t>7/13/2026</a:t>
            </a:fld>
            <a:endParaRPr lang="en-US"/>
          </a:p>
        </p:txBody>
      </p:sp>
      <p:sp>
        <p:nvSpPr>
          <p:cNvPr id="5" name="Footer Placeholder 4">
            <a:extLst>
              <a:ext uri="{FF2B5EF4-FFF2-40B4-BE49-F238E27FC236}">
                <a16:creationId xmlns:a16="http://schemas.microsoft.com/office/drawing/2014/main" id="{20A2DEFB-A82C-1EF1-707A-EE4D889D9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2F9304-7D70-1339-DA27-3B005B59804E}"/>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246486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1336F-70A2-5B92-2864-0A3F966470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FAF30B-6615-55FE-183E-FA59E9DE9F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FC6BEC-BF82-CFA8-092E-CF210926E11E}"/>
              </a:ext>
            </a:extLst>
          </p:cNvPr>
          <p:cNvSpPr>
            <a:spLocks noGrp="1"/>
          </p:cNvSpPr>
          <p:nvPr>
            <p:ph type="dt" sz="half" idx="10"/>
          </p:nvPr>
        </p:nvSpPr>
        <p:spPr/>
        <p:txBody>
          <a:bodyPr/>
          <a:lstStyle/>
          <a:p>
            <a:fld id="{01365F07-267D-4BA2-BC6C-B3B81FF729D9}" type="datetimeFigureOut">
              <a:rPr lang="en-US" smtClean="0"/>
              <a:t>7/13/2026</a:t>
            </a:fld>
            <a:endParaRPr lang="en-US"/>
          </a:p>
        </p:txBody>
      </p:sp>
      <p:sp>
        <p:nvSpPr>
          <p:cNvPr id="5" name="Footer Placeholder 4">
            <a:extLst>
              <a:ext uri="{FF2B5EF4-FFF2-40B4-BE49-F238E27FC236}">
                <a16:creationId xmlns:a16="http://schemas.microsoft.com/office/drawing/2014/main" id="{1AA0CC97-B2F7-FB79-062E-54AF3F5EBF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AB6AB1-DA89-725E-DE21-3E83B3070966}"/>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2964315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991D4-6FB8-B2DD-683D-E73C6102FD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D6EB726-13D6-58B1-6F5F-0AFC63E1FFF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67CB2B-CD0A-765E-AE51-363F91F40C0B}"/>
              </a:ext>
            </a:extLst>
          </p:cNvPr>
          <p:cNvSpPr>
            <a:spLocks noGrp="1"/>
          </p:cNvSpPr>
          <p:nvPr>
            <p:ph type="dt" sz="half" idx="10"/>
          </p:nvPr>
        </p:nvSpPr>
        <p:spPr/>
        <p:txBody>
          <a:bodyPr/>
          <a:lstStyle/>
          <a:p>
            <a:fld id="{01365F07-267D-4BA2-BC6C-B3B81FF729D9}" type="datetimeFigureOut">
              <a:rPr lang="en-US" smtClean="0"/>
              <a:t>7/13/2026</a:t>
            </a:fld>
            <a:endParaRPr lang="en-US"/>
          </a:p>
        </p:txBody>
      </p:sp>
      <p:sp>
        <p:nvSpPr>
          <p:cNvPr id="5" name="Footer Placeholder 4">
            <a:extLst>
              <a:ext uri="{FF2B5EF4-FFF2-40B4-BE49-F238E27FC236}">
                <a16:creationId xmlns:a16="http://schemas.microsoft.com/office/drawing/2014/main" id="{1F4F2254-DC4A-BDF5-131C-DE75A8C13B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F8E49C-6845-BE05-4062-E3F460910014}"/>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1573880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43C9A-431E-9432-4CE5-1E4081ADC9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1D7591-3B91-E964-B146-46C624DAD9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F82AAF0-DC7D-9D3E-8072-45C2DB084E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9B6A2F-000C-24A1-A213-56E9B1ED9093}"/>
              </a:ext>
            </a:extLst>
          </p:cNvPr>
          <p:cNvSpPr>
            <a:spLocks noGrp="1"/>
          </p:cNvSpPr>
          <p:nvPr>
            <p:ph type="dt" sz="half" idx="10"/>
          </p:nvPr>
        </p:nvSpPr>
        <p:spPr/>
        <p:txBody>
          <a:bodyPr/>
          <a:lstStyle/>
          <a:p>
            <a:fld id="{01365F07-267D-4BA2-BC6C-B3B81FF729D9}" type="datetimeFigureOut">
              <a:rPr lang="en-US" smtClean="0"/>
              <a:t>7/13/2026</a:t>
            </a:fld>
            <a:endParaRPr lang="en-US"/>
          </a:p>
        </p:txBody>
      </p:sp>
      <p:sp>
        <p:nvSpPr>
          <p:cNvPr id="6" name="Footer Placeholder 5">
            <a:extLst>
              <a:ext uri="{FF2B5EF4-FFF2-40B4-BE49-F238E27FC236}">
                <a16:creationId xmlns:a16="http://schemas.microsoft.com/office/drawing/2014/main" id="{AC6E676C-4424-0D94-51AD-950AFBABBE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7A4540-C626-A23A-91E1-C78C2D57CE0F}"/>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3981166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7A9A2-356D-8CE8-1350-AE3239E0C00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60506FB-D095-E126-F3E0-03857B908B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AAE16A-C2E5-BF8B-4862-F61363CEEF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FAE0CE-4DFD-A416-D2E5-E688675C0D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8F299F-8B8D-B6AC-41D2-8C112F8D40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720553-F6D9-66C4-23BB-0B1451A8A61E}"/>
              </a:ext>
            </a:extLst>
          </p:cNvPr>
          <p:cNvSpPr>
            <a:spLocks noGrp="1"/>
          </p:cNvSpPr>
          <p:nvPr>
            <p:ph type="dt" sz="half" idx="10"/>
          </p:nvPr>
        </p:nvSpPr>
        <p:spPr/>
        <p:txBody>
          <a:bodyPr/>
          <a:lstStyle/>
          <a:p>
            <a:fld id="{01365F07-267D-4BA2-BC6C-B3B81FF729D9}" type="datetimeFigureOut">
              <a:rPr lang="en-US" smtClean="0"/>
              <a:t>7/13/2026</a:t>
            </a:fld>
            <a:endParaRPr lang="en-US"/>
          </a:p>
        </p:txBody>
      </p:sp>
      <p:sp>
        <p:nvSpPr>
          <p:cNvPr id="8" name="Footer Placeholder 7">
            <a:extLst>
              <a:ext uri="{FF2B5EF4-FFF2-40B4-BE49-F238E27FC236}">
                <a16:creationId xmlns:a16="http://schemas.microsoft.com/office/drawing/2014/main" id="{732F7D92-524A-6A87-EA50-89D03CFFFF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5A27D4-F685-F2E9-E9E7-CAD92CB3E055}"/>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403622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9ACE5-4ACD-CF56-B40F-B317334916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88EA34-6380-72ED-0C09-9113FFF93C91}"/>
              </a:ext>
            </a:extLst>
          </p:cNvPr>
          <p:cNvSpPr>
            <a:spLocks noGrp="1"/>
          </p:cNvSpPr>
          <p:nvPr>
            <p:ph type="dt" sz="half" idx="10"/>
          </p:nvPr>
        </p:nvSpPr>
        <p:spPr/>
        <p:txBody>
          <a:bodyPr/>
          <a:lstStyle/>
          <a:p>
            <a:fld id="{01365F07-267D-4BA2-BC6C-B3B81FF729D9}" type="datetimeFigureOut">
              <a:rPr lang="en-US" smtClean="0"/>
              <a:t>7/13/2026</a:t>
            </a:fld>
            <a:endParaRPr lang="en-US"/>
          </a:p>
        </p:txBody>
      </p:sp>
      <p:sp>
        <p:nvSpPr>
          <p:cNvPr id="4" name="Footer Placeholder 3">
            <a:extLst>
              <a:ext uri="{FF2B5EF4-FFF2-40B4-BE49-F238E27FC236}">
                <a16:creationId xmlns:a16="http://schemas.microsoft.com/office/drawing/2014/main" id="{D838A4FE-2220-15B6-5008-03FC920B5D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70C450-0F39-5262-9587-0E67B360DC27}"/>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1174854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FC2F05-5FF5-4538-C94E-ADA2D2094735}"/>
              </a:ext>
            </a:extLst>
          </p:cNvPr>
          <p:cNvSpPr>
            <a:spLocks noGrp="1"/>
          </p:cNvSpPr>
          <p:nvPr>
            <p:ph type="dt" sz="half" idx="10"/>
          </p:nvPr>
        </p:nvSpPr>
        <p:spPr/>
        <p:txBody>
          <a:bodyPr/>
          <a:lstStyle/>
          <a:p>
            <a:fld id="{01365F07-267D-4BA2-BC6C-B3B81FF729D9}" type="datetimeFigureOut">
              <a:rPr lang="en-US" smtClean="0"/>
              <a:t>7/13/2026</a:t>
            </a:fld>
            <a:endParaRPr lang="en-US"/>
          </a:p>
        </p:txBody>
      </p:sp>
      <p:sp>
        <p:nvSpPr>
          <p:cNvPr id="3" name="Footer Placeholder 2">
            <a:extLst>
              <a:ext uri="{FF2B5EF4-FFF2-40B4-BE49-F238E27FC236}">
                <a16:creationId xmlns:a16="http://schemas.microsoft.com/office/drawing/2014/main" id="{6AA6081F-37B2-B5B3-C824-0094910C27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1F216E-9C22-93DC-CE1B-01F983D192EC}"/>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3292724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9F8E0-C697-B450-75AD-0B9192D98F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7960FF-74F3-8434-E6D8-C65676D7F8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68DA9F-6847-A35C-4810-4C0ACF3D03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72C20D-9D9F-753C-A55F-0B71DB22D373}"/>
              </a:ext>
            </a:extLst>
          </p:cNvPr>
          <p:cNvSpPr>
            <a:spLocks noGrp="1"/>
          </p:cNvSpPr>
          <p:nvPr>
            <p:ph type="dt" sz="half" idx="10"/>
          </p:nvPr>
        </p:nvSpPr>
        <p:spPr/>
        <p:txBody>
          <a:bodyPr/>
          <a:lstStyle/>
          <a:p>
            <a:fld id="{01365F07-267D-4BA2-BC6C-B3B81FF729D9}" type="datetimeFigureOut">
              <a:rPr lang="en-US" smtClean="0"/>
              <a:t>7/13/2026</a:t>
            </a:fld>
            <a:endParaRPr lang="en-US"/>
          </a:p>
        </p:txBody>
      </p:sp>
      <p:sp>
        <p:nvSpPr>
          <p:cNvPr id="6" name="Footer Placeholder 5">
            <a:extLst>
              <a:ext uri="{FF2B5EF4-FFF2-40B4-BE49-F238E27FC236}">
                <a16:creationId xmlns:a16="http://schemas.microsoft.com/office/drawing/2014/main" id="{4720B7D4-480A-B03A-C5C7-EE513C92AE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E576A6-C589-02AA-840A-17854EF6CE98}"/>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55164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6010B-07FC-F30A-B4DE-87C16539E5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54620A-E200-488E-DD2E-D334165CA3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B9AD33-D884-36F6-1A4B-FB6CFC7BCE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19108E-04B7-0162-A3E5-CDF79F1670EB}"/>
              </a:ext>
            </a:extLst>
          </p:cNvPr>
          <p:cNvSpPr>
            <a:spLocks noGrp="1"/>
          </p:cNvSpPr>
          <p:nvPr>
            <p:ph type="dt" sz="half" idx="10"/>
          </p:nvPr>
        </p:nvSpPr>
        <p:spPr/>
        <p:txBody>
          <a:bodyPr/>
          <a:lstStyle/>
          <a:p>
            <a:fld id="{01365F07-267D-4BA2-BC6C-B3B81FF729D9}" type="datetimeFigureOut">
              <a:rPr lang="en-US" smtClean="0"/>
              <a:t>7/13/2026</a:t>
            </a:fld>
            <a:endParaRPr lang="en-US"/>
          </a:p>
        </p:txBody>
      </p:sp>
      <p:sp>
        <p:nvSpPr>
          <p:cNvPr id="6" name="Footer Placeholder 5">
            <a:extLst>
              <a:ext uri="{FF2B5EF4-FFF2-40B4-BE49-F238E27FC236}">
                <a16:creationId xmlns:a16="http://schemas.microsoft.com/office/drawing/2014/main" id="{93384C22-61B7-37D5-9FF8-A1CFFD6746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5D79D8-8AEC-5DD4-5E87-5F54021FE32F}"/>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2202827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B70E1-6B87-35FE-8ACD-C920B3BD27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B6415D-3CE3-FEA1-37A5-B2616E254E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541405-7ECC-1929-3EE2-E7EE6EBAFDB8}"/>
              </a:ext>
            </a:extLst>
          </p:cNvPr>
          <p:cNvSpPr>
            <a:spLocks noGrp="1"/>
          </p:cNvSpPr>
          <p:nvPr>
            <p:ph type="dt" sz="half" idx="10"/>
          </p:nvPr>
        </p:nvSpPr>
        <p:spPr/>
        <p:txBody>
          <a:bodyPr/>
          <a:lstStyle/>
          <a:p>
            <a:fld id="{01365F07-267D-4BA2-BC6C-B3B81FF729D9}" type="datetimeFigureOut">
              <a:rPr lang="en-US" smtClean="0"/>
              <a:t>7/13/2026</a:t>
            </a:fld>
            <a:endParaRPr lang="en-US"/>
          </a:p>
        </p:txBody>
      </p:sp>
      <p:sp>
        <p:nvSpPr>
          <p:cNvPr id="5" name="Footer Placeholder 4">
            <a:extLst>
              <a:ext uri="{FF2B5EF4-FFF2-40B4-BE49-F238E27FC236}">
                <a16:creationId xmlns:a16="http://schemas.microsoft.com/office/drawing/2014/main" id="{36088DC5-0808-14C6-C1C8-CB190AE2D2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55A95D-A325-7CA4-C4F2-E58152C47A96}"/>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2066538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8465DF-97ED-B475-4CF0-D0D129FB6C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845E37-C7C4-EED9-BB6B-A0C9B0294F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554292-BF30-39DF-6482-58F91FEB01F9}"/>
              </a:ext>
            </a:extLst>
          </p:cNvPr>
          <p:cNvSpPr>
            <a:spLocks noGrp="1"/>
          </p:cNvSpPr>
          <p:nvPr>
            <p:ph type="dt" sz="half" idx="10"/>
          </p:nvPr>
        </p:nvSpPr>
        <p:spPr/>
        <p:txBody>
          <a:bodyPr/>
          <a:lstStyle/>
          <a:p>
            <a:fld id="{01365F07-267D-4BA2-BC6C-B3B81FF729D9}" type="datetimeFigureOut">
              <a:rPr lang="en-US" smtClean="0"/>
              <a:t>7/13/2026</a:t>
            </a:fld>
            <a:endParaRPr lang="en-US"/>
          </a:p>
        </p:txBody>
      </p:sp>
      <p:sp>
        <p:nvSpPr>
          <p:cNvPr id="5" name="Footer Placeholder 4">
            <a:extLst>
              <a:ext uri="{FF2B5EF4-FFF2-40B4-BE49-F238E27FC236}">
                <a16:creationId xmlns:a16="http://schemas.microsoft.com/office/drawing/2014/main" id="{3FF6A6A8-B1D4-30E3-1646-ADAE888908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9224F2-E97D-5A0C-6F2D-FB0A76A2BC13}"/>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941360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3629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AB4174-C107-0C7D-2D9F-CD547224C8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0B1F2D3-AAB1-7794-4BA9-550A32E826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6CD71F-16AB-0810-8CF6-7C92F9F45B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365F07-267D-4BA2-BC6C-B3B81FF729D9}" type="datetimeFigureOut">
              <a:rPr lang="en-US" smtClean="0"/>
              <a:t>7/13/2026</a:t>
            </a:fld>
            <a:endParaRPr lang="en-US"/>
          </a:p>
        </p:txBody>
      </p:sp>
      <p:sp>
        <p:nvSpPr>
          <p:cNvPr id="5" name="Footer Placeholder 4">
            <a:extLst>
              <a:ext uri="{FF2B5EF4-FFF2-40B4-BE49-F238E27FC236}">
                <a16:creationId xmlns:a16="http://schemas.microsoft.com/office/drawing/2014/main" id="{5C6519D8-6BF2-22A6-3B3E-1EBEE93B41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054DEB5-FB6F-8E4C-4D51-EA491E8C93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B0F965-FC3C-4497-88D9-279B96B630D8}" type="slidenum">
              <a:rPr lang="en-US" smtClean="0"/>
              <a:t>‹#›</a:t>
            </a:fld>
            <a:endParaRPr lang="en-US"/>
          </a:p>
        </p:txBody>
      </p:sp>
    </p:spTree>
    <p:extLst>
      <p:ext uri="{BB962C8B-B14F-4D97-AF65-F5344CB8AC3E}">
        <p14:creationId xmlns:p14="http://schemas.microsoft.com/office/powerpoint/2010/main" val="3456606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2B1F-060B-A0DE-C4E6-9E9802E9F610}"/>
              </a:ext>
            </a:extLst>
          </p:cNvPr>
          <p:cNvSpPr>
            <a:spLocks noGrp="1"/>
          </p:cNvSpPr>
          <p:nvPr>
            <p:ph type="ctrTitle"/>
          </p:nvPr>
        </p:nvSpPr>
        <p:spPr/>
        <p:txBody>
          <a:bodyPr>
            <a:normAutofit/>
          </a:bodyPr>
          <a:lstStyle/>
          <a:p>
            <a:r>
              <a:rPr lang="en-US" b="1" dirty="0">
                <a:solidFill>
                  <a:srgbClr val="7030A0"/>
                </a:solidFill>
                <a:latin typeface="Arial" panose="020B0604020202020204" pitchFamily="34" charset="0"/>
                <a:cs typeface="Arial" panose="020B0604020202020204" pitchFamily="34" charset="0"/>
              </a:rPr>
              <a:t>Activity 01: Data Cleaning &amp; Visuals </a:t>
            </a:r>
          </a:p>
        </p:txBody>
      </p:sp>
      <p:sp>
        <p:nvSpPr>
          <p:cNvPr id="3" name="Subtitle 2">
            <a:extLst>
              <a:ext uri="{FF2B5EF4-FFF2-40B4-BE49-F238E27FC236}">
                <a16:creationId xmlns:a16="http://schemas.microsoft.com/office/drawing/2014/main" id="{39A4178C-AE0F-47AF-7BE9-B86991376138}"/>
              </a:ext>
            </a:extLst>
          </p:cNvPr>
          <p:cNvSpPr>
            <a:spLocks noGrp="1"/>
          </p:cNvSpPr>
          <p:nvPr>
            <p:ph type="subTitle" idx="1"/>
          </p:nvPr>
        </p:nvSpPr>
        <p:spPr>
          <a:xfrm>
            <a:off x="1524000" y="3949129"/>
            <a:ext cx="9144000" cy="1655762"/>
          </a:xfrm>
        </p:spPr>
        <p:txBody>
          <a:bodyPr/>
          <a:lstStyle/>
          <a:p>
            <a:r>
              <a:rPr lang="en-US" dirty="0">
                <a:latin typeface="Arial" panose="020B0604020202020204" pitchFamily="34" charset="0"/>
                <a:cs typeface="Arial" panose="020B0604020202020204" pitchFamily="34" charset="0"/>
              </a:rPr>
              <a:t>SISMID Lab</a:t>
            </a:r>
          </a:p>
          <a:p>
            <a:r>
              <a:rPr lang="en-US" dirty="0">
                <a:latin typeface="Arial" panose="020B0604020202020204" pitchFamily="34" charset="0"/>
                <a:cs typeface="Arial" panose="020B0604020202020204" pitchFamily="34" charset="0"/>
              </a:rPr>
              <a:t>July 22 through July 24, 2026</a:t>
            </a:r>
          </a:p>
          <a:p>
            <a:r>
              <a:rPr lang="en-US" dirty="0">
                <a:latin typeface="Arial" panose="020B0604020202020204" pitchFamily="34" charset="0"/>
                <a:cs typeface="Arial" panose="020B0604020202020204" pitchFamily="34" charset="0"/>
              </a:rPr>
              <a:t>A Human – AI Teaming Approach to Infectious Disease Modeling</a:t>
            </a:r>
          </a:p>
          <a:p>
            <a:endParaRPr lang="en-US" dirty="0"/>
          </a:p>
        </p:txBody>
      </p:sp>
    </p:spTree>
    <p:extLst>
      <p:ext uri="{BB962C8B-B14F-4D97-AF65-F5344CB8AC3E}">
        <p14:creationId xmlns:p14="http://schemas.microsoft.com/office/powerpoint/2010/main" val="368766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F726-9E5F-AB57-6346-7512C1C4766C}"/>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ECF0019-CF23-77D6-BD88-212E5205DAB5}"/>
              </a:ext>
            </a:extLst>
          </p:cNvPr>
          <p:cNvSpPr/>
          <p:nvPr/>
        </p:nvSpPr>
        <p:spPr>
          <a:xfrm>
            <a:off x="3490452" y="1808306"/>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B7EA35B4-F3D9-B1C0-0C84-8C0BA15E8932}"/>
              </a:ext>
            </a:extLst>
          </p:cNvPr>
          <p:cNvSpPr/>
          <p:nvPr/>
        </p:nvSpPr>
        <p:spPr>
          <a:xfrm>
            <a:off x="914400" y="241088"/>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General Housekeeping</a:t>
            </a:r>
            <a:endParaRPr lang="en-US" sz="4267" dirty="0">
              <a:solidFill>
                <a:srgbClr val="7030A0"/>
              </a:solidFill>
              <a:latin typeface="Arial" panose="020B0604020202020204" pitchFamily="34" charset="0"/>
              <a:cs typeface="Arial" panose="020B0604020202020204" pitchFamily="34" charset="0"/>
            </a:endParaRPr>
          </a:p>
        </p:txBody>
      </p:sp>
      <p:pic>
        <p:nvPicPr>
          <p:cNvPr id="9" name="Picture 8" descr="Your Turn Rubber Stamp Royalty Free SVG, Cliparts, Vectors, and Stock  Illustration. Image 68258628.">
            <a:extLst>
              <a:ext uri="{FF2B5EF4-FFF2-40B4-BE49-F238E27FC236}">
                <a16:creationId xmlns:a16="http://schemas.microsoft.com/office/drawing/2014/main" id="{F562BAD3-807E-90DC-48DF-6ED897587C4B}"/>
              </a:ext>
            </a:extLst>
          </p:cNvPr>
          <p:cNvPicPr>
            <a:picLocks noChangeAspect="1"/>
          </p:cNvPicPr>
          <p:nvPr/>
        </p:nvPicPr>
        <p:blipFill>
          <a:blip r:embed="rId3"/>
          <a:stretch>
            <a:fillRect/>
          </a:stretch>
        </p:blipFill>
        <p:spPr>
          <a:xfrm>
            <a:off x="906283" y="4210588"/>
            <a:ext cx="2111552" cy="2111552"/>
          </a:xfrm>
          <a:prstGeom prst="rect">
            <a:avLst/>
          </a:prstGeom>
        </p:spPr>
      </p:pic>
      <p:pic>
        <p:nvPicPr>
          <p:cNvPr id="11" name="Graphic 10" descr="Presentation with pie chart with solid fill">
            <a:extLst>
              <a:ext uri="{FF2B5EF4-FFF2-40B4-BE49-F238E27FC236}">
                <a16:creationId xmlns:a16="http://schemas.microsoft.com/office/drawing/2014/main" id="{62747D9E-0CD4-F48E-D4EB-111C3643B6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068" y="1682967"/>
            <a:ext cx="2182761" cy="2182761"/>
          </a:xfrm>
          <a:prstGeom prst="rect">
            <a:avLst/>
          </a:prstGeom>
        </p:spPr>
      </p:pic>
      <p:sp>
        <p:nvSpPr>
          <p:cNvPr id="12" name="TextBox 11">
            <a:extLst>
              <a:ext uri="{FF2B5EF4-FFF2-40B4-BE49-F238E27FC236}">
                <a16:creationId xmlns:a16="http://schemas.microsoft.com/office/drawing/2014/main" id="{14345B43-4698-0CF1-9CCC-C922B37C6628}"/>
              </a:ext>
            </a:extLst>
          </p:cNvPr>
          <p:cNvSpPr txBox="1"/>
          <p:nvPr/>
        </p:nvSpPr>
        <p:spPr>
          <a:xfrm>
            <a:off x="3702112" y="1921584"/>
            <a:ext cx="7805535" cy="1631216"/>
          </a:xfrm>
          <a:prstGeom prst="rect">
            <a:avLst/>
          </a:prstGeom>
          <a:noFill/>
        </p:spPr>
        <p:txBody>
          <a:bodyPr wrap="none" rtlCol="0">
            <a:spAutoFit/>
          </a:bodyPr>
          <a:lstStyle/>
          <a:p>
            <a:r>
              <a:rPr lang="en-US" sz="2500" dirty="0">
                <a:latin typeface="Arial" panose="020B0604020202020204" pitchFamily="34" charset="0"/>
                <a:cs typeface="Arial" panose="020B0604020202020204" pitchFamily="34" charset="0"/>
              </a:rPr>
              <a:t>Any slide with this icon contains the </a:t>
            </a:r>
            <a:r>
              <a:rPr lang="en-US" sz="2500" b="1" dirty="0">
                <a:latin typeface="Arial" panose="020B0604020202020204" pitchFamily="34" charset="0"/>
                <a:cs typeface="Arial" panose="020B0604020202020204" pitchFamily="34" charset="0"/>
              </a:rPr>
              <a:t>goals</a:t>
            </a:r>
            <a:r>
              <a:rPr lang="en-US" sz="2500" dirty="0">
                <a:latin typeface="Arial" panose="020B0604020202020204" pitchFamily="34" charset="0"/>
                <a:cs typeface="Arial" panose="020B0604020202020204" pitchFamily="34" charset="0"/>
              </a:rPr>
              <a:t> and </a:t>
            </a:r>
          </a:p>
          <a:p>
            <a:r>
              <a:rPr lang="en-US" sz="2500" b="1" dirty="0">
                <a:latin typeface="Arial" panose="020B0604020202020204" pitchFamily="34" charset="0"/>
                <a:cs typeface="Arial" panose="020B0604020202020204" pitchFamily="34" charset="0"/>
              </a:rPr>
              <a:t>expected outputs</a:t>
            </a:r>
            <a:r>
              <a:rPr lang="en-US" sz="2500" dirty="0">
                <a:latin typeface="Arial" panose="020B0604020202020204" pitchFamily="34" charset="0"/>
                <a:cs typeface="Arial" panose="020B0604020202020204" pitchFamily="34" charset="0"/>
              </a:rPr>
              <a:t> for the activity. All outputs listed in </a:t>
            </a:r>
          </a:p>
          <a:p>
            <a:r>
              <a:rPr lang="en-US" sz="2500" dirty="0">
                <a:latin typeface="Arial" panose="020B0604020202020204" pitchFamily="34" charset="0"/>
                <a:cs typeface="Arial" panose="020B0604020202020204" pitchFamily="34" charset="0"/>
              </a:rPr>
              <a:t>the tables on these slides should be uploaded to the </a:t>
            </a:r>
          </a:p>
          <a:p>
            <a:r>
              <a:rPr lang="en-US" sz="2500" dirty="0">
                <a:latin typeface="Arial" panose="020B0604020202020204" pitchFamily="34" charset="0"/>
                <a:cs typeface="Arial" panose="020B0604020202020204" pitchFamily="34" charset="0"/>
              </a:rPr>
              <a:t>course GitHub repository for review.</a:t>
            </a:r>
          </a:p>
        </p:txBody>
      </p:sp>
      <p:sp>
        <p:nvSpPr>
          <p:cNvPr id="15" name="Rectangle: Rounded Corners 14">
            <a:extLst>
              <a:ext uri="{FF2B5EF4-FFF2-40B4-BE49-F238E27FC236}">
                <a16:creationId xmlns:a16="http://schemas.microsoft.com/office/drawing/2014/main" id="{78FD0BD9-3A02-3B90-E88E-E7D65070D184}"/>
              </a:ext>
            </a:extLst>
          </p:cNvPr>
          <p:cNvSpPr/>
          <p:nvPr/>
        </p:nvSpPr>
        <p:spPr>
          <a:xfrm>
            <a:off x="3490452" y="4325570"/>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746E982-51E2-2726-1C8C-4712524F1BCB}"/>
              </a:ext>
            </a:extLst>
          </p:cNvPr>
          <p:cNvSpPr txBox="1"/>
          <p:nvPr/>
        </p:nvSpPr>
        <p:spPr>
          <a:xfrm>
            <a:off x="3702111" y="4414058"/>
            <a:ext cx="7573774" cy="1631216"/>
          </a:xfrm>
          <a:prstGeom prst="rect">
            <a:avLst/>
          </a:prstGeom>
          <a:noFill/>
        </p:spPr>
        <p:txBody>
          <a:bodyPr wrap="square" rtlCol="0">
            <a:spAutoFit/>
          </a:bodyPr>
          <a:lstStyle/>
          <a:p>
            <a:r>
              <a:rPr lang="en-US" sz="2500" dirty="0">
                <a:latin typeface="Arial" panose="020B0604020202020204" pitchFamily="34" charset="0"/>
                <a:cs typeface="Arial" panose="020B0604020202020204" pitchFamily="34" charset="0"/>
              </a:rPr>
              <a:t>Any slide with this icon indicates that it is </a:t>
            </a:r>
            <a:r>
              <a:rPr lang="en-US" sz="2500" b="1" dirty="0">
                <a:latin typeface="Arial" panose="020B0604020202020204" pitchFamily="34" charset="0"/>
                <a:cs typeface="Arial" panose="020B0604020202020204" pitchFamily="34" charset="0"/>
              </a:rPr>
              <a:t>time to complete a hands-on activity</a:t>
            </a:r>
            <a:r>
              <a:rPr lang="en-US" sz="2500" dirty="0">
                <a:latin typeface="Arial" panose="020B0604020202020204" pitchFamily="34" charset="0"/>
                <a:cs typeface="Arial" panose="020B0604020202020204" pitchFamily="34" charset="0"/>
              </a:rPr>
              <a:t>. Carefully follow the instructions provided, complete the required task, and verify your results. </a:t>
            </a:r>
          </a:p>
        </p:txBody>
      </p:sp>
    </p:spTree>
    <p:extLst>
      <p:ext uri="{BB962C8B-B14F-4D97-AF65-F5344CB8AC3E}">
        <p14:creationId xmlns:p14="http://schemas.microsoft.com/office/powerpoint/2010/main" val="183337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p:bldP spid="15" grpId="0" animBg="1"/>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0B55-68AE-8821-5B95-140FD9B77886}"/>
            </a:ext>
          </a:extLst>
        </p:cNvPr>
        <p:cNvGrpSpPr/>
        <p:nvPr/>
      </p:nvGrpSpPr>
      <p:grpSpPr>
        <a:xfrm>
          <a:off x="0" y="0"/>
          <a:ext cx="0" cy="0"/>
          <a:chOff x="0" y="0"/>
          <a:chExt cx="0" cy="0"/>
        </a:xfrm>
      </p:grpSpPr>
      <p:sp>
        <p:nvSpPr>
          <p:cNvPr id="84" name="Shape 33">
            <a:extLst>
              <a:ext uri="{FF2B5EF4-FFF2-40B4-BE49-F238E27FC236}">
                <a16:creationId xmlns:a16="http://schemas.microsoft.com/office/drawing/2014/main" id="{457AC859-6DCC-BE97-86ED-E048D25F6114}"/>
              </a:ext>
            </a:extLst>
          </p:cNvPr>
          <p:cNvSpPr/>
          <p:nvPr/>
        </p:nvSpPr>
        <p:spPr>
          <a:xfrm>
            <a:off x="2608869" y="1780097"/>
            <a:ext cx="0" cy="243840"/>
          </a:xfrm>
          <a:prstGeom prst="line">
            <a:avLst/>
          </a:prstGeom>
          <a:noFill/>
          <a:ln w="19050">
            <a:solidFill>
              <a:srgbClr val="FF6B35"/>
            </a:solidFill>
            <a:prstDash val="solid"/>
          </a:ln>
        </p:spPr>
        <p:txBody>
          <a:bodyPr/>
          <a:lstStyle/>
          <a:p>
            <a:endParaRPr lang="en-US"/>
          </a:p>
        </p:txBody>
      </p:sp>
      <p:sp>
        <p:nvSpPr>
          <p:cNvPr id="3" name="Shape 1">
            <a:extLst>
              <a:ext uri="{FF2B5EF4-FFF2-40B4-BE49-F238E27FC236}">
                <a16:creationId xmlns:a16="http://schemas.microsoft.com/office/drawing/2014/main" id="{0F907A02-70CC-B6B4-834F-E13C5C0C9F64}"/>
              </a:ext>
            </a:extLst>
          </p:cNvPr>
          <p:cNvSpPr/>
          <p:nvPr/>
        </p:nvSpPr>
        <p:spPr>
          <a:xfrm>
            <a:off x="1549204" y="2164732"/>
            <a:ext cx="9144000" cy="145908"/>
          </a:xfrm>
          <a:prstGeom prst="rect">
            <a:avLst/>
          </a:prstGeom>
          <a:solidFill>
            <a:schemeClr val="accent5">
              <a:lumMod val="20000"/>
              <a:lumOff val="80000"/>
            </a:schemeClr>
          </a:solidFill>
          <a:ln/>
        </p:spPr>
        <p:txBody>
          <a:bodyPr/>
          <a:lstStyle/>
          <a:p>
            <a:endParaRPr lang="en-US"/>
          </a:p>
        </p:txBody>
      </p:sp>
      <p:sp>
        <p:nvSpPr>
          <p:cNvPr id="2" name="Text 0">
            <a:extLst>
              <a:ext uri="{FF2B5EF4-FFF2-40B4-BE49-F238E27FC236}">
                <a16:creationId xmlns:a16="http://schemas.microsoft.com/office/drawing/2014/main" id="{746C188A-C9F6-6784-D3D3-0D7D242B35ED}"/>
              </a:ext>
            </a:extLst>
          </p:cNvPr>
          <p:cNvSpPr/>
          <p:nvPr/>
        </p:nvSpPr>
        <p:spPr>
          <a:xfrm>
            <a:off x="890016" y="280416"/>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Lab Timeline</a:t>
            </a:r>
            <a:endParaRPr lang="en-US" sz="4267" dirty="0">
              <a:solidFill>
                <a:srgbClr val="7030A0"/>
              </a:solidFill>
              <a:latin typeface="Arial" panose="020B0604020202020204" pitchFamily="34" charset="0"/>
              <a:cs typeface="Arial" panose="020B0604020202020204" pitchFamily="34" charset="0"/>
            </a:endParaRPr>
          </a:p>
        </p:txBody>
      </p:sp>
      <p:sp>
        <p:nvSpPr>
          <p:cNvPr id="4" name="Shape 2">
            <a:extLst>
              <a:ext uri="{FF2B5EF4-FFF2-40B4-BE49-F238E27FC236}">
                <a16:creationId xmlns:a16="http://schemas.microsoft.com/office/drawing/2014/main" id="{0CD24C60-8CD2-2C8E-9716-09CAE25048C8}"/>
              </a:ext>
            </a:extLst>
          </p:cNvPr>
          <p:cNvSpPr/>
          <p:nvPr/>
        </p:nvSpPr>
        <p:spPr>
          <a:xfrm>
            <a:off x="2383304" y="2023937"/>
            <a:ext cx="451104" cy="465963"/>
          </a:xfrm>
          <a:prstGeom prst="ellipse">
            <a:avLst/>
          </a:prstGeom>
          <a:solidFill>
            <a:schemeClr val="accent2"/>
          </a:solidFill>
          <a:ln/>
        </p:spPr>
        <p:txBody>
          <a:bodyPr/>
          <a:lstStyle/>
          <a:p>
            <a:endParaRPr lang="en-US"/>
          </a:p>
        </p:txBody>
      </p:sp>
      <p:sp>
        <p:nvSpPr>
          <p:cNvPr id="5" name="Shape 3">
            <a:extLst>
              <a:ext uri="{FF2B5EF4-FFF2-40B4-BE49-F238E27FC236}">
                <a16:creationId xmlns:a16="http://schemas.microsoft.com/office/drawing/2014/main" id="{398DF220-93AA-75B9-5885-F517C4CBC73F}"/>
              </a:ext>
            </a:extLst>
          </p:cNvPr>
          <p:cNvSpPr/>
          <p:nvPr/>
        </p:nvSpPr>
        <p:spPr>
          <a:xfrm>
            <a:off x="1603016" y="2714849"/>
            <a:ext cx="2011680" cy="2348421"/>
          </a:xfrm>
          <a:prstGeom prst="rect">
            <a:avLst/>
          </a:prstGeom>
          <a:solidFill>
            <a:srgbClr val="E8F4F8"/>
          </a:solidFill>
          <a:ln>
            <a:solidFill>
              <a:srgbClr val="E8F4F8"/>
            </a:solidFill>
          </a:ln>
          <a:effectLst>
            <a:outerShdw blurRad="50800" dist="25400" dir="8100000" algn="bl" rotWithShape="0">
              <a:srgbClr val="000000">
                <a:alpha val="10000"/>
              </a:srgbClr>
            </a:outerShdw>
          </a:effectLst>
        </p:spPr>
        <p:txBody>
          <a:bodyPr/>
          <a:lstStyle/>
          <a:p>
            <a:endParaRPr lang="en-US"/>
          </a:p>
        </p:txBody>
      </p:sp>
      <p:sp>
        <p:nvSpPr>
          <p:cNvPr id="6" name="Text 4">
            <a:extLst>
              <a:ext uri="{FF2B5EF4-FFF2-40B4-BE49-F238E27FC236}">
                <a16:creationId xmlns:a16="http://schemas.microsoft.com/office/drawing/2014/main" id="{9346C554-AF69-9E25-27D5-6D80026C616B}"/>
              </a:ext>
            </a:extLst>
          </p:cNvPr>
          <p:cNvSpPr/>
          <p:nvPr/>
        </p:nvSpPr>
        <p:spPr>
          <a:xfrm>
            <a:off x="1700552" y="279470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1</a:t>
            </a:r>
            <a:endParaRPr lang="en-US" sz="1467" dirty="0">
              <a:latin typeface="Arial" panose="020B0604020202020204" pitchFamily="34" charset="0"/>
              <a:cs typeface="Arial" panose="020B0604020202020204" pitchFamily="34" charset="0"/>
            </a:endParaRPr>
          </a:p>
        </p:txBody>
      </p:sp>
      <p:sp>
        <p:nvSpPr>
          <p:cNvPr id="7" name="Text 5">
            <a:extLst>
              <a:ext uri="{FF2B5EF4-FFF2-40B4-BE49-F238E27FC236}">
                <a16:creationId xmlns:a16="http://schemas.microsoft.com/office/drawing/2014/main" id="{B7D6E1AA-9A8F-609B-2D13-AADCCD49A3AA}"/>
              </a:ext>
            </a:extLst>
          </p:cNvPr>
          <p:cNvSpPr/>
          <p:nvPr/>
        </p:nvSpPr>
        <p:spPr>
          <a:xfrm>
            <a:off x="1700552" y="3251517"/>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Cleaning &amp;</a:t>
            </a:r>
          </a:p>
          <a:p>
            <a:r>
              <a:rPr lang="en-US" sz="1730" b="1" dirty="0">
                <a:solidFill>
                  <a:srgbClr val="0B2545"/>
                </a:solidFill>
                <a:latin typeface="Arial" panose="020B0604020202020204" pitchFamily="34" charset="0"/>
                <a:cs typeface="Arial" panose="020B0604020202020204" pitchFamily="34" charset="0"/>
              </a:rPr>
              <a:t>Visuals</a:t>
            </a:r>
            <a:endParaRPr lang="en-US" sz="1730" dirty="0">
              <a:latin typeface="Arial" panose="020B0604020202020204" pitchFamily="34" charset="0"/>
              <a:cs typeface="Arial" panose="020B0604020202020204" pitchFamily="34" charset="0"/>
            </a:endParaRPr>
          </a:p>
        </p:txBody>
      </p:sp>
      <p:sp>
        <p:nvSpPr>
          <p:cNvPr id="8" name="Shape 6">
            <a:extLst>
              <a:ext uri="{FF2B5EF4-FFF2-40B4-BE49-F238E27FC236}">
                <a16:creationId xmlns:a16="http://schemas.microsoft.com/office/drawing/2014/main" id="{A3AFE840-78C4-310A-0C45-53437A09851F}"/>
              </a:ext>
            </a:extLst>
          </p:cNvPr>
          <p:cNvSpPr/>
          <p:nvPr/>
        </p:nvSpPr>
        <p:spPr>
          <a:xfrm>
            <a:off x="1681053" y="3751235"/>
            <a:ext cx="975360" cy="36576"/>
          </a:xfrm>
          <a:prstGeom prst="rect">
            <a:avLst/>
          </a:prstGeom>
          <a:solidFill>
            <a:srgbClr val="13678A"/>
          </a:solidFill>
          <a:ln/>
        </p:spPr>
        <p:txBody>
          <a:bodyPr/>
          <a:lstStyle/>
          <a:p>
            <a:endParaRPr lang="en-US"/>
          </a:p>
        </p:txBody>
      </p:sp>
      <p:sp>
        <p:nvSpPr>
          <p:cNvPr id="36" name="Shape 2">
            <a:extLst>
              <a:ext uri="{FF2B5EF4-FFF2-40B4-BE49-F238E27FC236}">
                <a16:creationId xmlns:a16="http://schemas.microsoft.com/office/drawing/2014/main" id="{919A4B9F-A65A-1733-6D2E-588A119EA19C}"/>
              </a:ext>
            </a:extLst>
          </p:cNvPr>
          <p:cNvSpPr/>
          <p:nvPr/>
        </p:nvSpPr>
        <p:spPr>
          <a:xfrm>
            <a:off x="4737916" y="2009620"/>
            <a:ext cx="451104" cy="465963"/>
          </a:xfrm>
          <a:prstGeom prst="ellipse">
            <a:avLst/>
          </a:prstGeom>
          <a:solidFill>
            <a:schemeClr val="accent2"/>
          </a:solidFill>
          <a:ln/>
        </p:spPr>
        <p:txBody>
          <a:bodyPr/>
          <a:lstStyle/>
          <a:p>
            <a:endParaRPr lang="en-US"/>
          </a:p>
        </p:txBody>
      </p:sp>
      <p:sp>
        <p:nvSpPr>
          <p:cNvPr id="37" name="Shape 3">
            <a:extLst>
              <a:ext uri="{FF2B5EF4-FFF2-40B4-BE49-F238E27FC236}">
                <a16:creationId xmlns:a16="http://schemas.microsoft.com/office/drawing/2014/main" id="{435D559B-F0BD-DB38-90EA-5BD16372817E}"/>
              </a:ext>
            </a:extLst>
          </p:cNvPr>
          <p:cNvSpPr/>
          <p:nvPr/>
        </p:nvSpPr>
        <p:spPr>
          <a:xfrm>
            <a:off x="3957628" y="2714849"/>
            <a:ext cx="2011680" cy="2348421"/>
          </a:xfrm>
          <a:prstGeom prst="rect">
            <a:avLst/>
          </a:prstGeom>
          <a:solidFill>
            <a:srgbClr val="DCEAF7"/>
          </a:solidFill>
          <a:ln>
            <a:solidFill>
              <a:srgbClr val="E8F8F0"/>
            </a:solidFill>
          </a:ln>
          <a:effectLst>
            <a:outerShdw blurRad="50800" dist="25400" dir="8100000" algn="bl" rotWithShape="0">
              <a:srgbClr val="000000">
                <a:alpha val="10000"/>
              </a:srgbClr>
            </a:outerShdw>
          </a:effectLst>
        </p:spPr>
        <p:txBody>
          <a:bodyPr/>
          <a:lstStyle/>
          <a:p>
            <a:endParaRPr lang="en-US"/>
          </a:p>
        </p:txBody>
      </p:sp>
      <p:sp>
        <p:nvSpPr>
          <p:cNvPr id="38" name="Text 4">
            <a:extLst>
              <a:ext uri="{FF2B5EF4-FFF2-40B4-BE49-F238E27FC236}">
                <a16:creationId xmlns:a16="http://schemas.microsoft.com/office/drawing/2014/main" id="{B5A2C030-69C6-A503-4D93-82F93DFA82AC}"/>
              </a:ext>
            </a:extLst>
          </p:cNvPr>
          <p:cNvSpPr/>
          <p:nvPr/>
        </p:nvSpPr>
        <p:spPr>
          <a:xfrm>
            <a:off x="4055164" y="2814324"/>
            <a:ext cx="1828800" cy="365760"/>
          </a:xfrm>
          <a:prstGeom prst="rect">
            <a:avLst/>
          </a:prstGeom>
          <a:noFill/>
          <a:ln/>
        </p:spPr>
        <p:txBody>
          <a:bodyPr wrap="square" lIns="0" tIns="0" rIns="0" bIns="0" rtlCol="0" anchor="ctr"/>
          <a:lstStyle/>
          <a:p>
            <a:r>
              <a:rPr lang="en-US" sz="1467" b="1" dirty="0">
                <a:solidFill>
                  <a:srgbClr val="13678A"/>
                </a:solidFill>
                <a:latin typeface="Trebuchet MS" pitchFamily="34" charset="0"/>
                <a:ea typeface="Trebuchet MS" pitchFamily="34" charset="-122"/>
                <a:cs typeface="Trebuchet MS" pitchFamily="34" charset="-120"/>
              </a:rPr>
              <a:t>Activity 2</a:t>
            </a:r>
            <a:endParaRPr lang="en-US" sz="1467" dirty="0"/>
          </a:p>
        </p:txBody>
      </p:sp>
      <p:sp>
        <p:nvSpPr>
          <p:cNvPr id="39" name="Text 5">
            <a:extLst>
              <a:ext uri="{FF2B5EF4-FFF2-40B4-BE49-F238E27FC236}">
                <a16:creationId xmlns:a16="http://schemas.microsoft.com/office/drawing/2014/main" id="{DF68F927-E755-9F08-0573-D3F69468B7EF}"/>
              </a:ext>
            </a:extLst>
          </p:cNvPr>
          <p:cNvSpPr/>
          <p:nvPr/>
        </p:nvSpPr>
        <p:spPr>
          <a:xfrm>
            <a:off x="4055164" y="3202530"/>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a:t>
            </a:r>
          </a:p>
          <a:p>
            <a:r>
              <a:rPr lang="en-US" sz="1730" b="1" dirty="0">
                <a:solidFill>
                  <a:srgbClr val="0B2545"/>
                </a:solidFill>
                <a:latin typeface="Arial" panose="020B0604020202020204" pitchFamily="34" charset="0"/>
                <a:ea typeface="Trebuchet MS" pitchFamily="34" charset="-122"/>
                <a:cs typeface="Arial" panose="020B0604020202020204" pitchFamily="34" charset="0"/>
              </a:rPr>
              <a:t>Exploration</a:t>
            </a:r>
            <a:endParaRPr lang="en-US" sz="1730" dirty="0">
              <a:latin typeface="Arial" panose="020B0604020202020204" pitchFamily="34" charset="0"/>
              <a:cs typeface="Arial" panose="020B0604020202020204" pitchFamily="34" charset="0"/>
            </a:endParaRPr>
          </a:p>
        </p:txBody>
      </p:sp>
      <p:sp>
        <p:nvSpPr>
          <p:cNvPr id="40" name="Shape 6">
            <a:extLst>
              <a:ext uri="{FF2B5EF4-FFF2-40B4-BE49-F238E27FC236}">
                <a16:creationId xmlns:a16="http://schemas.microsoft.com/office/drawing/2014/main" id="{0DE3EF12-735C-FAA3-8B8B-BF2D516439D7}"/>
              </a:ext>
            </a:extLst>
          </p:cNvPr>
          <p:cNvSpPr/>
          <p:nvPr/>
        </p:nvSpPr>
        <p:spPr>
          <a:xfrm>
            <a:off x="4055164" y="3730661"/>
            <a:ext cx="975360" cy="36576"/>
          </a:xfrm>
          <a:prstGeom prst="rect">
            <a:avLst/>
          </a:prstGeom>
          <a:solidFill>
            <a:srgbClr val="13678A"/>
          </a:solidFill>
          <a:ln/>
        </p:spPr>
        <p:txBody>
          <a:bodyPr/>
          <a:lstStyle/>
          <a:p>
            <a:endParaRPr lang="en-US"/>
          </a:p>
        </p:txBody>
      </p:sp>
      <p:sp>
        <p:nvSpPr>
          <p:cNvPr id="42" name="Shape 3">
            <a:extLst>
              <a:ext uri="{FF2B5EF4-FFF2-40B4-BE49-F238E27FC236}">
                <a16:creationId xmlns:a16="http://schemas.microsoft.com/office/drawing/2014/main" id="{2AE6D4BC-C9EA-856A-0269-FA67A4A5A092}"/>
              </a:ext>
            </a:extLst>
          </p:cNvPr>
          <p:cNvSpPr/>
          <p:nvPr/>
        </p:nvSpPr>
        <p:spPr>
          <a:xfrm>
            <a:off x="6312240" y="2714849"/>
            <a:ext cx="2011680" cy="2348421"/>
          </a:xfrm>
          <a:prstGeom prst="rect">
            <a:avLst/>
          </a:prstGeom>
          <a:solidFill>
            <a:srgbClr val="F0ECF8"/>
          </a:solidFill>
          <a:ln/>
          <a:effectLst>
            <a:outerShdw blurRad="50800" dist="25400" dir="8100000" algn="bl" rotWithShape="0">
              <a:srgbClr val="000000">
                <a:alpha val="10000"/>
              </a:srgbClr>
            </a:outerShdw>
          </a:effectLst>
        </p:spPr>
        <p:txBody>
          <a:bodyPr/>
          <a:lstStyle/>
          <a:p>
            <a:endParaRPr lang="en-US"/>
          </a:p>
        </p:txBody>
      </p:sp>
      <p:sp>
        <p:nvSpPr>
          <p:cNvPr id="43" name="Text 4">
            <a:extLst>
              <a:ext uri="{FF2B5EF4-FFF2-40B4-BE49-F238E27FC236}">
                <a16:creationId xmlns:a16="http://schemas.microsoft.com/office/drawing/2014/main" id="{E49DB695-05A8-A4AE-830E-613EC6266BE6}"/>
              </a:ext>
            </a:extLst>
          </p:cNvPr>
          <p:cNvSpPr/>
          <p:nvPr/>
        </p:nvSpPr>
        <p:spPr>
          <a:xfrm>
            <a:off x="6403616" y="279470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3</a:t>
            </a:r>
            <a:endParaRPr lang="en-US" sz="1467" dirty="0">
              <a:latin typeface="Arial" panose="020B0604020202020204" pitchFamily="34" charset="0"/>
              <a:cs typeface="Arial" panose="020B0604020202020204" pitchFamily="34" charset="0"/>
            </a:endParaRPr>
          </a:p>
        </p:txBody>
      </p:sp>
      <p:sp>
        <p:nvSpPr>
          <p:cNvPr id="45" name="Shape 6">
            <a:extLst>
              <a:ext uri="{FF2B5EF4-FFF2-40B4-BE49-F238E27FC236}">
                <a16:creationId xmlns:a16="http://schemas.microsoft.com/office/drawing/2014/main" id="{12614BA1-D9E1-9801-B147-4B577B9B23B9}"/>
              </a:ext>
            </a:extLst>
          </p:cNvPr>
          <p:cNvSpPr/>
          <p:nvPr/>
        </p:nvSpPr>
        <p:spPr>
          <a:xfrm>
            <a:off x="6409776" y="3736377"/>
            <a:ext cx="975360" cy="36576"/>
          </a:xfrm>
          <a:prstGeom prst="rect">
            <a:avLst/>
          </a:prstGeom>
          <a:solidFill>
            <a:srgbClr val="13678A"/>
          </a:solidFill>
          <a:ln/>
        </p:spPr>
        <p:txBody>
          <a:bodyPr/>
          <a:lstStyle/>
          <a:p>
            <a:endParaRPr lang="en-US"/>
          </a:p>
        </p:txBody>
      </p:sp>
      <p:sp>
        <p:nvSpPr>
          <p:cNvPr id="52" name="Shape 3">
            <a:extLst>
              <a:ext uri="{FF2B5EF4-FFF2-40B4-BE49-F238E27FC236}">
                <a16:creationId xmlns:a16="http://schemas.microsoft.com/office/drawing/2014/main" id="{2A352E0A-3045-D979-10A8-E835ABD89E62}"/>
              </a:ext>
            </a:extLst>
          </p:cNvPr>
          <p:cNvSpPr/>
          <p:nvPr/>
        </p:nvSpPr>
        <p:spPr>
          <a:xfrm>
            <a:off x="8680596" y="2701961"/>
            <a:ext cx="2011680" cy="2371422"/>
          </a:xfrm>
          <a:prstGeom prst="rect">
            <a:avLst/>
          </a:prstGeom>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53" name="Text 4">
            <a:extLst>
              <a:ext uri="{FF2B5EF4-FFF2-40B4-BE49-F238E27FC236}">
                <a16:creationId xmlns:a16="http://schemas.microsoft.com/office/drawing/2014/main" id="{E2A3B260-42AB-A407-0FE6-6DB7C065613D}"/>
              </a:ext>
            </a:extLst>
          </p:cNvPr>
          <p:cNvSpPr/>
          <p:nvPr/>
        </p:nvSpPr>
        <p:spPr>
          <a:xfrm>
            <a:off x="8764388" y="2793209"/>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4</a:t>
            </a:r>
            <a:endParaRPr lang="en-US" sz="1467" dirty="0">
              <a:latin typeface="Arial" panose="020B0604020202020204" pitchFamily="34" charset="0"/>
              <a:cs typeface="Arial" panose="020B0604020202020204" pitchFamily="34" charset="0"/>
            </a:endParaRPr>
          </a:p>
        </p:txBody>
      </p:sp>
      <p:sp>
        <p:nvSpPr>
          <p:cNvPr id="54" name="Text 5">
            <a:extLst>
              <a:ext uri="{FF2B5EF4-FFF2-40B4-BE49-F238E27FC236}">
                <a16:creationId xmlns:a16="http://schemas.microsoft.com/office/drawing/2014/main" id="{0D93F6A1-6973-3CD0-9564-6B833D2E1B42}"/>
              </a:ext>
            </a:extLst>
          </p:cNvPr>
          <p:cNvSpPr/>
          <p:nvPr/>
        </p:nvSpPr>
        <p:spPr>
          <a:xfrm>
            <a:off x="6417425" y="3194641"/>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Modeling &amp; Forecasting</a:t>
            </a:r>
          </a:p>
        </p:txBody>
      </p:sp>
      <p:sp>
        <p:nvSpPr>
          <p:cNvPr id="55" name="Shape 6">
            <a:extLst>
              <a:ext uri="{FF2B5EF4-FFF2-40B4-BE49-F238E27FC236}">
                <a16:creationId xmlns:a16="http://schemas.microsoft.com/office/drawing/2014/main" id="{DEA07EBD-D7F2-F9FE-6A1A-DD4C34D5E52F}"/>
              </a:ext>
            </a:extLst>
          </p:cNvPr>
          <p:cNvSpPr/>
          <p:nvPr/>
        </p:nvSpPr>
        <p:spPr>
          <a:xfrm>
            <a:off x="8764388" y="3730661"/>
            <a:ext cx="975360" cy="36576"/>
          </a:xfrm>
          <a:prstGeom prst="rect">
            <a:avLst/>
          </a:prstGeom>
          <a:solidFill>
            <a:srgbClr val="13678A"/>
          </a:solidFill>
          <a:ln/>
        </p:spPr>
        <p:txBody>
          <a:bodyPr/>
          <a:lstStyle/>
          <a:p>
            <a:endParaRPr lang="en-US"/>
          </a:p>
        </p:txBody>
      </p:sp>
      <p:sp>
        <p:nvSpPr>
          <p:cNvPr id="59" name="Text 5">
            <a:extLst>
              <a:ext uri="{FF2B5EF4-FFF2-40B4-BE49-F238E27FC236}">
                <a16:creationId xmlns:a16="http://schemas.microsoft.com/office/drawing/2014/main" id="{EF477364-4BE7-32FC-3FC5-455C9C7B281B}"/>
              </a:ext>
            </a:extLst>
          </p:cNvPr>
          <p:cNvSpPr/>
          <p:nvPr/>
        </p:nvSpPr>
        <p:spPr>
          <a:xfrm>
            <a:off x="8779188" y="3203580"/>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Evaluation</a:t>
            </a:r>
            <a:endParaRPr lang="en-US" sz="1733" dirty="0">
              <a:latin typeface="Arial" panose="020B0604020202020204" pitchFamily="34" charset="0"/>
              <a:cs typeface="Arial" panose="020B0604020202020204" pitchFamily="34" charset="0"/>
            </a:endParaRPr>
          </a:p>
        </p:txBody>
      </p:sp>
      <p:sp>
        <p:nvSpPr>
          <p:cNvPr id="62" name="Shape 2">
            <a:extLst>
              <a:ext uri="{FF2B5EF4-FFF2-40B4-BE49-F238E27FC236}">
                <a16:creationId xmlns:a16="http://schemas.microsoft.com/office/drawing/2014/main" id="{E1455AB2-15A8-F5AE-5130-665283EA9BD5}"/>
              </a:ext>
            </a:extLst>
          </p:cNvPr>
          <p:cNvSpPr/>
          <p:nvPr/>
        </p:nvSpPr>
        <p:spPr>
          <a:xfrm>
            <a:off x="7068148" y="2007143"/>
            <a:ext cx="451104" cy="465963"/>
          </a:xfrm>
          <a:prstGeom prst="ellipse">
            <a:avLst/>
          </a:prstGeom>
          <a:solidFill>
            <a:schemeClr val="accent2"/>
          </a:solidFill>
          <a:ln/>
        </p:spPr>
        <p:txBody>
          <a:bodyPr/>
          <a:lstStyle/>
          <a:p>
            <a:endParaRPr lang="en-US"/>
          </a:p>
        </p:txBody>
      </p:sp>
      <p:sp>
        <p:nvSpPr>
          <p:cNvPr id="63" name="Shape 2">
            <a:extLst>
              <a:ext uri="{FF2B5EF4-FFF2-40B4-BE49-F238E27FC236}">
                <a16:creationId xmlns:a16="http://schemas.microsoft.com/office/drawing/2014/main" id="{A9364971-3E90-46A2-2ED2-FDEF5AE837CB}"/>
              </a:ext>
            </a:extLst>
          </p:cNvPr>
          <p:cNvSpPr/>
          <p:nvPr/>
        </p:nvSpPr>
        <p:spPr>
          <a:xfrm>
            <a:off x="9447140" y="2017429"/>
            <a:ext cx="451104" cy="465963"/>
          </a:xfrm>
          <a:prstGeom prst="ellipse">
            <a:avLst/>
          </a:prstGeom>
          <a:solidFill>
            <a:schemeClr val="accent2"/>
          </a:solidFill>
          <a:ln/>
        </p:spPr>
        <p:txBody>
          <a:bodyPr/>
          <a:lstStyle/>
          <a:p>
            <a:endParaRPr lang="en-US"/>
          </a:p>
        </p:txBody>
      </p:sp>
      <p:cxnSp>
        <p:nvCxnSpPr>
          <p:cNvPr id="66" name="Connector: Elbow 65">
            <a:extLst>
              <a:ext uri="{FF2B5EF4-FFF2-40B4-BE49-F238E27FC236}">
                <a16:creationId xmlns:a16="http://schemas.microsoft.com/office/drawing/2014/main" id="{53C7DDAC-A43D-799E-6136-B78CFFE8C34C}"/>
              </a:ext>
            </a:extLst>
          </p:cNvPr>
          <p:cNvCxnSpPr>
            <a:cxnSpLocks/>
            <a:stCxn id="52" idx="2"/>
            <a:endCxn id="42" idx="2"/>
          </p:cNvCxnSpPr>
          <p:nvPr/>
        </p:nvCxnSpPr>
        <p:spPr>
          <a:xfrm rot="5400000" flipH="1">
            <a:off x="8497201" y="3884149"/>
            <a:ext cx="10113" cy="2368356"/>
          </a:xfrm>
          <a:prstGeom prst="bentConnector3">
            <a:avLst>
              <a:gd name="adj1" fmla="val -6927222"/>
            </a:avLst>
          </a:prstGeom>
          <a:ln w="76200">
            <a:solidFill>
              <a:schemeClr val="accent5">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8" name="Shape 2">
            <a:extLst>
              <a:ext uri="{FF2B5EF4-FFF2-40B4-BE49-F238E27FC236}">
                <a16:creationId xmlns:a16="http://schemas.microsoft.com/office/drawing/2014/main" id="{6B2111ED-A972-1557-B27B-F00F297C8D18}"/>
              </a:ext>
            </a:extLst>
          </p:cNvPr>
          <p:cNvSpPr/>
          <p:nvPr/>
        </p:nvSpPr>
        <p:spPr>
          <a:xfrm>
            <a:off x="8276705" y="5538511"/>
            <a:ext cx="451104" cy="465963"/>
          </a:xfrm>
          <a:prstGeom prst="ellipse">
            <a:avLst/>
          </a:prstGeom>
          <a:solidFill>
            <a:schemeClr val="accent2"/>
          </a:solidFill>
          <a:ln/>
        </p:spPr>
        <p:txBody>
          <a:bodyPr/>
          <a:lstStyle/>
          <a:p>
            <a:endParaRPr lang="en-US"/>
          </a:p>
        </p:txBody>
      </p:sp>
      <p:sp>
        <p:nvSpPr>
          <p:cNvPr id="69" name="Text 4">
            <a:extLst>
              <a:ext uri="{FF2B5EF4-FFF2-40B4-BE49-F238E27FC236}">
                <a16:creationId xmlns:a16="http://schemas.microsoft.com/office/drawing/2014/main" id="{CC19D40A-C233-09BC-F21F-EE856438D91F}"/>
              </a:ext>
            </a:extLst>
          </p:cNvPr>
          <p:cNvSpPr/>
          <p:nvPr/>
        </p:nvSpPr>
        <p:spPr>
          <a:xfrm>
            <a:off x="6976678" y="6149139"/>
            <a:ext cx="3289851" cy="365760"/>
          </a:xfrm>
          <a:prstGeom prst="rect">
            <a:avLst/>
          </a:prstGeom>
          <a:noFill/>
          <a:ln/>
        </p:spPr>
        <p:txBody>
          <a:bodyPr wrap="square" lIns="0" tIns="0" rIns="0" bIns="0" rtlCol="0" anchor="ctr"/>
          <a:lstStyle/>
          <a:p>
            <a:pPr algn="ctr"/>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5 </a:t>
            </a:r>
            <a:r>
              <a:rPr lang="en-US" sz="1467" b="1" dirty="0">
                <a:latin typeface="Arial" panose="020B0604020202020204" pitchFamily="34" charset="0"/>
                <a:ea typeface="Trebuchet MS" pitchFamily="34" charset="-122"/>
                <a:cs typeface="Arial" panose="020B0604020202020204" pitchFamily="34" charset="0"/>
              </a:rPr>
              <a:t>Incremental Revisions</a:t>
            </a:r>
          </a:p>
        </p:txBody>
      </p:sp>
      <p:sp>
        <p:nvSpPr>
          <p:cNvPr id="83" name="Text 32">
            <a:extLst>
              <a:ext uri="{FF2B5EF4-FFF2-40B4-BE49-F238E27FC236}">
                <a16:creationId xmlns:a16="http://schemas.microsoft.com/office/drawing/2014/main" id="{0CC4D98A-E089-7C28-0A6C-876F927952EC}"/>
              </a:ext>
            </a:extLst>
          </p:cNvPr>
          <p:cNvSpPr/>
          <p:nvPr/>
        </p:nvSpPr>
        <p:spPr>
          <a:xfrm>
            <a:off x="2068052" y="1443260"/>
            <a:ext cx="1243964" cy="365760"/>
          </a:xfrm>
          <a:prstGeom prst="rect">
            <a:avLst/>
          </a:prstGeom>
          <a:noFill/>
          <a:ln/>
        </p:spPr>
        <p:txBody>
          <a:bodyPr wrap="square" lIns="0" tIns="0" rIns="0" bIns="0" rtlCol="0" anchor="ctr"/>
          <a:lstStyle/>
          <a:p>
            <a:pPr algn="ctr"/>
            <a:r>
              <a:rPr lang="en-US" sz="1500" b="1" dirty="0">
                <a:solidFill>
                  <a:srgbClr val="FF6B35"/>
                </a:solidFill>
                <a:latin typeface="Arial" panose="020B0604020202020204" pitchFamily="34" charset="0"/>
                <a:ea typeface="Calibri" pitchFamily="34" charset="-122"/>
                <a:cs typeface="Arial" panose="020B0604020202020204" pitchFamily="34" charset="0"/>
              </a:rPr>
              <a:t>We are here</a:t>
            </a:r>
            <a:endParaRPr lang="en-US" sz="15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9209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729996" y="268224"/>
            <a:ext cx="10732008"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Activity Roadmap</a:t>
            </a:r>
          </a:p>
        </p:txBody>
      </p:sp>
      <p:sp>
        <p:nvSpPr>
          <p:cNvPr id="3" name="Subtitle"/>
          <p:cNvSpPr/>
          <p:nvPr/>
        </p:nvSpPr>
        <p:spPr>
          <a:xfrm>
            <a:off x="729996" y="1274590"/>
            <a:ext cx="10732008" cy="430000"/>
          </a:xfrm>
          <a:prstGeom prst="rect">
            <a:avLst/>
          </a:prstGeom>
          <a:noFill/>
          <a:ln/>
        </p:spPr>
        <p:txBody>
          <a:bodyPr wrap="square" lIns="0" tIns="0" rIns="0" bIns="0" rtlCol="0" anchor="ctr"/>
          <a:lstStyle/>
          <a:p>
            <a:pPr algn="ctr"/>
            <a:r>
              <a:rPr lang="en-US" sz="2500" dirty="0">
                <a:solidFill>
                  <a:srgbClr val="334155"/>
                </a:solidFill>
                <a:latin typeface="Arial" panose="020B0604020202020204" pitchFamily="34" charset="0"/>
                <a:cs typeface="Arial" panose="020B0604020202020204" pitchFamily="34" charset="0"/>
              </a:rPr>
              <a:t>The steps you’ll work through to clean the data with your AI agent</a:t>
            </a:r>
          </a:p>
        </p:txBody>
      </p:sp>
      <p:sp>
        <p:nvSpPr>
          <p:cNvPr id="100" name="Connector"/>
          <p:cNvSpPr/>
          <p:nvPr/>
        </p:nvSpPr>
        <p:spPr>
          <a:xfrm>
            <a:off x="1716000" y="2423266"/>
            <a:ext cx="8760000" cy="0"/>
          </a:xfrm>
          <a:prstGeom prst="line">
            <a:avLst/>
          </a:prstGeom>
          <a:noFill/>
          <a:ln w="22225" cap="rnd">
            <a:solidFill>
              <a:srgbClr val="E97132"/>
            </a:solidFill>
            <a:prstDash val="solid"/>
          </a:ln>
        </p:spPr>
        <p:txBody>
          <a:bodyPr/>
          <a:lstStyle/>
          <a:p>
            <a:endParaRPr lang="en-US"/>
          </a:p>
        </p:txBody>
      </p:sp>
      <p:sp>
        <p:nvSpPr>
          <p:cNvPr id="121" name="Card1"/>
          <p:cNvSpPr/>
          <p:nvPr/>
        </p:nvSpPr>
        <p:spPr>
          <a:xfrm>
            <a:off x="436000" y="2893266"/>
            <a:ext cx="2560000" cy="2300000"/>
          </a:xfrm>
          <a:prstGeom prst="rect">
            <a:avLst/>
          </a:prstGeom>
          <a:solidFill>
            <a:srgbClr val="E8F4F8"/>
          </a:solidFill>
          <a:ln>
            <a:solidFill>
              <a:srgbClr val="E8F4F8"/>
            </a:solidFill>
          </a:ln>
          <a:effectLst>
            <a:outerShdw blurRad="50800" dist="25400" dir="8100000" algn="bl" rotWithShape="0">
              <a:srgbClr val="000000">
                <a:alpha val="10000"/>
              </a:srgbClr>
            </a:outerShdw>
          </a:effectLst>
        </p:spPr>
        <p:txBody>
          <a:bodyPr/>
          <a:lstStyle/>
          <a:p>
            <a:endParaRPr lang="en-US"/>
          </a:p>
        </p:txBody>
      </p:sp>
      <p:sp>
        <p:nvSpPr>
          <p:cNvPr id="122" name="Card2"/>
          <p:cNvSpPr/>
          <p:nvPr/>
        </p:nvSpPr>
        <p:spPr>
          <a:xfrm>
            <a:off x="3356000" y="2893266"/>
            <a:ext cx="2560000" cy="2300000"/>
          </a:xfrm>
          <a:prstGeom prst="rect">
            <a:avLst/>
          </a:prstGeom>
          <a:solidFill>
            <a:srgbClr val="F0ECF8"/>
          </a:solidFill>
          <a:ln>
            <a:solidFill>
              <a:srgbClr val="F0ECF8"/>
            </a:solidFill>
          </a:ln>
          <a:effectLst>
            <a:outerShdw blurRad="50800" dist="25400" dir="8100000" algn="bl" rotWithShape="0">
              <a:srgbClr val="000000">
                <a:alpha val="10000"/>
              </a:srgbClr>
            </a:outerShdw>
          </a:effectLst>
        </p:spPr>
        <p:txBody>
          <a:bodyPr/>
          <a:lstStyle/>
          <a:p>
            <a:endParaRPr lang="en-US"/>
          </a:p>
        </p:txBody>
      </p:sp>
      <p:sp>
        <p:nvSpPr>
          <p:cNvPr id="123" name="Card3"/>
          <p:cNvSpPr/>
          <p:nvPr/>
        </p:nvSpPr>
        <p:spPr>
          <a:xfrm>
            <a:off x="6276000" y="2893266"/>
            <a:ext cx="2560000" cy="2300000"/>
          </a:xfrm>
          <a:prstGeom prst="rect">
            <a:avLst/>
          </a:prstGeom>
          <a:solidFill>
            <a:srgbClr val="FFF4EC"/>
          </a:solidFill>
          <a:ln>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124" name="Card4"/>
          <p:cNvSpPr/>
          <p:nvPr/>
        </p:nvSpPr>
        <p:spPr>
          <a:xfrm>
            <a:off x="9196000" y="2893266"/>
            <a:ext cx="2560000" cy="2300000"/>
          </a:xfrm>
          <a:prstGeom prst="rect">
            <a:avLst/>
          </a:prstGeom>
          <a:solidFill>
            <a:srgbClr val="DCEAF7"/>
          </a:solidFill>
          <a:ln>
            <a:solidFill>
              <a:srgbClr val="DCEAF7"/>
            </a:solidFill>
          </a:ln>
          <a:effectLst>
            <a:outerShdw blurRad="50800" dist="25400" dir="8100000" algn="bl" rotWithShape="0">
              <a:srgbClr val="000000">
                <a:alpha val="10000"/>
              </a:srgbClr>
            </a:outerShdw>
          </a:effectLst>
        </p:spPr>
        <p:txBody>
          <a:bodyPr/>
          <a:lstStyle/>
          <a:p>
            <a:endParaRPr lang="en-US"/>
          </a:p>
        </p:txBody>
      </p:sp>
      <p:sp>
        <p:nvSpPr>
          <p:cNvPr id="111" name="Num1"/>
          <p:cNvSpPr/>
          <p:nvPr/>
        </p:nvSpPr>
        <p:spPr>
          <a:xfrm>
            <a:off x="1396000" y="2103266"/>
            <a:ext cx="640000" cy="640000"/>
          </a:xfrm>
          <a:prstGeom prst="ellipse">
            <a:avLst/>
          </a:prstGeom>
          <a:solidFill>
            <a:srgbClr val="13678A"/>
          </a:solidFill>
          <a:ln/>
          <a:effectLst>
            <a:outerShdw blurRad="38100" dist="19050" dir="8100000" algn="bl" rotWithShape="0">
              <a:srgbClr val="000000">
                <a:alpha val="20000"/>
              </a:srgbClr>
            </a:outerShdw>
          </a:effectLst>
        </p:spPr>
        <p:txBody>
          <a:bodyPr wrap="square" lIns="0" tIns="0" rIns="0" bIns="0" rtlCol="0" anchor="ctr"/>
          <a:lstStyle/>
          <a:p>
            <a:pPr algn="ctr"/>
            <a:r>
              <a:rPr lang="en-US" sz="2000" b="1" dirty="0">
                <a:solidFill>
                  <a:srgbClr val="FFFFFF"/>
                </a:solidFill>
                <a:latin typeface="Arial" panose="020B0604020202020204" pitchFamily="34" charset="0"/>
                <a:cs typeface="Arial" panose="020B0604020202020204" pitchFamily="34" charset="0"/>
              </a:rPr>
              <a:t>1</a:t>
            </a:r>
          </a:p>
        </p:txBody>
      </p:sp>
      <p:sp>
        <p:nvSpPr>
          <p:cNvPr id="112" name="Num2"/>
          <p:cNvSpPr/>
          <p:nvPr/>
        </p:nvSpPr>
        <p:spPr>
          <a:xfrm>
            <a:off x="4316000" y="2103266"/>
            <a:ext cx="640000" cy="640000"/>
          </a:xfrm>
          <a:prstGeom prst="ellipse">
            <a:avLst/>
          </a:prstGeom>
          <a:solidFill>
            <a:srgbClr val="13678A"/>
          </a:solidFill>
          <a:ln/>
          <a:effectLst>
            <a:outerShdw blurRad="38100" dist="19050" dir="8100000" algn="bl" rotWithShape="0">
              <a:srgbClr val="000000">
                <a:alpha val="20000"/>
              </a:srgbClr>
            </a:outerShdw>
          </a:effectLst>
        </p:spPr>
        <p:txBody>
          <a:bodyPr wrap="square" lIns="0" tIns="0" rIns="0" bIns="0" rtlCol="0" anchor="ctr"/>
          <a:lstStyle/>
          <a:p>
            <a:pPr algn="ctr"/>
            <a:r>
              <a:rPr lang="en-US" sz="2000" b="1" dirty="0">
                <a:solidFill>
                  <a:srgbClr val="FFFFFF"/>
                </a:solidFill>
                <a:latin typeface="Arial" panose="020B0604020202020204" pitchFamily="34" charset="0"/>
                <a:cs typeface="Arial" panose="020B0604020202020204" pitchFamily="34" charset="0"/>
              </a:rPr>
              <a:t>2</a:t>
            </a:r>
          </a:p>
        </p:txBody>
      </p:sp>
      <p:sp>
        <p:nvSpPr>
          <p:cNvPr id="113" name="Num3"/>
          <p:cNvSpPr/>
          <p:nvPr/>
        </p:nvSpPr>
        <p:spPr>
          <a:xfrm>
            <a:off x="7236000" y="2103266"/>
            <a:ext cx="640000" cy="640000"/>
          </a:xfrm>
          <a:prstGeom prst="ellipse">
            <a:avLst/>
          </a:prstGeom>
          <a:solidFill>
            <a:srgbClr val="13678A"/>
          </a:solidFill>
          <a:ln/>
          <a:effectLst>
            <a:outerShdw blurRad="38100" dist="19050" dir="8100000" algn="bl" rotWithShape="0">
              <a:srgbClr val="000000">
                <a:alpha val="20000"/>
              </a:srgbClr>
            </a:outerShdw>
          </a:effectLst>
        </p:spPr>
        <p:txBody>
          <a:bodyPr wrap="square" lIns="0" tIns="0" rIns="0" bIns="0" rtlCol="0" anchor="ctr"/>
          <a:lstStyle/>
          <a:p>
            <a:pPr algn="ctr"/>
            <a:r>
              <a:rPr lang="en-US" sz="2000" b="1" dirty="0">
                <a:solidFill>
                  <a:srgbClr val="FFFFFF"/>
                </a:solidFill>
                <a:latin typeface="Arial" panose="020B0604020202020204" pitchFamily="34" charset="0"/>
                <a:cs typeface="Arial" panose="020B0604020202020204" pitchFamily="34" charset="0"/>
              </a:rPr>
              <a:t>3</a:t>
            </a:r>
          </a:p>
        </p:txBody>
      </p:sp>
      <p:sp>
        <p:nvSpPr>
          <p:cNvPr id="114" name="Num4"/>
          <p:cNvSpPr/>
          <p:nvPr/>
        </p:nvSpPr>
        <p:spPr>
          <a:xfrm>
            <a:off x="10156000" y="2103266"/>
            <a:ext cx="640000" cy="640000"/>
          </a:xfrm>
          <a:prstGeom prst="ellipse">
            <a:avLst/>
          </a:prstGeom>
          <a:solidFill>
            <a:srgbClr val="13678A"/>
          </a:solidFill>
          <a:ln/>
          <a:effectLst>
            <a:outerShdw blurRad="38100" dist="19050" dir="8100000" algn="bl" rotWithShape="0">
              <a:srgbClr val="000000">
                <a:alpha val="20000"/>
              </a:srgbClr>
            </a:outerShdw>
          </a:effectLst>
        </p:spPr>
        <p:txBody>
          <a:bodyPr wrap="square" lIns="0" tIns="0" rIns="0" bIns="0" rtlCol="0" anchor="ctr"/>
          <a:lstStyle/>
          <a:p>
            <a:pPr algn="ctr"/>
            <a:r>
              <a:rPr lang="en-US" sz="2000" b="1" dirty="0">
                <a:solidFill>
                  <a:srgbClr val="FFFFFF"/>
                </a:solidFill>
                <a:latin typeface="Arial" panose="020B0604020202020204" pitchFamily="34" charset="0"/>
                <a:cs typeface="Arial" panose="020B0604020202020204" pitchFamily="34" charset="0"/>
              </a:rPr>
              <a:t>4</a:t>
            </a:r>
          </a:p>
        </p:txBody>
      </p:sp>
      <p:sp>
        <p:nvSpPr>
          <p:cNvPr id="131" name="Card1Title"/>
          <p:cNvSpPr/>
          <p:nvPr/>
        </p:nvSpPr>
        <p:spPr>
          <a:xfrm>
            <a:off x="606000" y="3033266"/>
            <a:ext cx="2220000" cy="430000"/>
          </a:xfrm>
          <a:prstGeom prst="rect">
            <a:avLst/>
          </a:prstGeom>
          <a:noFill/>
          <a:ln/>
        </p:spPr>
        <p:txBody>
          <a:bodyPr wrap="square" lIns="0" tIns="0" rIns="0" bIns="0" rtlCol="0" anchor="ctr"/>
          <a:lstStyle/>
          <a:p>
            <a:pPr algn="ctr"/>
            <a:r>
              <a:rPr lang="en-US" sz="1700" b="1" dirty="0">
                <a:solidFill>
                  <a:srgbClr val="0B2545"/>
                </a:solidFill>
                <a:latin typeface="Arial" panose="020B0604020202020204" pitchFamily="34" charset="0"/>
                <a:cs typeface="Arial" panose="020B0604020202020204" pitchFamily="34" charset="0"/>
              </a:rPr>
              <a:t>Review the Rules</a:t>
            </a:r>
          </a:p>
        </p:txBody>
      </p:sp>
      <p:sp>
        <p:nvSpPr>
          <p:cNvPr id="132" name="Card2Title"/>
          <p:cNvSpPr/>
          <p:nvPr/>
        </p:nvSpPr>
        <p:spPr>
          <a:xfrm>
            <a:off x="3526000" y="3033266"/>
            <a:ext cx="2220000" cy="430000"/>
          </a:xfrm>
          <a:prstGeom prst="rect">
            <a:avLst/>
          </a:prstGeom>
          <a:noFill/>
          <a:ln/>
        </p:spPr>
        <p:txBody>
          <a:bodyPr wrap="square" lIns="0" tIns="0" rIns="0" bIns="0" rtlCol="0" anchor="ctr"/>
          <a:lstStyle/>
          <a:p>
            <a:pPr algn="ctr"/>
            <a:r>
              <a:rPr lang="en-US" sz="1700" b="1" dirty="0">
                <a:solidFill>
                  <a:srgbClr val="0B2545"/>
                </a:solidFill>
                <a:latin typeface="Arial" panose="020B0604020202020204" pitchFamily="34" charset="0"/>
                <a:cs typeface="Arial" panose="020B0604020202020204" pitchFamily="34" charset="0"/>
              </a:rPr>
              <a:t>Build the Agent</a:t>
            </a:r>
          </a:p>
        </p:txBody>
      </p:sp>
      <p:sp>
        <p:nvSpPr>
          <p:cNvPr id="133" name="Card3Title"/>
          <p:cNvSpPr/>
          <p:nvPr/>
        </p:nvSpPr>
        <p:spPr>
          <a:xfrm>
            <a:off x="6446000" y="3033266"/>
            <a:ext cx="2220000" cy="430000"/>
          </a:xfrm>
          <a:prstGeom prst="rect">
            <a:avLst/>
          </a:prstGeom>
          <a:noFill/>
          <a:ln/>
        </p:spPr>
        <p:txBody>
          <a:bodyPr wrap="square" lIns="0" tIns="0" rIns="0" bIns="0" rtlCol="0" anchor="ctr"/>
          <a:lstStyle/>
          <a:p>
            <a:pPr algn="ctr"/>
            <a:r>
              <a:rPr lang="en-US" sz="1700" b="1" dirty="0">
                <a:solidFill>
                  <a:srgbClr val="0B2545"/>
                </a:solidFill>
                <a:latin typeface="Arial" panose="020B0604020202020204" pitchFamily="34" charset="0"/>
                <a:cs typeface="Arial" panose="020B0604020202020204" pitchFamily="34" charset="0"/>
              </a:rPr>
              <a:t>Generate the Script</a:t>
            </a:r>
          </a:p>
        </p:txBody>
      </p:sp>
      <p:sp>
        <p:nvSpPr>
          <p:cNvPr id="134" name="Card4Title"/>
          <p:cNvSpPr/>
          <p:nvPr/>
        </p:nvSpPr>
        <p:spPr>
          <a:xfrm>
            <a:off x="9366000" y="3033266"/>
            <a:ext cx="2220000" cy="430000"/>
          </a:xfrm>
          <a:prstGeom prst="rect">
            <a:avLst/>
          </a:prstGeom>
          <a:noFill/>
          <a:ln/>
        </p:spPr>
        <p:txBody>
          <a:bodyPr wrap="square" lIns="0" tIns="0" rIns="0" bIns="0" rtlCol="0" anchor="ctr"/>
          <a:lstStyle/>
          <a:p>
            <a:pPr algn="ctr"/>
            <a:r>
              <a:rPr lang="en-US" sz="1700" b="1" dirty="0">
                <a:solidFill>
                  <a:srgbClr val="0B2545"/>
                </a:solidFill>
                <a:latin typeface="Arial" panose="020B0604020202020204" pitchFamily="34" charset="0"/>
                <a:cs typeface="Arial" panose="020B0604020202020204" pitchFamily="34" charset="0"/>
              </a:rPr>
              <a:t>Run &amp; Commit</a:t>
            </a:r>
          </a:p>
        </p:txBody>
      </p:sp>
      <p:sp>
        <p:nvSpPr>
          <p:cNvPr id="141" name="Card1Desc"/>
          <p:cNvSpPr/>
          <p:nvPr/>
        </p:nvSpPr>
        <p:spPr>
          <a:xfrm>
            <a:off x="606000" y="3533266"/>
            <a:ext cx="2220000" cy="1520000"/>
          </a:xfrm>
          <a:prstGeom prst="rect">
            <a:avLst/>
          </a:prstGeom>
          <a:noFill/>
          <a:ln/>
        </p:spPr>
        <p:txBody>
          <a:bodyPr wrap="square" lIns="0" tIns="0" rIns="0" bIns="0" rtlCol="0" anchor="t"/>
          <a:lstStyle/>
          <a:p>
            <a:pPr algn="ctr"/>
            <a:r>
              <a:rPr lang="en-US" sz="1700" dirty="0">
                <a:solidFill>
                  <a:srgbClr val="334155"/>
                </a:solidFill>
                <a:latin typeface="Arial" panose="020B0604020202020204" pitchFamily="34" charset="0"/>
                <a:cs typeface="Arial" panose="020B0604020202020204" pitchFamily="34" charset="0"/>
              </a:rPr>
              <a:t>Open </a:t>
            </a:r>
            <a:r>
              <a:rPr lang="en-US" sz="1700" i="1" dirty="0">
                <a:solidFill>
                  <a:srgbClr val="334155"/>
                </a:solidFill>
                <a:latin typeface="Arial" panose="020B0604020202020204" pitchFamily="34" charset="0"/>
                <a:cs typeface="Arial" panose="020B0604020202020204" pitchFamily="34" charset="0"/>
              </a:rPr>
              <a:t>rules.md </a:t>
            </a:r>
            <a:r>
              <a:rPr lang="en-US" sz="1700" dirty="0">
                <a:solidFill>
                  <a:srgbClr val="334155"/>
                </a:solidFill>
                <a:latin typeface="Arial" panose="020B0604020202020204" pitchFamily="34" charset="0"/>
                <a:cs typeface="Arial" panose="020B0604020202020204" pitchFamily="34" charset="0"/>
              </a:rPr>
              <a:t>and read the cleaning rules you’ll hand to your agent — no edits needed this time.</a:t>
            </a:r>
          </a:p>
        </p:txBody>
      </p:sp>
      <p:sp>
        <p:nvSpPr>
          <p:cNvPr id="142" name="Card2Desc"/>
          <p:cNvSpPr/>
          <p:nvPr/>
        </p:nvSpPr>
        <p:spPr>
          <a:xfrm>
            <a:off x="3526000" y="3533266"/>
            <a:ext cx="2220000" cy="1520000"/>
          </a:xfrm>
          <a:prstGeom prst="rect">
            <a:avLst/>
          </a:prstGeom>
          <a:noFill/>
          <a:ln/>
        </p:spPr>
        <p:txBody>
          <a:bodyPr wrap="square" lIns="0" tIns="0" rIns="0" bIns="0" rtlCol="0" anchor="t"/>
          <a:lstStyle/>
          <a:p>
            <a:pPr algn="ctr"/>
            <a:r>
              <a:rPr lang="en-US" sz="1700" dirty="0">
                <a:solidFill>
                  <a:schemeClr val="tx2"/>
                </a:solidFill>
                <a:latin typeface="Arial" panose="020B0604020202020204" pitchFamily="34" charset="0"/>
                <a:cs typeface="Arial" panose="020B0604020202020204" pitchFamily="34" charset="0"/>
              </a:rPr>
              <a:t>Prompt Copilot </a:t>
            </a:r>
            <a:r>
              <a:rPr lang="en-US" sz="1700" dirty="0">
                <a:solidFill>
                  <a:schemeClr val="tx2"/>
                </a:solidFill>
                <a:latin typeface="Arial" panose="020B0604020202020204" pitchFamily="34" charset="0"/>
                <a:ea typeface="Calibri" pitchFamily="34" charset="-122"/>
                <a:cs typeface="Arial" panose="020B0604020202020204" pitchFamily="34" charset="0"/>
              </a:rPr>
              <a:t>(or AI of your choosing)</a:t>
            </a:r>
            <a:r>
              <a:rPr lang="en-US" sz="1700" dirty="0">
                <a:solidFill>
                  <a:schemeClr val="tx2"/>
                </a:solidFill>
                <a:latin typeface="Arial" panose="020B0604020202020204" pitchFamily="34" charset="0"/>
                <a:cs typeface="Arial" panose="020B0604020202020204" pitchFamily="34" charset="0"/>
              </a:rPr>
              <a:t> to turn </a:t>
            </a:r>
            <a:r>
              <a:rPr lang="en-US" sz="1700" i="1" dirty="0">
                <a:solidFill>
                  <a:schemeClr val="tx2"/>
                </a:solidFill>
                <a:latin typeface="Arial" panose="020B0604020202020204" pitchFamily="34" charset="0"/>
                <a:cs typeface="Arial" panose="020B0604020202020204" pitchFamily="34" charset="0"/>
              </a:rPr>
              <a:t>rules.md </a:t>
            </a:r>
            <a:r>
              <a:rPr lang="en-US" sz="1700" dirty="0">
                <a:solidFill>
                  <a:schemeClr val="tx2"/>
                </a:solidFill>
                <a:latin typeface="Arial" panose="020B0604020202020204" pitchFamily="34" charset="0"/>
                <a:cs typeface="Arial" panose="020B0604020202020204" pitchFamily="34" charset="0"/>
              </a:rPr>
              <a:t>into </a:t>
            </a:r>
            <a:r>
              <a:rPr lang="en-US" sz="1700" i="1" dirty="0">
                <a:solidFill>
                  <a:schemeClr val="tx2"/>
                </a:solidFill>
                <a:latin typeface="Arial" panose="020B0604020202020204" pitchFamily="34" charset="0"/>
                <a:cs typeface="Arial" panose="020B0604020202020204" pitchFamily="34" charset="0"/>
              </a:rPr>
              <a:t>agents.md</a:t>
            </a:r>
            <a:r>
              <a:rPr lang="en-US" sz="1700" dirty="0">
                <a:solidFill>
                  <a:schemeClr val="tx2"/>
                </a:solidFill>
                <a:latin typeface="Arial" panose="020B0604020202020204" pitchFamily="34" charset="0"/>
                <a:cs typeface="Arial" panose="020B0604020202020204" pitchFamily="34" charset="0"/>
              </a:rPr>
              <a:t>, the instructions your agent will follow.</a:t>
            </a:r>
          </a:p>
        </p:txBody>
      </p:sp>
      <p:sp>
        <p:nvSpPr>
          <p:cNvPr id="143" name="Card3Desc"/>
          <p:cNvSpPr/>
          <p:nvPr/>
        </p:nvSpPr>
        <p:spPr>
          <a:xfrm>
            <a:off x="6446000" y="3533266"/>
            <a:ext cx="2220000" cy="1520000"/>
          </a:xfrm>
          <a:prstGeom prst="rect">
            <a:avLst/>
          </a:prstGeom>
          <a:noFill/>
          <a:ln/>
        </p:spPr>
        <p:txBody>
          <a:bodyPr wrap="square" lIns="0" tIns="0" rIns="0" bIns="0" rtlCol="0" anchor="t"/>
          <a:lstStyle/>
          <a:p>
            <a:pPr algn="ctr"/>
            <a:r>
              <a:rPr lang="en-US" sz="1700" dirty="0">
                <a:solidFill>
                  <a:srgbClr val="334155"/>
                </a:solidFill>
                <a:latin typeface="Arial" panose="020B0604020202020204" pitchFamily="34" charset="0"/>
                <a:cs typeface="Arial" panose="020B0604020202020204" pitchFamily="34" charset="0"/>
              </a:rPr>
              <a:t>Use </a:t>
            </a:r>
            <a:r>
              <a:rPr lang="en-US" sz="1700" i="1" dirty="0">
                <a:solidFill>
                  <a:srgbClr val="334155"/>
                </a:solidFill>
                <a:latin typeface="Arial" panose="020B0604020202020204" pitchFamily="34" charset="0"/>
                <a:cs typeface="Arial" panose="020B0604020202020204" pitchFamily="34" charset="0"/>
              </a:rPr>
              <a:t>agents.md </a:t>
            </a:r>
            <a:r>
              <a:rPr lang="en-US" sz="1700" dirty="0">
                <a:solidFill>
                  <a:srgbClr val="334155"/>
                </a:solidFill>
                <a:latin typeface="Arial" panose="020B0604020202020204" pitchFamily="34" charset="0"/>
                <a:cs typeface="Arial" panose="020B0604020202020204" pitchFamily="34" charset="0"/>
              </a:rPr>
              <a:t>to </a:t>
            </a:r>
            <a:r>
              <a:rPr lang="en-US" sz="1700" dirty="0">
                <a:solidFill>
                  <a:schemeClr val="tx2"/>
                </a:solidFill>
                <a:latin typeface="Arial" panose="020B0604020202020204" pitchFamily="34" charset="0"/>
                <a:cs typeface="Arial" panose="020B0604020202020204" pitchFamily="34" charset="0"/>
              </a:rPr>
              <a:t>have Copilot </a:t>
            </a:r>
            <a:r>
              <a:rPr lang="en-US" sz="1700" dirty="0">
                <a:solidFill>
                  <a:schemeClr val="tx2"/>
                </a:solidFill>
                <a:latin typeface="Arial" panose="020B0604020202020204" pitchFamily="34" charset="0"/>
                <a:ea typeface="Calibri" pitchFamily="34" charset="-122"/>
                <a:cs typeface="Arial" panose="020B0604020202020204" pitchFamily="34" charset="0"/>
              </a:rPr>
              <a:t>(or AI of your choosing) </a:t>
            </a:r>
            <a:r>
              <a:rPr lang="en-US" sz="1700" dirty="0">
                <a:solidFill>
                  <a:schemeClr val="tx2"/>
                </a:solidFill>
                <a:latin typeface="Arial" panose="020B0604020202020204" pitchFamily="34" charset="0"/>
                <a:cs typeface="Arial" panose="020B0604020202020204" pitchFamily="34" charset="0"/>
              </a:rPr>
              <a:t>write the </a:t>
            </a:r>
            <a:r>
              <a:rPr lang="en-US" sz="1700" i="1" dirty="0">
                <a:solidFill>
                  <a:schemeClr val="tx2"/>
                </a:solidFill>
                <a:latin typeface="Arial" panose="020B0604020202020204" pitchFamily="34" charset="0"/>
                <a:cs typeface="Arial" panose="020B0604020202020204" pitchFamily="34" charset="0"/>
              </a:rPr>
              <a:t>01_cleaning.R </a:t>
            </a:r>
            <a:r>
              <a:rPr lang="en-US" sz="1700" dirty="0">
                <a:solidFill>
                  <a:schemeClr val="tx2"/>
                </a:solidFill>
                <a:latin typeface="Arial" panose="020B0604020202020204" pitchFamily="34" charset="0"/>
                <a:cs typeface="Arial" panose="020B0604020202020204" pitchFamily="34" charset="0"/>
              </a:rPr>
              <a:t>data-cleaning </a:t>
            </a:r>
            <a:r>
              <a:rPr lang="en-US" sz="1700" dirty="0">
                <a:solidFill>
                  <a:srgbClr val="334155"/>
                </a:solidFill>
                <a:latin typeface="Arial" panose="020B0604020202020204" pitchFamily="34" charset="0"/>
                <a:cs typeface="Arial" panose="020B0604020202020204" pitchFamily="34" charset="0"/>
              </a:rPr>
              <a:t>script.</a:t>
            </a:r>
          </a:p>
        </p:txBody>
      </p:sp>
      <p:sp>
        <p:nvSpPr>
          <p:cNvPr id="144" name="Card4Desc"/>
          <p:cNvSpPr/>
          <p:nvPr/>
        </p:nvSpPr>
        <p:spPr>
          <a:xfrm>
            <a:off x="9366000" y="3533266"/>
            <a:ext cx="2220000" cy="1520000"/>
          </a:xfrm>
          <a:prstGeom prst="rect">
            <a:avLst/>
          </a:prstGeom>
          <a:noFill/>
          <a:ln/>
        </p:spPr>
        <p:txBody>
          <a:bodyPr wrap="square" lIns="0" tIns="0" rIns="0" bIns="0" rtlCol="0" anchor="t"/>
          <a:lstStyle/>
          <a:p>
            <a:pPr algn="ctr"/>
            <a:r>
              <a:rPr lang="en-US" sz="1700" dirty="0">
                <a:solidFill>
                  <a:srgbClr val="334155"/>
                </a:solidFill>
                <a:latin typeface="Arial" panose="020B0604020202020204" pitchFamily="34" charset="0"/>
                <a:cs typeface="Arial" panose="020B0604020202020204" pitchFamily="34" charset="0"/>
              </a:rPr>
              <a:t>Run the script, check the cleaned CSV and epicurve, then commit your results to GitHub (We will do this together).</a:t>
            </a:r>
          </a:p>
        </p:txBody>
      </p:sp>
      <p:sp>
        <p:nvSpPr>
          <p:cNvPr id="160" name="Framer"/>
          <p:cNvSpPr/>
          <p:nvPr/>
        </p:nvSpPr>
        <p:spPr>
          <a:xfrm>
            <a:off x="436000" y="5858336"/>
            <a:ext cx="11320000" cy="560000"/>
          </a:xfrm>
          <a:prstGeom prst="rect">
            <a:avLst/>
          </a:prstGeom>
          <a:solidFill>
            <a:srgbClr val="EAEAEA"/>
          </a:solidFill>
          <a:ln/>
        </p:spPr>
        <p:txBody>
          <a:bodyPr wrap="square" lIns="91440" tIns="0" rIns="91440" bIns="0" rtlCol="0" anchor="ctr"/>
          <a:lstStyle/>
          <a:p>
            <a:pPr algn="ctr"/>
            <a:r>
              <a:rPr lang="en-US" sz="2500" b="1" dirty="0">
                <a:solidFill>
                  <a:srgbClr val="0B2545"/>
                </a:solidFill>
                <a:latin typeface="Arial" panose="020B0604020202020204" pitchFamily="34" charset="0"/>
                <a:cs typeface="Arial" panose="020B0604020202020204" pitchFamily="34" charset="0"/>
              </a:rPr>
              <a:t>You make every decision</a:t>
            </a:r>
            <a:r>
              <a:rPr lang="en-US" sz="2500" dirty="0">
                <a:solidFill>
                  <a:srgbClr val="334155"/>
                </a:solidFill>
                <a:latin typeface="Arial" panose="020B0604020202020204" pitchFamily="34" charset="0"/>
                <a:cs typeface="Arial" panose="020B0604020202020204" pitchFamily="34" charset="0"/>
              </a:rPr>
              <a:t> — the AI just writes the code.</a:t>
            </a:r>
          </a:p>
        </p:txBody>
      </p:sp>
    </p:spTree>
    <p:extLst>
      <p:ext uri="{BB962C8B-B14F-4D97-AF65-F5344CB8AC3E}">
        <p14:creationId xmlns:p14="http://schemas.microsoft.com/office/powerpoint/2010/main" val="1089057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00C1-BD6A-D367-BE03-DC02A6210404}"/>
              </a:ext>
            </a:extLst>
          </p:cNvPr>
          <p:cNvSpPr>
            <a:spLocks noGrp="1"/>
          </p:cNvSpPr>
          <p:nvPr>
            <p:ph type="title"/>
          </p:nvPr>
        </p:nvSpPr>
        <p:spPr>
          <a:xfrm>
            <a:off x="838200" y="18255"/>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Your Task</a:t>
            </a:r>
            <a:endParaRPr lang="en-US" dirty="0"/>
          </a:p>
        </p:txBody>
      </p:sp>
      <p:sp>
        <p:nvSpPr>
          <p:cNvPr id="4" name="TextBox 3">
            <a:extLst>
              <a:ext uri="{FF2B5EF4-FFF2-40B4-BE49-F238E27FC236}">
                <a16:creationId xmlns:a16="http://schemas.microsoft.com/office/drawing/2014/main" id="{4A03D021-3291-F8EE-43B3-C66F6EC7F58D}"/>
              </a:ext>
            </a:extLst>
          </p:cNvPr>
          <p:cNvSpPr txBox="1"/>
          <p:nvPr/>
        </p:nvSpPr>
        <p:spPr>
          <a:xfrm>
            <a:off x="838200" y="1312288"/>
            <a:ext cx="10515600" cy="1246495"/>
          </a:xfrm>
          <a:prstGeom prst="rect">
            <a:avLst/>
          </a:prstGeom>
          <a:noFill/>
        </p:spPr>
        <p:txBody>
          <a:bodyPr wrap="square" rtlCol="0">
            <a:spAutoFit/>
          </a:bodyPr>
          <a:lstStyle/>
          <a:p>
            <a:pPr algn="ctr"/>
            <a:r>
              <a:rPr lang="en-US" sz="2500" dirty="0">
                <a:latin typeface="Arial" panose="020B0604020202020204" pitchFamily="34" charset="0"/>
                <a:cs typeface="Arial" panose="020B0604020202020204" pitchFamily="34" charset="0"/>
              </a:rPr>
              <a:t>Using the provided </a:t>
            </a:r>
            <a:r>
              <a:rPr lang="en-US" sz="2500" i="1" dirty="0">
                <a:latin typeface="Arial" panose="020B0604020202020204" pitchFamily="34" charset="0"/>
                <a:cs typeface="Arial" panose="020B0604020202020204" pitchFamily="34" charset="0"/>
              </a:rPr>
              <a:t>rules.md</a:t>
            </a:r>
            <a:r>
              <a:rPr lang="en-US" sz="2500" dirty="0">
                <a:latin typeface="Arial" panose="020B0604020202020204" pitchFamily="34" charset="0"/>
                <a:cs typeface="Arial" panose="020B0604020202020204" pitchFamily="34" charset="0"/>
              </a:rPr>
              <a:t> file as a starting point, you will need to </a:t>
            </a:r>
            <a:r>
              <a:rPr lang="en-US" sz="2500" b="1" dirty="0">
                <a:latin typeface="Arial" panose="020B0604020202020204" pitchFamily="34" charset="0"/>
                <a:cs typeface="Arial" panose="020B0604020202020204" pitchFamily="34" charset="0"/>
              </a:rPr>
              <a:t>create an </a:t>
            </a:r>
            <a:r>
              <a:rPr lang="en-US" sz="2500" b="1" i="1" dirty="0">
                <a:latin typeface="Arial" panose="020B0604020202020204" pitchFamily="34" charset="0"/>
                <a:cs typeface="Arial" panose="020B0604020202020204" pitchFamily="34" charset="0"/>
              </a:rPr>
              <a:t>agents.md</a:t>
            </a:r>
            <a:r>
              <a:rPr lang="en-US" sz="2500" b="1" dirty="0">
                <a:latin typeface="Arial" panose="020B0604020202020204" pitchFamily="34" charset="0"/>
                <a:cs typeface="Arial" panose="020B0604020202020204" pitchFamily="34" charset="0"/>
              </a:rPr>
              <a:t> file</a:t>
            </a:r>
            <a:r>
              <a:rPr lang="en-US" sz="2500" dirty="0">
                <a:latin typeface="Arial" panose="020B0604020202020204" pitchFamily="34" charset="0"/>
                <a:cs typeface="Arial" panose="020B0604020202020204" pitchFamily="34" charset="0"/>
              </a:rPr>
              <a:t>, the </a:t>
            </a:r>
            <a:r>
              <a:rPr lang="en-US" sz="2500" b="1" dirty="0">
                <a:latin typeface="Arial" panose="020B0604020202020204" pitchFamily="34" charset="0"/>
                <a:cs typeface="Arial" panose="020B0604020202020204" pitchFamily="34" charset="0"/>
              </a:rPr>
              <a:t>initial script to clean the data</a:t>
            </a:r>
            <a:r>
              <a:rPr lang="en-US" sz="2500" dirty="0">
                <a:latin typeface="Arial" panose="020B0604020202020204" pitchFamily="34" charset="0"/>
                <a:cs typeface="Arial" panose="020B0604020202020204" pitchFamily="34" charset="0"/>
              </a:rPr>
              <a:t>, and the actual </a:t>
            </a:r>
            <a:r>
              <a:rPr lang="en-US" sz="2500" b="1" dirty="0">
                <a:latin typeface="Arial" panose="020B0604020202020204" pitchFamily="34" charset="0"/>
                <a:cs typeface="Arial" panose="020B0604020202020204" pitchFamily="34" charset="0"/>
              </a:rPr>
              <a:t>cleaned data file</a:t>
            </a:r>
            <a:r>
              <a:rPr lang="en-US" sz="2500" dirty="0">
                <a:latin typeface="Arial" panose="020B0604020202020204" pitchFamily="34" charset="0"/>
                <a:cs typeface="Arial" panose="020B0604020202020204" pitchFamily="34" charset="0"/>
              </a:rPr>
              <a:t>. Descriptions of each can be found below.</a:t>
            </a:r>
          </a:p>
        </p:txBody>
      </p:sp>
      <p:graphicFrame>
        <p:nvGraphicFramePr>
          <p:cNvPr id="7" name="Table 6">
            <a:extLst>
              <a:ext uri="{FF2B5EF4-FFF2-40B4-BE49-F238E27FC236}">
                <a16:creationId xmlns:a16="http://schemas.microsoft.com/office/drawing/2014/main" id="{C5C4A713-4FC9-6874-2C4C-8864D957FB96}"/>
              </a:ext>
            </a:extLst>
          </p:cNvPr>
          <p:cNvGraphicFramePr>
            <a:graphicFrameLocks noGrp="1"/>
          </p:cNvGraphicFramePr>
          <p:nvPr>
            <p:extLst>
              <p:ext uri="{D42A27DB-BD31-4B8C-83A1-F6EECF244321}">
                <p14:modId xmlns:p14="http://schemas.microsoft.com/office/powerpoint/2010/main" val="1141683987"/>
              </p:ext>
            </p:extLst>
          </p:nvPr>
        </p:nvGraphicFramePr>
        <p:xfrm>
          <a:off x="620485" y="2764008"/>
          <a:ext cx="10951030" cy="3754120"/>
        </p:xfrm>
        <a:graphic>
          <a:graphicData uri="http://schemas.openxmlformats.org/drawingml/2006/table">
            <a:tbl>
              <a:tblPr firstRow="1" bandRow="1">
                <a:tableStyleId>{5940675A-B579-460E-94D1-54222C63F5DA}</a:tableStyleId>
              </a:tblPr>
              <a:tblGrid>
                <a:gridCol w="4762501">
                  <a:extLst>
                    <a:ext uri="{9D8B030D-6E8A-4147-A177-3AD203B41FA5}">
                      <a16:colId xmlns:a16="http://schemas.microsoft.com/office/drawing/2014/main" val="3547229646"/>
                    </a:ext>
                  </a:extLst>
                </a:gridCol>
                <a:gridCol w="6188529">
                  <a:extLst>
                    <a:ext uri="{9D8B030D-6E8A-4147-A177-3AD203B41FA5}">
                      <a16:colId xmlns:a16="http://schemas.microsoft.com/office/drawing/2014/main" val="749398352"/>
                    </a:ext>
                  </a:extLst>
                </a:gridCol>
              </a:tblGrid>
              <a:tr h="370840">
                <a:tc>
                  <a:txBody>
                    <a:bodyPr/>
                    <a:lstStyle/>
                    <a:p>
                      <a:pPr algn="ctr"/>
                      <a:r>
                        <a:rPr lang="en-US" b="1" dirty="0">
                          <a:latin typeface="Arial" panose="020B0604020202020204" pitchFamily="34" charset="0"/>
                          <a:cs typeface="Arial" panose="020B0604020202020204" pitchFamily="34" charset="0"/>
                        </a:rPr>
                        <a:t>Activity Output</a:t>
                      </a:r>
                    </a:p>
                  </a:txBody>
                  <a:tcPr anchor="ctr">
                    <a:solidFill>
                      <a:schemeClr val="bg1">
                        <a:lumMod val="95000"/>
                      </a:schemeClr>
                    </a:solidFill>
                  </a:tcPr>
                </a:tc>
                <a:tc>
                  <a:txBody>
                    <a:bodyPr/>
                    <a:lstStyle/>
                    <a:p>
                      <a:pPr algn="ctr"/>
                      <a:r>
                        <a:rPr lang="en-US"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2708681373"/>
                  </a:ext>
                </a:extLst>
              </a:tr>
              <a:tr h="370840">
                <a:tc>
                  <a:txBody>
                    <a:bodyPr/>
                    <a:lstStyle/>
                    <a:p>
                      <a:pPr algn="ctr"/>
                      <a:r>
                        <a:rPr lang="en-US" sz="1800" i="1" dirty="0">
                          <a:latin typeface="Arial" panose="020B0604020202020204" pitchFamily="34" charset="0"/>
                          <a:cs typeface="Arial" panose="020B0604020202020204" pitchFamily="34" charset="0"/>
                        </a:rPr>
                        <a:t>agents.md</a:t>
                      </a:r>
                    </a:p>
                  </a:txBody>
                  <a:tcPr anchor="ctr"/>
                </a:tc>
                <a:tc>
                  <a:txBody>
                    <a:bodyPr/>
                    <a:lstStyle/>
                    <a:p>
                      <a:pPr algn="ctr"/>
                      <a:r>
                        <a:rPr lang="en-US" sz="1800" b="1" dirty="0">
                          <a:latin typeface="Arial" panose="020B0604020202020204" pitchFamily="34" charset="0"/>
                          <a:cs typeface="Arial" panose="020B0604020202020204" pitchFamily="34" charset="0"/>
                        </a:rPr>
                        <a:t>Instructions for the AI assistant </a:t>
                      </a:r>
                      <a:r>
                        <a:rPr lang="en-US" sz="1800" dirty="0">
                          <a:latin typeface="Arial" panose="020B0604020202020204" pitchFamily="34" charset="0"/>
                          <a:cs typeface="Arial" panose="020B0604020202020204" pitchFamily="34" charset="0"/>
                        </a:rPr>
                        <a:t>(the "agent"). It tells the AI who it is, what job to do, and what rules to follow. You update this file to change how the AI behaves.</a:t>
                      </a:r>
                    </a:p>
                  </a:txBody>
                  <a:tcPr anchor="ctr"/>
                </a:tc>
                <a:extLst>
                  <a:ext uri="{0D108BD9-81ED-4DB2-BD59-A6C34878D82A}">
                    <a16:rowId xmlns:a16="http://schemas.microsoft.com/office/drawing/2014/main" val="338311089"/>
                  </a:ext>
                </a:extLst>
              </a:tr>
              <a:tr h="370840">
                <a:tc>
                  <a:txBody>
                    <a:bodyPr/>
                    <a:lstStyle/>
                    <a:p>
                      <a:pPr algn="ctr"/>
                      <a:r>
                        <a:rPr lang="en-US" sz="1800" dirty="0">
                          <a:latin typeface="Arial" panose="020B0604020202020204" pitchFamily="34" charset="0"/>
                          <a:cs typeface="Arial" panose="020B0604020202020204" pitchFamily="34" charset="0"/>
                        </a:rPr>
                        <a:t>01_cleaning.R</a:t>
                      </a:r>
                    </a:p>
                  </a:txBody>
                  <a:tcPr anchor="ctr"/>
                </a:tc>
                <a:tc>
                  <a:txBody>
                    <a:bodyPr/>
                    <a:lstStyle/>
                    <a:p>
                      <a:pPr algn="ctr"/>
                      <a:r>
                        <a:rPr lang="en-US" sz="1800" dirty="0">
                          <a:latin typeface="Arial" panose="020B0604020202020204" pitchFamily="34" charset="0"/>
                          <a:cs typeface="Arial" panose="020B0604020202020204" pitchFamily="34" charset="0"/>
                        </a:rPr>
                        <a:t>The </a:t>
                      </a:r>
                      <a:r>
                        <a:rPr lang="en-US" sz="1800" b="1" dirty="0">
                          <a:latin typeface="Arial" panose="020B0604020202020204" pitchFamily="34" charset="0"/>
                          <a:cs typeface="Arial" panose="020B0604020202020204" pitchFamily="34" charset="0"/>
                        </a:rPr>
                        <a:t>R code the AI writes for you</a:t>
                      </a:r>
                      <a:r>
                        <a:rPr lang="en-US" sz="1800" dirty="0">
                          <a:latin typeface="Arial" panose="020B0604020202020204" pitchFamily="34" charset="0"/>
                          <a:cs typeface="Arial" panose="020B0604020202020204" pitchFamily="34" charset="0"/>
                        </a:rPr>
                        <a:t>. It opens the raw data, keeps the US flu numbers, and tidies everything into a clean table.</a:t>
                      </a:r>
                    </a:p>
                  </a:txBody>
                  <a:tcPr anchor="ctr"/>
                </a:tc>
                <a:extLst>
                  <a:ext uri="{0D108BD9-81ED-4DB2-BD59-A6C34878D82A}">
                    <a16:rowId xmlns:a16="http://schemas.microsoft.com/office/drawing/2014/main" val="2874382902"/>
                  </a:ext>
                </a:extLst>
              </a:tr>
              <a:tr h="370840">
                <a:tc>
                  <a:txBody>
                    <a:bodyPr/>
                    <a:lstStyle/>
                    <a:p>
                      <a:pPr algn="ctr"/>
                      <a:r>
                        <a:rPr lang="en-US" sz="1800" dirty="0">
                          <a:latin typeface="Arial" panose="020B0604020202020204" pitchFamily="34" charset="0"/>
                          <a:cs typeface="Arial" panose="020B0604020202020204" pitchFamily="34" charset="0"/>
                        </a:rPr>
                        <a:t>epicurve_us_flu_admissions.png</a:t>
                      </a:r>
                    </a:p>
                  </a:txBody>
                  <a:tcPr anchor="ctr"/>
                </a:tc>
                <a:tc>
                  <a:txBody>
                    <a:bodyPr/>
                    <a:lstStyle/>
                    <a:p>
                      <a:pPr algn="ctr"/>
                      <a:r>
                        <a:rPr lang="en-US" dirty="0"/>
                        <a:t>The  </a:t>
                      </a:r>
                      <a:r>
                        <a:rPr lang="en-US" b="1" dirty="0"/>
                        <a:t>plot of weekly US flu admissions</a:t>
                      </a:r>
                      <a:r>
                        <a:rPr lang="en-US" dirty="0"/>
                        <a:t> over time — your visual check that the cleaned data looks right before moving on.</a:t>
                      </a:r>
                      <a:endParaRPr lang="en-US" sz="18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412260430"/>
                  </a:ext>
                </a:extLst>
              </a:tr>
              <a:tr h="370840">
                <a:tc>
                  <a:txBody>
                    <a:bodyPr/>
                    <a:lstStyle/>
                    <a:p>
                      <a:pPr algn="ctr"/>
                      <a:r>
                        <a:rPr lang="en-US" sz="1800" dirty="0">
                          <a:latin typeface="Arial" panose="020B0604020202020204" pitchFamily="34" charset="0"/>
                          <a:cs typeface="Arial" panose="020B0604020202020204" pitchFamily="34" charset="0"/>
                        </a:rPr>
                        <a:t>cleaned_flu_admissions.csv </a:t>
                      </a:r>
                    </a:p>
                  </a:txBody>
                  <a:tcPr anchor="ctr"/>
                </a:tc>
                <a:tc>
                  <a:txBody>
                    <a:bodyPr/>
                    <a:lstStyle/>
                    <a:p>
                      <a:pPr algn="ctr"/>
                      <a:r>
                        <a:rPr lang="en-US" sz="1800" dirty="0">
                          <a:latin typeface="Arial" panose="020B0604020202020204" pitchFamily="34" charset="0"/>
                          <a:cs typeface="Arial" panose="020B0604020202020204" pitchFamily="34" charset="0"/>
                        </a:rPr>
                        <a:t>The </a:t>
                      </a:r>
                      <a:r>
                        <a:rPr lang="en-US" sz="1800" b="1" dirty="0">
                          <a:latin typeface="Arial" panose="020B0604020202020204" pitchFamily="34" charset="0"/>
                          <a:cs typeface="Arial" panose="020B0604020202020204" pitchFamily="34" charset="0"/>
                        </a:rPr>
                        <a:t>finished data</a:t>
                      </a:r>
                      <a:r>
                        <a:rPr lang="en-US" sz="1800" dirty="0">
                          <a:latin typeface="Arial" panose="020B0604020202020204" pitchFamily="34" charset="0"/>
                          <a:cs typeface="Arial" panose="020B0604020202020204" pitchFamily="34" charset="0"/>
                        </a:rPr>
                        <a:t>: one row per week with the date, location, and flu admission count, ready to use.</a:t>
                      </a:r>
                    </a:p>
                  </a:txBody>
                  <a:tcPr anchor="ctr"/>
                </a:tc>
                <a:extLst>
                  <a:ext uri="{0D108BD9-81ED-4DB2-BD59-A6C34878D82A}">
                    <a16:rowId xmlns:a16="http://schemas.microsoft.com/office/drawing/2014/main" val="2552855889"/>
                  </a:ext>
                </a:extLst>
              </a:tr>
            </a:tbl>
          </a:graphicData>
        </a:graphic>
      </p:graphicFrame>
      <p:pic>
        <p:nvPicPr>
          <p:cNvPr id="3" name="Graphic 2" descr="Presentation with pie chart with solid fill">
            <a:extLst>
              <a:ext uri="{FF2B5EF4-FFF2-40B4-BE49-F238E27FC236}">
                <a16:creationId xmlns:a16="http://schemas.microsoft.com/office/drawing/2014/main" id="{A7DB6BE9-08DD-FE97-4AC3-85722420872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716482" y="192663"/>
            <a:ext cx="914400" cy="914400"/>
          </a:xfrm>
          <a:prstGeom prst="rect">
            <a:avLst/>
          </a:prstGeom>
        </p:spPr>
      </p:pic>
    </p:spTree>
    <p:extLst>
      <p:ext uri="{BB962C8B-B14F-4D97-AF65-F5344CB8AC3E}">
        <p14:creationId xmlns:p14="http://schemas.microsoft.com/office/powerpoint/2010/main" val="1869251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Rounded Corners 58">
            <a:extLst>
              <a:ext uri="{FF2B5EF4-FFF2-40B4-BE49-F238E27FC236}">
                <a16:creationId xmlns:a16="http://schemas.microsoft.com/office/drawing/2014/main" id="{DF703E20-53BC-6FF1-0ECF-F624B8DA98F0}"/>
              </a:ext>
            </a:extLst>
          </p:cNvPr>
          <p:cNvSpPr/>
          <p:nvPr/>
        </p:nvSpPr>
        <p:spPr>
          <a:xfrm>
            <a:off x="6238946" y="5239410"/>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Rounded Corners 57">
            <a:extLst>
              <a:ext uri="{FF2B5EF4-FFF2-40B4-BE49-F238E27FC236}">
                <a16:creationId xmlns:a16="http://schemas.microsoft.com/office/drawing/2014/main" id="{E21728D9-63E9-D080-5423-C1E6345A9E30}"/>
              </a:ext>
            </a:extLst>
          </p:cNvPr>
          <p:cNvSpPr/>
          <p:nvPr/>
        </p:nvSpPr>
        <p:spPr>
          <a:xfrm>
            <a:off x="6249451" y="3709116"/>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Rounded Corners 56">
            <a:extLst>
              <a:ext uri="{FF2B5EF4-FFF2-40B4-BE49-F238E27FC236}">
                <a16:creationId xmlns:a16="http://schemas.microsoft.com/office/drawing/2014/main" id="{AE818066-42B4-041C-E976-EAD628945E2E}"/>
              </a:ext>
            </a:extLst>
          </p:cNvPr>
          <p:cNvSpPr/>
          <p:nvPr/>
        </p:nvSpPr>
        <p:spPr>
          <a:xfrm>
            <a:off x="6238946" y="2163034"/>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Rounded Corners 53">
            <a:extLst>
              <a:ext uri="{FF2B5EF4-FFF2-40B4-BE49-F238E27FC236}">
                <a16:creationId xmlns:a16="http://schemas.microsoft.com/office/drawing/2014/main" id="{4159EFA9-734E-4E0E-A050-C782A0846E60}"/>
              </a:ext>
            </a:extLst>
          </p:cNvPr>
          <p:cNvSpPr/>
          <p:nvPr/>
        </p:nvSpPr>
        <p:spPr>
          <a:xfrm>
            <a:off x="399395" y="2186156"/>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Rounded Corners 54">
            <a:extLst>
              <a:ext uri="{FF2B5EF4-FFF2-40B4-BE49-F238E27FC236}">
                <a16:creationId xmlns:a16="http://schemas.microsoft.com/office/drawing/2014/main" id="{F4E4F2C2-B62D-8996-ED03-2E21977D6996}"/>
              </a:ext>
            </a:extLst>
          </p:cNvPr>
          <p:cNvSpPr/>
          <p:nvPr/>
        </p:nvSpPr>
        <p:spPr>
          <a:xfrm>
            <a:off x="399395" y="3699646"/>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Rounded Corners 55">
            <a:extLst>
              <a:ext uri="{FF2B5EF4-FFF2-40B4-BE49-F238E27FC236}">
                <a16:creationId xmlns:a16="http://schemas.microsoft.com/office/drawing/2014/main" id="{D8D51E84-0C39-839C-52A8-A9C660AA3B29}"/>
              </a:ext>
            </a:extLst>
          </p:cNvPr>
          <p:cNvSpPr/>
          <p:nvPr/>
        </p:nvSpPr>
        <p:spPr>
          <a:xfrm>
            <a:off x="399395" y="5239413"/>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853440" y="195490"/>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Data Cleaning: The Rules</a:t>
            </a:r>
            <a:endParaRPr lang="en-US" sz="4000" dirty="0">
              <a:solidFill>
                <a:srgbClr val="7030A0"/>
              </a:solidFill>
              <a:latin typeface="Arial" panose="020B0604020202020204" pitchFamily="34" charset="0"/>
              <a:cs typeface="Arial" panose="020B0604020202020204" pitchFamily="34" charset="0"/>
            </a:endParaRPr>
          </a:p>
        </p:txBody>
      </p:sp>
      <p:sp>
        <p:nvSpPr>
          <p:cNvPr id="3" name="Text 1"/>
          <p:cNvSpPr/>
          <p:nvPr/>
        </p:nvSpPr>
        <p:spPr>
          <a:xfrm>
            <a:off x="914400" y="1305383"/>
            <a:ext cx="10363200" cy="487680"/>
          </a:xfrm>
          <a:prstGeom prst="rect">
            <a:avLst/>
          </a:prstGeom>
          <a:noFill/>
          <a:ln/>
        </p:spPr>
        <p:txBody>
          <a:bodyPr wrap="square" lIns="0" tIns="0" rIns="0" bIns="0" rtlCol="0" anchor="ctr"/>
          <a:lstStyle/>
          <a:p>
            <a:pPr algn="ctr" defTabSz="1219170"/>
            <a:r>
              <a:rPr lang="en-US" sz="2200" dirty="0">
                <a:solidFill>
                  <a:srgbClr val="334155"/>
                </a:solidFill>
                <a:latin typeface="Arial" panose="020B0604020202020204" pitchFamily="34" charset="0"/>
                <a:ea typeface="Calibri" pitchFamily="34" charset="-122"/>
                <a:cs typeface="Arial" panose="020B0604020202020204" pitchFamily="34" charset="0"/>
              </a:rPr>
              <a:t>These rules are provided in the </a:t>
            </a:r>
            <a:r>
              <a:rPr lang="en-US" sz="2200" b="1" dirty="0">
                <a:solidFill>
                  <a:srgbClr val="334155"/>
                </a:solidFill>
                <a:latin typeface="Arial" panose="020B0604020202020204" pitchFamily="34" charset="0"/>
                <a:ea typeface="Calibri" pitchFamily="34" charset="-122"/>
                <a:cs typeface="Arial" panose="020B0604020202020204" pitchFamily="34" charset="0"/>
              </a:rPr>
              <a:t>rules.md</a:t>
            </a:r>
            <a:r>
              <a:rPr lang="en-US" sz="2200" dirty="0">
                <a:solidFill>
                  <a:srgbClr val="334155"/>
                </a:solidFill>
                <a:latin typeface="Arial" panose="020B0604020202020204" pitchFamily="34" charset="0"/>
                <a:ea typeface="Calibri" pitchFamily="34" charset="-122"/>
                <a:cs typeface="Arial" panose="020B0604020202020204" pitchFamily="34" charset="0"/>
              </a:rPr>
              <a:t> file. Your agent will follow them to generate </a:t>
            </a:r>
            <a:r>
              <a:rPr lang="en-US" sz="2200" b="1" dirty="0">
                <a:solidFill>
                  <a:srgbClr val="334155"/>
                </a:solidFill>
                <a:latin typeface="Arial" panose="020B0604020202020204" pitchFamily="34" charset="0"/>
                <a:ea typeface="Calibri" pitchFamily="34" charset="-122"/>
                <a:cs typeface="Arial" panose="020B0604020202020204" pitchFamily="34" charset="0"/>
              </a:rPr>
              <a:t>01_cleaning.R.</a:t>
            </a:r>
            <a:endParaRPr lang="en-US" sz="2200" b="1" dirty="0">
              <a:solidFill>
                <a:prstClr val="black"/>
              </a:solidFill>
              <a:latin typeface="Arial" panose="020B0604020202020204" pitchFamily="34" charset="0"/>
              <a:cs typeface="Arial" panose="020B0604020202020204" pitchFamily="34" charset="0"/>
            </a:endParaRPr>
          </a:p>
        </p:txBody>
      </p:sp>
      <p:sp>
        <p:nvSpPr>
          <p:cNvPr id="30" name="Shape 2">
            <a:extLst>
              <a:ext uri="{FF2B5EF4-FFF2-40B4-BE49-F238E27FC236}">
                <a16:creationId xmlns:a16="http://schemas.microsoft.com/office/drawing/2014/main" id="{766B9B3D-540A-F916-3ED6-CC73478D77A4}"/>
              </a:ext>
            </a:extLst>
          </p:cNvPr>
          <p:cNvSpPr/>
          <p:nvPr/>
        </p:nvSpPr>
        <p:spPr>
          <a:xfrm>
            <a:off x="517111" y="2284953"/>
            <a:ext cx="426720" cy="426720"/>
          </a:xfrm>
          <a:prstGeom prst="flowChartConnector">
            <a:avLst/>
          </a:prstGeom>
          <a:solidFill>
            <a:srgbClr val="13678A"/>
          </a:solidFill>
          <a:ln/>
        </p:spPr>
        <p:txBody>
          <a:bodyPr/>
          <a:lstStyle/>
          <a:p>
            <a:pPr defTabSz="1219170"/>
            <a:endParaRPr lang="en-US" sz="2400">
              <a:solidFill>
                <a:prstClr val="black"/>
              </a:solidFill>
              <a:latin typeface="Calibri" panose="020F0502020204030204"/>
            </a:endParaRPr>
          </a:p>
        </p:txBody>
      </p:sp>
      <p:sp>
        <p:nvSpPr>
          <p:cNvPr id="31" name="Text 3">
            <a:extLst>
              <a:ext uri="{FF2B5EF4-FFF2-40B4-BE49-F238E27FC236}">
                <a16:creationId xmlns:a16="http://schemas.microsoft.com/office/drawing/2014/main" id="{8C277FC5-C822-B3CE-E1DA-8FDCF2402478}"/>
              </a:ext>
            </a:extLst>
          </p:cNvPr>
          <p:cNvSpPr/>
          <p:nvPr/>
        </p:nvSpPr>
        <p:spPr>
          <a:xfrm>
            <a:off x="517111" y="2284953"/>
            <a:ext cx="426720" cy="426720"/>
          </a:xfrm>
          <a:prstGeom prst="flowChartConnector">
            <a:avLst/>
          </a:prstGeom>
          <a:noFill/>
          <a:ln/>
        </p:spPr>
        <p:txBody>
          <a:bodyPr wrap="square" lIns="0" tIns="0" rIns="0" bIns="0" rtlCol="0" anchor="ctr"/>
          <a:lstStyle/>
          <a:p>
            <a:pPr algn="ctr" defTabSz="1219170"/>
            <a:r>
              <a:rPr lang="en-US" sz="1733" b="1" dirty="0">
                <a:solidFill>
                  <a:srgbClr val="FFFFFF"/>
                </a:solidFill>
                <a:latin typeface="Trebuchet MS" pitchFamily="34" charset="0"/>
                <a:ea typeface="Trebuchet MS" pitchFamily="34" charset="-122"/>
                <a:cs typeface="Trebuchet MS" pitchFamily="34" charset="-120"/>
              </a:rPr>
              <a:t>1</a:t>
            </a:r>
            <a:endParaRPr lang="en-US" sz="1733" dirty="0">
              <a:solidFill>
                <a:prstClr val="black"/>
              </a:solidFill>
              <a:latin typeface="Calibri" panose="020F0502020204030204"/>
            </a:endParaRPr>
          </a:p>
        </p:txBody>
      </p:sp>
      <p:sp>
        <p:nvSpPr>
          <p:cNvPr id="32" name="Text 4">
            <a:extLst>
              <a:ext uri="{FF2B5EF4-FFF2-40B4-BE49-F238E27FC236}">
                <a16:creationId xmlns:a16="http://schemas.microsoft.com/office/drawing/2014/main" id="{97C04A63-A93A-CD73-04A0-135DC454E535}"/>
              </a:ext>
            </a:extLst>
          </p:cNvPr>
          <p:cNvSpPr/>
          <p:nvPr/>
        </p:nvSpPr>
        <p:spPr>
          <a:xfrm>
            <a:off x="1126711" y="2287053"/>
            <a:ext cx="4267200" cy="426720"/>
          </a:xfrm>
          <a:prstGeom prst="roundRect">
            <a:avLst/>
          </a:prstGeom>
          <a:noFill/>
          <a:ln/>
        </p:spPr>
        <p:txBody>
          <a:bodyPr wrap="square" lIns="0" tIns="0" rIns="0" bIns="0" rtlCol="0" anchor="ctr"/>
          <a:lstStyle/>
          <a:p>
            <a:pPr defTabSz="1219170"/>
            <a:r>
              <a:rPr lang="en-US" sz="1867" b="1" dirty="0">
                <a:solidFill>
                  <a:srgbClr val="0B2545"/>
                </a:solidFill>
                <a:latin typeface="Arial" panose="020B0604020202020204" pitchFamily="34" charset="0"/>
                <a:ea typeface="Trebuchet MS" pitchFamily="34" charset="-122"/>
                <a:cs typeface="Arial" panose="020B0604020202020204" pitchFamily="34" charset="0"/>
              </a:rPr>
              <a:t>Load the data</a:t>
            </a:r>
            <a:endParaRPr lang="en-US" sz="1867" dirty="0">
              <a:solidFill>
                <a:prstClr val="black"/>
              </a:solidFill>
              <a:latin typeface="Arial" panose="020B0604020202020204" pitchFamily="34" charset="0"/>
              <a:cs typeface="Arial" panose="020B0604020202020204" pitchFamily="34" charset="0"/>
            </a:endParaRPr>
          </a:p>
        </p:txBody>
      </p:sp>
      <p:sp>
        <p:nvSpPr>
          <p:cNvPr id="33" name="Text 5">
            <a:extLst>
              <a:ext uri="{FF2B5EF4-FFF2-40B4-BE49-F238E27FC236}">
                <a16:creationId xmlns:a16="http://schemas.microsoft.com/office/drawing/2014/main" id="{28CF86E1-E08C-D421-C3D6-DAC7879757F7}"/>
              </a:ext>
            </a:extLst>
          </p:cNvPr>
          <p:cNvSpPr/>
          <p:nvPr/>
        </p:nvSpPr>
        <p:spPr>
          <a:xfrm>
            <a:off x="1126711" y="2713773"/>
            <a:ext cx="4267200" cy="792480"/>
          </a:xfrm>
          <a:prstGeom prst="roundRect">
            <a:avLst/>
          </a:prstGeom>
          <a:noFill/>
          <a:ln/>
        </p:spPr>
        <p:txBody>
          <a:bodyPr wrap="square" lIns="0" tIns="0" rIns="0" bIns="0" rtlCol="0" anchor="ctr"/>
          <a:lstStyle/>
          <a:p>
            <a:pPr defTabSz="1219170"/>
            <a:r>
              <a:rPr lang="en-US" sz="1533" dirty="0">
                <a:solidFill>
                  <a:srgbClr val="334155"/>
                </a:solidFill>
                <a:latin typeface="Arial" panose="020B0604020202020204" pitchFamily="34" charset="0"/>
                <a:ea typeface="Calibri" pitchFamily="34" charset="-122"/>
                <a:cs typeface="Arial" panose="020B0604020202020204" pitchFamily="34" charset="0"/>
              </a:rPr>
              <a:t>Read the </a:t>
            </a:r>
            <a:r>
              <a:rPr lang="en-US" sz="1533" i="1" dirty="0">
                <a:solidFill>
                  <a:srgbClr val="334155"/>
                </a:solidFill>
                <a:latin typeface="Arial" panose="020B0604020202020204" pitchFamily="34" charset="0"/>
                <a:ea typeface="Calibri" pitchFamily="34" charset="-122"/>
                <a:cs typeface="Arial" panose="020B0604020202020204" pitchFamily="34" charset="0"/>
              </a:rPr>
              <a:t>Weekly Hospital Respiratory Data (HRD) Metrics by Jurisdiction.csv</a:t>
            </a:r>
            <a:r>
              <a:rPr lang="en-US" sz="1533" dirty="0">
                <a:solidFill>
                  <a:srgbClr val="334155"/>
                </a:solidFill>
                <a:latin typeface="Arial" panose="020B0604020202020204" pitchFamily="34" charset="0"/>
                <a:ea typeface="Calibri" pitchFamily="34" charset="-122"/>
                <a:cs typeface="Arial" panose="020B0604020202020204" pitchFamily="34" charset="0"/>
              </a:rPr>
              <a:t> from the data/ folder using readr.</a:t>
            </a:r>
            <a:endParaRPr lang="en-US" sz="1533" dirty="0">
              <a:solidFill>
                <a:prstClr val="black"/>
              </a:solidFill>
              <a:latin typeface="Arial" panose="020B0604020202020204" pitchFamily="34" charset="0"/>
              <a:cs typeface="Arial" panose="020B0604020202020204" pitchFamily="34" charset="0"/>
            </a:endParaRPr>
          </a:p>
        </p:txBody>
      </p:sp>
      <p:sp>
        <p:nvSpPr>
          <p:cNvPr id="34" name="Shape 6">
            <a:extLst>
              <a:ext uri="{FF2B5EF4-FFF2-40B4-BE49-F238E27FC236}">
                <a16:creationId xmlns:a16="http://schemas.microsoft.com/office/drawing/2014/main" id="{5780BAFF-6D6C-3FE5-DFB5-20F98DEA1C4C}"/>
              </a:ext>
            </a:extLst>
          </p:cNvPr>
          <p:cNvSpPr/>
          <p:nvPr/>
        </p:nvSpPr>
        <p:spPr>
          <a:xfrm>
            <a:off x="6356660" y="2284953"/>
            <a:ext cx="426720" cy="426720"/>
          </a:xfrm>
          <a:prstGeom prst="flowChartConnector">
            <a:avLst/>
          </a:prstGeom>
          <a:solidFill>
            <a:srgbClr val="13678A"/>
          </a:solidFill>
          <a:ln/>
        </p:spPr>
        <p:txBody>
          <a:bodyPr/>
          <a:lstStyle/>
          <a:p>
            <a:pPr defTabSz="1219170"/>
            <a:endParaRPr lang="en-US" sz="2400">
              <a:solidFill>
                <a:prstClr val="black"/>
              </a:solidFill>
              <a:latin typeface="Calibri" panose="020F0502020204030204"/>
            </a:endParaRPr>
          </a:p>
        </p:txBody>
      </p:sp>
      <p:sp>
        <p:nvSpPr>
          <p:cNvPr id="35" name="Text 7">
            <a:extLst>
              <a:ext uri="{FF2B5EF4-FFF2-40B4-BE49-F238E27FC236}">
                <a16:creationId xmlns:a16="http://schemas.microsoft.com/office/drawing/2014/main" id="{2E695CB8-3A1B-A5D3-1004-94E84B3A4748}"/>
              </a:ext>
            </a:extLst>
          </p:cNvPr>
          <p:cNvSpPr/>
          <p:nvPr/>
        </p:nvSpPr>
        <p:spPr>
          <a:xfrm>
            <a:off x="6356660" y="2284953"/>
            <a:ext cx="426720" cy="426720"/>
          </a:xfrm>
          <a:prstGeom prst="flowChartConnector">
            <a:avLst/>
          </a:prstGeom>
          <a:noFill/>
          <a:ln/>
        </p:spPr>
        <p:txBody>
          <a:bodyPr wrap="square" lIns="0" tIns="0" rIns="0" bIns="0" rtlCol="0" anchor="ctr"/>
          <a:lstStyle/>
          <a:p>
            <a:pPr algn="ctr" defTabSz="1219170"/>
            <a:r>
              <a:rPr lang="en-US" sz="1733" b="1" dirty="0">
                <a:solidFill>
                  <a:srgbClr val="FFFFFF"/>
                </a:solidFill>
                <a:latin typeface="Trebuchet MS" pitchFamily="34" charset="0"/>
                <a:ea typeface="Trebuchet MS" pitchFamily="34" charset="-122"/>
                <a:cs typeface="Trebuchet MS" pitchFamily="34" charset="-120"/>
              </a:rPr>
              <a:t>2</a:t>
            </a:r>
            <a:endParaRPr lang="en-US" sz="1733" dirty="0">
              <a:solidFill>
                <a:prstClr val="black"/>
              </a:solidFill>
              <a:latin typeface="Calibri" panose="020F0502020204030204"/>
            </a:endParaRPr>
          </a:p>
        </p:txBody>
      </p:sp>
      <p:sp>
        <p:nvSpPr>
          <p:cNvPr id="36" name="Text 8">
            <a:extLst>
              <a:ext uri="{FF2B5EF4-FFF2-40B4-BE49-F238E27FC236}">
                <a16:creationId xmlns:a16="http://schemas.microsoft.com/office/drawing/2014/main" id="{7A52337C-FE99-813B-A4A5-1FB3E865C6CD}"/>
              </a:ext>
            </a:extLst>
          </p:cNvPr>
          <p:cNvSpPr/>
          <p:nvPr/>
        </p:nvSpPr>
        <p:spPr>
          <a:xfrm>
            <a:off x="6966260" y="2284953"/>
            <a:ext cx="4267200" cy="426720"/>
          </a:xfrm>
          <a:prstGeom prst="roundRect">
            <a:avLst/>
          </a:prstGeom>
          <a:noFill/>
          <a:ln/>
        </p:spPr>
        <p:txBody>
          <a:bodyPr wrap="square" lIns="0" tIns="0" rIns="0" bIns="0" rtlCol="0" anchor="ctr"/>
          <a:lstStyle/>
          <a:p>
            <a:pPr defTabSz="1219170"/>
            <a:r>
              <a:rPr lang="en-US" sz="1867" b="1" dirty="0">
                <a:solidFill>
                  <a:srgbClr val="0B2545"/>
                </a:solidFill>
                <a:latin typeface="Arial" panose="020B0604020202020204" pitchFamily="34" charset="0"/>
                <a:ea typeface="Trebuchet MS" pitchFamily="34" charset="-122"/>
                <a:cs typeface="Arial" panose="020B0604020202020204" pitchFamily="34" charset="0"/>
              </a:rPr>
              <a:t>Filter to US only</a:t>
            </a:r>
            <a:endParaRPr lang="en-US" sz="1867" dirty="0">
              <a:solidFill>
                <a:prstClr val="black"/>
              </a:solidFill>
              <a:latin typeface="Arial" panose="020B0604020202020204" pitchFamily="34" charset="0"/>
              <a:cs typeface="Arial" panose="020B0604020202020204" pitchFamily="34" charset="0"/>
            </a:endParaRPr>
          </a:p>
        </p:txBody>
      </p:sp>
      <p:sp>
        <p:nvSpPr>
          <p:cNvPr id="37" name="Text 9">
            <a:extLst>
              <a:ext uri="{FF2B5EF4-FFF2-40B4-BE49-F238E27FC236}">
                <a16:creationId xmlns:a16="http://schemas.microsoft.com/office/drawing/2014/main" id="{66CD84BC-0141-FCB2-975D-DBBA57040070}"/>
              </a:ext>
            </a:extLst>
          </p:cNvPr>
          <p:cNvSpPr/>
          <p:nvPr/>
        </p:nvSpPr>
        <p:spPr>
          <a:xfrm>
            <a:off x="6966260" y="2713773"/>
            <a:ext cx="4632960" cy="792480"/>
          </a:xfrm>
          <a:prstGeom prst="roundRect">
            <a:avLst/>
          </a:prstGeom>
          <a:noFill/>
          <a:ln/>
        </p:spPr>
        <p:txBody>
          <a:bodyPr wrap="square" lIns="0" tIns="0" rIns="0" bIns="0" rtlCol="0" anchor="ctr"/>
          <a:lstStyle/>
          <a:p>
            <a:pPr defTabSz="1219170"/>
            <a:r>
              <a:rPr lang="en-US" sz="1533" dirty="0">
                <a:solidFill>
                  <a:srgbClr val="334155"/>
                </a:solidFill>
                <a:latin typeface="Arial" panose="020B0604020202020204" pitchFamily="34" charset="0"/>
                <a:ea typeface="Calibri" pitchFamily="34" charset="-122"/>
                <a:cs typeface="Arial" panose="020B0604020202020204" pitchFamily="34" charset="0"/>
              </a:rPr>
              <a:t>Column: 'Geographic aggregation' → keep rows where value is "USA".</a:t>
            </a:r>
            <a:endParaRPr lang="en-US" sz="1533" dirty="0">
              <a:solidFill>
                <a:prstClr val="black"/>
              </a:solidFill>
              <a:latin typeface="Arial" panose="020B0604020202020204" pitchFamily="34" charset="0"/>
              <a:cs typeface="Arial" panose="020B0604020202020204" pitchFamily="34" charset="0"/>
            </a:endParaRPr>
          </a:p>
        </p:txBody>
      </p:sp>
      <p:sp>
        <p:nvSpPr>
          <p:cNvPr id="38" name="Shape 10">
            <a:extLst>
              <a:ext uri="{FF2B5EF4-FFF2-40B4-BE49-F238E27FC236}">
                <a16:creationId xmlns:a16="http://schemas.microsoft.com/office/drawing/2014/main" id="{63767C7F-4C42-88C0-E178-132D80506C59}"/>
              </a:ext>
            </a:extLst>
          </p:cNvPr>
          <p:cNvSpPr/>
          <p:nvPr/>
        </p:nvSpPr>
        <p:spPr>
          <a:xfrm>
            <a:off x="517111" y="3811053"/>
            <a:ext cx="426720" cy="426720"/>
          </a:xfrm>
          <a:prstGeom prst="flowChartConnector">
            <a:avLst/>
          </a:prstGeom>
          <a:solidFill>
            <a:srgbClr val="13678A"/>
          </a:solidFill>
          <a:ln/>
        </p:spPr>
        <p:txBody>
          <a:bodyPr/>
          <a:lstStyle/>
          <a:p>
            <a:pPr defTabSz="1219170"/>
            <a:endParaRPr lang="en-US" sz="2400">
              <a:solidFill>
                <a:prstClr val="black"/>
              </a:solidFill>
              <a:latin typeface="Calibri" panose="020F0502020204030204"/>
            </a:endParaRPr>
          </a:p>
        </p:txBody>
      </p:sp>
      <p:sp>
        <p:nvSpPr>
          <p:cNvPr id="39" name="Text 11">
            <a:extLst>
              <a:ext uri="{FF2B5EF4-FFF2-40B4-BE49-F238E27FC236}">
                <a16:creationId xmlns:a16="http://schemas.microsoft.com/office/drawing/2014/main" id="{9C9174C5-5963-7DC6-5E0E-92BB2C7FC0E5}"/>
              </a:ext>
            </a:extLst>
          </p:cNvPr>
          <p:cNvSpPr/>
          <p:nvPr/>
        </p:nvSpPr>
        <p:spPr>
          <a:xfrm>
            <a:off x="517111" y="3811053"/>
            <a:ext cx="426720" cy="426720"/>
          </a:xfrm>
          <a:prstGeom prst="flowChartConnector">
            <a:avLst/>
          </a:prstGeom>
          <a:noFill/>
          <a:ln/>
        </p:spPr>
        <p:txBody>
          <a:bodyPr wrap="square" lIns="0" tIns="0" rIns="0" bIns="0" rtlCol="0" anchor="ctr"/>
          <a:lstStyle/>
          <a:p>
            <a:pPr algn="ctr" defTabSz="1219170"/>
            <a:r>
              <a:rPr lang="en-US" sz="1733" b="1" dirty="0">
                <a:solidFill>
                  <a:srgbClr val="FFFFFF"/>
                </a:solidFill>
                <a:latin typeface="Trebuchet MS" pitchFamily="34" charset="0"/>
                <a:ea typeface="Trebuchet MS" pitchFamily="34" charset="-122"/>
                <a:cs typeface="Trebuchet MS" pitchFamily="34" charset="-120"/>
              </a:rPr>
              <a:t>3</a:t>
            </a:r>
            <a:endParaRPr lang="en-US" sz="1733" dirty="0">
              <a:solidFill>
                <a:prstClr val="black"/>
              </a:solidFill>
              <a:latin typeface="Calibri" panose="020F0502020204030204"/>
            </a:endParaRPr>
          </a:p>
        </p:txBody>
      </p:sp>
      <p:sp>
        <p:nvSpPr>
          <p:cNvPr id="40" name="Text 12">
            <a:extLst>
              <a:ext uri="{FF2B5EF4-FFF2-40B4-BE49-F238E27FC236}">
                <a16:creationId xmlns:a16="http://schemas.microsoft.com/office/drawing/2014/main" id="{2A076537-A7C2-48BE-3E40-C7F2E897F49B}"/>
              </a:ext>
            </a:extLst>
          </p:cNvPr>
          <p:cNvSpPr/>
          <p:nvPr/>
        </p:nvSpPr>
        <p:spPr>
          <a:xfrm>
            <a:off x="1126711" y="3836276"/>
            <a:ext cx="4267200" cy="426720"/>
          </a:xfrm>
          <a:prstGeom prst="roundRect">
            <a:avLst/>
          </a:prstGeom>
          <a:noFill/>
          <a:ln/>
        </p:spPr>
        <p:txBody>
          <a:bodyPr wrap="square" lIns="0" tIns="0" rIns="0" bIns="0" rtlCol="0" anchor="ctr"/>
          <a:lstStyle/>
          <a:p>
            <a:pPr defTabSz="1219170"/>
            <a:r>
              <a:rPr lang="en-US" sz="1867" b="1" dirty="0">
                <a:solidFill>
                  <a:srgbClr val="0B2545"/>
                </a:solidFill>
                <a:latin typeface="Arial" panose="020B0604020202020204" pitchFamily="34" charset="0"/>
                <a:ea typeface="Trebuchet MS" pitchFamily="34" charset="-122"/>
                <a:cs typeface="Arial" panose="020B0604020202020204" pitchFamily="34" charset="0"/>
              </a:rPr>
              <a:t>Select target column</a:t>
            </a:r>
            <a:endParaRPr lang="en-US" sz="1867" dirty="0">
              <a:solidFill>
                <a:prstClr val="black"/>
              </a:solidFill>
              <a:latin typeface="Arial" panose="020B0604020202020204" pitchFamily="34" charset="0"/>
              <a:cs typeface="Arial" panose="020B0604020202020204" pitchFamily="34" charset="0"/>
            </a:endParaRPr>
          </a:p>
        </p:txBody>
      </p:sp>
      <p:sp>
        <p:nvSpPr>
          <p:cNvPr id="41" name="Text 13">
            <a:extLst>
              <a:ext uri="{FF2B5EF4-FFF2-40B4-BE49-F238E27FC236}">
                <a16:creationId xmlns:a16="http://schemas.microsoft.com/office/drawing/2014/main" id="{6AA31603-3D24-BB70-7A5B-4B72C2CAEE80}"/>
              </a:ext>
            </a:extLst>
          </p:cNvPr>
          <p:cNvSpPr/>
          <p:nvPr/>
        </p:nvSpPr>
        <p:spPr>
          <a:xfrm>
            <a:off x="1126711" y="4248283"/>
            <a:ext cx="4632960" cy="792480"/>
          </a:xfrm>
          <a:prstGeom prst="roundRect">
            <a:avLst/>
          </a:prstGeom>
          <a:noFill/>
          <a:ln/>
        </p:spPr>
        <p:txBody>
          <a:bodyPr wrap="square" lIns="0" tIns="0" rIns="0" bIns="0" rtlCol="0" anchor="ctr"/>
          <a:lstStyle/>
          <a:p>
            <a:pPr defTabSz="1219170"/>
            <a:r>
              <a:rPr lang="en-US" sz="1533" dirty="0">
                <a:solidFill>
                  <a:srgbClr val="334155"/>
                </a:solidFill>
                <a:latin typeface="Arial" panose="020B0604020202020204" pitchFamily="34" charset="0"/>
                <a:ea typeface="Calibri" pitchFamily="34" charset="-122"/>
                <a:cs typeface="Arial" panose="020B0604020202020204" pitchFamily="34" charset="0"/>
              </a:rPr>
              <a:t>Keep only the `Total Influenza Admissions` column. Drop all other columns, including those for RSV and COVID-19.</a:t>
            </a:r>
            <a:endParaRPr lang="en-US" sz="1533" dirty="0">
              <a:solidFill>
                <a:prstClr val="black"/>
              </a:solidFill>
              <a:latin typeface="Arial" panose="020B0604020202020204" pitchFamily="34" charset="0"/>
              <a:cs typeface="Arial" panose="020B0604020202020204" pitchFamily="34" charset="0"/>
            </a:endParaRPr>
          </a:p>
        </p:txBody>
      </p:sp>
      <p:sp>
        <p:nvSpPr>
          <p:cNvPr id="42" name="Shape 14">
            <a:extLst>
              <a:ext uri="{FF2B5EF4-FFF2-40B4-BE49-F238E27FC236}">
                <a16:creationId xmlns:a16="http://schemas.microsoft.com/office/drawing/2014/main" id="{097E363A-9A4B-0E7B-C550-0550BDE18BAE}"/>
              </a:ext>
            </a:extLst>
          </p:cNvPr>
          <p:cNvSpPr/>
          <p:nvPr/>
        </p:nvSpPr>
        <p:spPr>
          <a:xfrm>
            <a:off x="6356660" y="3811053"/>
            <a:ext cx="426720" cy="426720"/>
          </a:xfrm>
          <a:prstGeom prst="flowChartConnector">
            <a:avLst/>
          </a:prstGeom>
          <a:solidFill>
            <a:srgbClr val="13678A"/>
          </a:solidFill>
          <a:ln/>
        </p:spPr>
        <p:txBody>
          <a:bodyPr/>
          <a:lstStyle/>
          <a:p>
            <a:pPr defTabSz="1219170"/>
            <a:endParaRPr lang="en-US" sz="2400">
              <a:solidFill>
                <a:prstClr val="black"/>
              </a:solidFill>
              <a:latin typeface="Calibri" panose="020F0502020204030204"/>
            </a:endParaRPr>
          </a:p>
        </p:txBody>
      </p:sp>
      <p:sp>
        <p:nvSpPr>
          <p:cNvPr id="43" name="Text 15">
            <a:extLst>
              <a:ext uri="{FF2B5EF4-FFF2-40B4-BE49-F238E27FC236}">
                <a16:creationId xmlns:a16="http://schemas.microsoft.com/office/drawing/2014/main" id="{ABCB3DCD-3DAA-3B0C-0C88-4EB93C1D627D}"/>
              </a:ext>
            </a:extLst>
          </p:cNvPr>
          <p:cNvSpPr/>
          <p:nvPr/>
        </p:nvSpPr>
        <p:spPr>
          <a:xfrm>
            <a:off x="6356660" y="3811053"/>
            <a:ext cx="426720" cy="426720"/>
          </a:xfrm>
          <a:prstGeom prst="flowChartConnector">
            <a:avLst/>
          </a:prstGeom>
          <a:noFill/>
          <a:ln/>
        </p:spPr>
        <p:txBody>
          <a:bodyPr wrap="square" lIns="0" tIns="0" rIns="0" bIns="0" rtlCol="0" anchor="ctr"/>
          <a:lstStyle/>
          <a:p>
            <a:pPr algn="ctr" defTabSz="1219170"/>
            <a:r>
              <a:rPr lang="en-US" sz="1733" b="1" dirty="0">
                <a:solidFill>
                  <a:srgbClr val="FFFFFF"/>
                </a:solidFill>
                <a:latin typeface="Trebuchet MS" pitchFamily="34" charset="0"/>
                <a:ea typeface="Trebuchet MS" pitchFamily="34" charset="-122"/>
                <a:cs typeface="Trebuchet MS" pitchFamily="34" charset="-120"/>
              </a:rPr>
              <a:t>4</a:t>
            </a:r>
            <a:endParaRPr lang="en-US" sz="1733" dirty="0">
              <a:solidFill>
                <a:prstClr val="black"/>
              </a:solidFill>
              <a:latin typeface="Calibri" panose="020F0502020204030204"/>
            </a:endParaRPr>
          </a:p>
        </p:txBody>
      </p:sp>
      <p:sp>
        <p:nvSpPr>
          <p:cNvPr id="44" name="Text 16">
            <a:extLst>
              <a:ext uri="{FF2B5EF4-FFF2-40B4-BE49-F238E27FC236}">
                <a16:creationId xmlns:a16="http://schemas.microsoft.com/office/drawing/2014/main" id="{B61F5979-6DA4-A4AB-B2DF-72B797A21A0E}"/>
              </a:ext>
            </a:extLst>
          </p:cNvPr>
          <p:cNvSpPr/>
          <p:nvPr/>
        </p:nvSpPr>
        <p:spPr>
          <a:xfrm>
            <a:off x="6966260" y="3811053"/>
            <a:ext cx="4267200" cy="426720"/>
          </a:xfrm>
          <a:prstGeom prst="roundRect">
            <a:avLst/>
          </a:prstGeom>
          <a:noFill/>
          <a:ln/>
        </p:spPr>
        <p:txBody>
          <a:bodyPr wrap="square" lIns="0" tIns="0" rIns="0" bIns="0" rtlCol="0" anchor="ctr"/>
          <a:lstStyle/>
          <a:p>
            <a:pPr defTabSz="1219170"/>
            <a:r>
              <a:rPr lang="en-US" sz="1867" b="1" dirty="0">
                <a:solidFill>
                  <a:srgbClr val="0B2545"/>
                </a:solidFill>
                <a:latin typeface="Arial" panose="020B0604020202020204" pitchFamily="34" charset="0"/>
                <a:ea typeface="Trebuchet MS" pitchFamily="34" charset="-122"/>
                <a:cs typeface="Arial" panose="020B0604020202020204" pitchFamily="34" charset="0"/>
              </a:rPr>
              <a:t>Reshape to 3 cols</a:t>
            </a:r>
            <a:endParaRPr lang="en-US" sz="1867" dirty="0">
              <a:solidFill>
                <a:prstClr val="black"/>
              </a:solidFill>
              <a:latin typeface="Arial" panose="020B0604020202020204" pitchFamily="34" charset="0"/>
              <a:cs typeface="Arial" panose="020B0604020202020204" pitchFamily="34" charset="0"/>
            </a:endParaRPr>
          </a:p>
        </p:txBody>
      </p:sp>
      <p:sp>
        <p:nvSpPr>
          <p:cNvPr id="45" name="Text 17">
            <a:extLst>
              <a:ext uri="{FF2B5EF4-FFF2-40B4-BE49-F238E27FC236}">
                <a16:creationId xmlns:a16="http://schemas.microsoft.com/office/drawing/2014/main" id="{EAFCC128-47C9-DF20-CC45-3E2163D2CD9F}"/>
              </a:ext>
            </a:extLst>
          </p:cNvPr>
          <p:cNvSpPr/>
          <p:nvPr/>
        </p:nvSpPr>
        <p:spPr>
          <a:xfrm>
            <a:off x="6966260" y="4262996"/>
            <a:ext cx="4632960" cy="792480"/>
          </a:xfrm>
          <a:prstGeom prst="roundRect">
            <a:avLst/>
          </a:prstGeom>
          <a:noFill/>
          <a:ln/>
        </p:spPr>
        <p:txBody>
          <a:bodyPr wrap="square" lIns="0" tIns="0" rIns="0" bIns="0" rtlCol="0" anchor="ctr"/>
          <a:lstStyle/>
          <a:p>
            <a:pPr defTabSz="1219170"/>
            <a:r>
              <a:rPr lang="en-US" sz="1533" dirty="0">
                <a:solidFill>
                  <a:srgbClr val="334155"/>
                </a:solidFill>
                <a:latin typeface="Arial" panose="020B0604020202020204" pitchFamily="34" charset="0"/>
                <a:ea typeface="Calibri" pitchFamily="34" charset="-122"/>
                <a:cs typeface="Arial" panose="020B0604020202020204" pitchFamily="34" charset="0"/>
              </a:rPr>
              <a:t>Rename and restructure the data to: week, location ("US"), value.</a:t>
            </a:r>
            <a:endParaRPr lang="en-US" sz="1533" dirty="0">
              <a:solidFill>
                <a:prstClr val="black"/>
              </a:solidFill>
              <a:latin typeface="Arial" panose="020B0604020202020204" pitchFamily="34" charset="0"/>
              <a:cs typeface="Arial" panose="020B0604020202020204" pitchFamily="34" charset="0"/>
            </a:endParaRPr>
          </a:p>
        </p:txBody>
      </p:sp>
      <p:sp>
        <p:nvSpPr>
          <p:cNvPr id="46" name="Shape 18">
            <a:extLst>
              <a:ext uri="{FF2B5EF4-FFF2-40B4-BE49-F238E27FC236}">
                <a16:creationId xmlns:a16="http://schemas.microsoft.com/office/drawing/2014/main" id="{4A5A1607-FFF6-530D-D63F-6595DE536723}"/>
              </a:ext>
            </a:extLst>
          </p:cNvPr>
          <p:cNvSpPr/>
          <p:nvPr/>
        </p:nvSpPr>
        <p:spPr>
          <a:xfrm>
            <a:off x="517111" y="5358173"/>
            <a:ext cx="426720" cy="426720"/>
          </a:xfrm>
          <a:prstGeom prst="flowChartConnector">
            <a:avLst/>
          </a:prstGeom>
          <a:solidFill>
            <a:srgbClr val="13678A"/>
          </a:solidFill>
          <a:ln/>
        </p:spPr>
        <p:txBody>
          <a:bodyPr/>
          <a:lstStyle/>
          <a:p>
            <a:pPr defTabSz="1219170"/>
            <a:endParaRPr lang="en-US" sz="2400">
              <a:solidFill>
                <a:prstClr val="black"/>
              </a:solidFill>
              <a:latin typeface="Calibri" panose="020F0502020204030204"/>
            </a:endParaRPr>
          </a:p>
        </p:txBody>
      </p:sp>
      <p:sp>
        <p:nvSpPr>
          <p:cNvPr id="47" name="Text 19">
            <a:extLst>
              <a:ext uri="{FF2B5EF4-FFF2-40B4-BE49-F238E27FC236}">
                <a16:creationId xmlns:a16="http://schemas.microsoft.com/office/drawing/2014/main" id="{26C5C571-55C4-AC16-70AF-A14E4E267ECA}"/>
              </a:ext>
            </a:extLst>
          </p:cNvPr>
          <p:cNvSpPr/>
          <p:nvPr/>
        </p:nvSpPr>
        <p:spPr>
          <a:xfrm>
            <a:off x="517111" y="5358173"/>
            <a:ext cx="426720" cy="426720"/>
          </a:xfrm>
          <a:prstGeom prst="roundRect">
            <a:avLst/>
          </a:prstGeom>
          <a:noFill/>
          <a:ln/>
        </p:spPr>
        <p:txBody>
          <a:bodyPr wrap="square" lIns="0" tIns="0" rIns="0" bIns="0" rtlCol="0" anchor="ctr"/>
          <a:lstStyle/>
          <a:p>
            <a:pPr algn="ctr" defTabSz="1219170"/>
            <a:r>
              <a:rPr lang="en-US" sz="1733" b="1" dirty="0">
                <a:solidFill>
                  <a:srgbClr val="FFFFFF"/>
                </a:solidFill>
                <a:latin typeface="Trebuchet MS" pitchFamily="34" charset="0"/>
                <a:ea typeface="Trebuchet MS" pitchFamily="34" charset="-122"/>
                <a:cs typeface="Trebuchet MS" pitchFamily="34" charset="-120"/>
              </a:rPr>
              <a:t>5</a:t>
            </a:r>
            <a:endParaRPr lang="en-US" sz="1733" dirty="0">
              <a:solidFill>
                <a:prstClr val="black"/>
              </a:solidFill>
              <a:latin typeface="Calibri" panose="020F0502020204030204"/>
            </a:endParaRPr>
          </a:p>
        </p:txBody>
      </p:sp>
      <p:sp>
        <p:nvSpPr>
          <p:cNvPr id="48" name="Text 20">
            <a:extLst>
              <a:ext uri="{FF2B5EF4-FFF2-40B4-BE49-F238E27FC236}">
                <a16:creationId xmlns:a16="http://schemas.microsoft.com/office/drawing/2014/main" id="{73AD04A0-8B39-C652-FF97-BA9E600F89A5}"/>
              </a:ext>
            </a:extLst>
          </p:cNvPr>
          <p:cNvSpPr/>
          <p:nvPr/>
        </p:nvSpPr>
        <p:spPr>
          <a:xfrm>
            <a:off x="1126711" y="5358173"/>
            <a:ext cx="4267200" cy="426720"/>
          </a:xfrm>
          <a:prstGeom prst="roundRect">
            <a:avLst/>
          </a:prstGeom>
          <a:noFill/>
          <a:ln/>
        </p:spPr>
        <p:txBody>
          <a:bodyPr wrap="square" lIns="0" tIns="0" rIns="0" bIns="0" rtlCol="0" anchor="ctr"/>
          <a:lstStyle/>
          <a:p>
            <a:pPr defTabSz="1219170"/>
            <a:r>
              <a:rPr lang="en-US" sz="1867" b="1" dirty="0">
                <a:solidFill>
                  <a:srgbClr val="0B2545"/>
                </a:solidFill>
                <a:latin typeface="Arial" panose="020B0604020202020204" pitchFamily="34" charset="0"/>
                <a:ea typeface="Trebuchet MS" pitchFamily="34" charset="-122"/>
                <a:cs typeface="Arial" panose="020B0604020202020204" pitchFamily="34" charset="0"/>
              </a:rPr>
              <a:t>Format dates</a:t>
            </a:r>
            <a:endParaRPr lang="en-US" sz="1867" dirty="0">
              <a:solidFill>
                <a:prstClr val="black"/>
              </a:solidFill>
              <a:latin typeface="Arial" panose="020B0604020202020204" pitchFamily="34" charset="0"/>
              <a:cs typeface="Arial" panose="020B0604020202020204" pitchFamily="34" charset="0"/>
            </a:endParaRPr>
          </a:p>
        </p:txBody>
      </p:sp>
      <p:sp>
        <p:nvSpPr>
          <p:cNvPr id="49" name="Text 21">
            <a:extLst>
              <a:ext uri="{FF2B5EF4-FFF2-40B4-BE49-F238E27FC236}">
                <a16:creationId xmlns:a16="http://schemas.microsoft.com/office/drawing/2014/main" id="{F34EDF3A-378E-55DF-137C-A4F99C46F4CF}"/>
              </a:ext>
            </a:extLst>
          </p:cNvPr>
          <p:cNvSpPr/>
          <p:nvPr/>
        </p:nvSpPr>
        <p:spPr>
          <a:xfrm>
            <a:off x="1126711" y="5723933"/>
            <a:ext cx="4632960" cy="792480"/>
          </a:xfrm>
          <a:prstGeom prst="roundRect">
            <a:avLst/>
          </a:prstGeom>
          <a:noFill/>
          <a:ln/>
        </p:spPr>
        <p:txBody>
          <a:bodyPr wrap="square" lIns="0" tIns="0" rIns="0" bIns="0" rtlCol="0" anchor="ctr"/>
          <a:lstStyle/>
          <a:p>
            <a:pPr defTabSz="1219170"/>
            <a:r>
              <a:rPr lang="en-US" sz="1533" dirty="0">
                <a:solidFill>
                  <a:srgbClr val="334155"/>
                </a:solidFill>
                <a:latin typeface="Arial" panose="020B0604020202020204" pitchFamily="34" charset="0"/>
                <a:ea typeface="Calibri" pitchFamily="34" charset="-122"/>
                <a:cs typeface="Arial" panose="020B0604020202020204" pitchFamily="34" charset="0"/>
              </a:rPr>
              <a:t>Convert week ending date to R Date object. Sort ascending.</a:t>
            </a:r>
            <a:endParaRPr lang="en-US" sz="1533" dirty="0">
              <a:solidFill>
                <a:prstClr val="black"/>
              </a:solidFill>
              <a:latin typeface="Arial" panose="020B0604020202020204" pitchFamily="34" charset="0"/>
              <a:cs typeface="Arial" panose="020B0604020202020204" pitchFamily="34" charset="0"/>
            </a:endParaRPr>
          </a:p>
        </p:txBody>
      </p:sp>
      <p:sp>
        <p:nvSpPr>
          <p:cNvPr id="50" name="Shape 22">
            <a:extLst>
              <a:ext uri="{FF2B5EF4-FFF2-40B4-BE49-F238E27FC236}">
                <a16:creationId xmlns:a16="http://schemas.microsoft.com/office/drawing/2014/main" id="{B484E23B-F0DA-0576-1B3E-86BA289BD01D}"/>
              </a:ext>
            </a:extLst>
          </p:cNvPr>
          <p:cNvSpPr/>
          <p:nvPr/>
        </p:nvSpPr>
        <p:spPr>
          <a:xfrm>
            <a:off x="6356660" y="5329815"/>
            <a:ext cx="426720" cy="426720"/>
          </a:xfrm>
          <a:prstGeom prst="flowChartConnector">
            <a:avLst/>
          </a:prstGeom>
          <a:solidFill>
            <a:srgbClr val="13678A"/>
          </a:solidFill>
          <a:ln/>
        </p:spPr>
        <p:txBody>
          <a:bodyPr/>
          <a:lstStyle/>
          <a:p>
            <a:pPr defTabSz="1219170"/>
            <a:endParaRPr lang="en-US" sz="2400">
              <a:solidFill>
                <a:prstClr val="black"/>
              </a:solidFill>
              <a:latin typeface="Calibri" panose="020F0502020204030204"/>
            </a:endParaRPr>
          </a:p>
        </p:txBody>
      </p:sp>
      <p:sp>
        <p:nvSpPr>
          <p:cNvPr id="51" name="Text 23">
            <a:extLst>
              <a:ext uri="{FF2B5EF4-FFF2-40B4-BE49-F238E27FC236}">
                <a16:creationId xmlns:a16="http://schemas.microsoft.com/office/drawing/2014/main" id="{168A532D-AF7D-C4E5-E01F-93AA4ADECD8A}"/>
              </a:ext>
            </a:extLst>
          </p:cNvPr>
          <p:cNvSpPr/>
          <p:nvPr/>
        </p:nvSpPr>
        <p:spPr>
          <a:xfrm>
            <a:off x="6356660" y="5329815"/>
            <a:ext cx="426720" cy="426720"/>
          </a:xfrm>
          <a:prstGeom prst="flowChartConnector">
            <a:avLst/>
          </a:prstGeom>
          <a:noFill/>
          <a:ln/>
        </p:spPr>
        <p:txBody>
          <a:bodyPr wrap="square" lIns="0" tIns="0" rIns="0" bIns="0" rtlCol="0" anchor="ctr"/>
          <a:lstStyle/>
          <a:p>
            <a:pPr algn="ctr" defTabSz="1219170"/>
            <a:r>
              <a:rPr lang="en-US" sz="1733" b="1" dirty="0">
                <a:solidFill>
                  <a:srgbClr val="FFFFFF"/>
                </a:solidFill>
                <a:latin typeface="Trebuchet MS" pitchFamily="34" charset="0"/>
                <a:ea typeface="Trebuchet MS" pitchFamily="34" charset="-122"/>
                <a:cs typeface="Trebuchet MS" pitchFamily="34" charset="-120"/>
              </a:rPr>
              <a:t>6</a:t>
            </a:r>
            <a:endParaRPr lang="en-US" sz="1733" dirty="0">
              <a:solidFill>
                <a:prstClr val="black"/>
              </a:solidFill>
              <a:latin typeface="Calibri" panose="020F0502020204030204"/>
            </a:endParaRPr>
          </a:p>
        </p:txBody>
      </p:sp>
      <p:sp>
        <p:nvSpPr>
          <p:cNvPr id="52" name="Text 24">
            <a:extLst>
              <a:ext uri="{FF2B5EF4-FFF2-40B4-BE49-F238E27FC236}">
                <a16:creationId xmlns:a16="http://schemas.microsoft.com/office/drawing/2014/main" id="{19026C34-9F89-D816-7B27-E69A5724D828}"/>
              </a:ext>
            </a:extLst>
          </p:cNvPr>
          <p:cNvSpPr/>
          <p:nvPr/>
        </p:nvSpPr>
        <p:spPr>
          <a:xfrm>
            <a:off x="6966260" y="5329815"/>
            <a:ext cx="4267200" cy="426720"/>
          </a:xfrm>
          <a:prstGeom prst="roundRect">
            <a:avLst/>
          </a:prstGeom>
          <a:noFill/>
          <a:ln/>
        </p:spPr>
        <p:txBody>
          <a:bodyPr wrap="square" lIns="0" tIns="0" rIns="0" bIns="0" rtlCol="0" anchor="ctr"/>
          <a:lstStyle/>
          <a:p>
            <a:pPr defTabSz="1219170"/>
            <a:r>
              <a:rPr lang="en-US" sz="1867" b="1" dirty="0">
                <a:solidFill>
                  <a:srgbClr val="0B2545"/>
                </a:solidFill>
                <a:latin typeface="Trebuchet MS" pitchFamily="34" charset="0"/>
                <a:ea typeface="Trebuchet MS" pitchFamily="34" charset="-122"/>
                <a:cs typeface="Trebuchet MS" pitchFamily="34" charset="-120"/>
              </a:rPr>
              <a:t>Save output</a:t>
            </a:r>
            <a:endParaRPr lang="en-US" sz="1867" dirty="0">
              <a:solidFill>
                <a:prstClr val="black"/>
              </a:solidFill>
              <a:latin typeface="Calibri" panose="020F0502020204030204"/>
            </a:endParaRPr>
          </a:p>
        </p:txBody>
      </p:sp>
      <p:sp>
        <p:nvSpPr>
          <p:cNvPr id="53" name="Text 25">
            <a:extLst>
              <a:ext uri="{FF2B5EF4-FFF2-40B4-BE49-F238E27FC236}">
                <a16:creationId xmlns:a16="http://schemas.microsoft.com/office/drawing/2014/main" id="{A887FBE7-EB77-046D-6D1E-A1E7CB5C3444}"/>
              </a:ext>
            </a:extLst>
          </p:cNvPr>
          <p:cNvSpPr/>
          <p:nvPr/>
        </p:nvSpPr>
        <p:spPr>
          <a:xfrm>
            <a:off x="6966260" y="5695575"/>
            <a:ext cx="4632960" cy="792480"/>
          </a:xfrm>
          <a:prstGeom prst="roundRect">
            <a:avLst/>
          </a:prstGeom>
          <a:noFill/>
          <a:ln/>
        </p:spPr>
        <p:txBody>
          <a:bodyPr wrap="square" lIns="0" tIns="0" rIns="0" bIns="0" rtlCol="0" anchor="ctr"/>
          <a:lstStyle/>
          <a:p>
            <a:pPr defTabSz="1219170"/>
            <a:r>
              <a:rPr lang="en-US" sz="1533" dirty="0">
                <a:solidFill>
                  <a:srgbClr val="334155"/>
                </a:solidFill>
                <a:latin typeface="Arial" panose="020B0604020202020204" pitchFamily="34" charset="0"/>
                <a:ea typeface="Calibri" pitchFamily="34" charset="-122"/>
                <a:cs typeface="Arial" panose="020B0604020202020204" pitchFamily="34" charset="0"/>
              </a:rPr>
              <a:t>Write cleaned_flu_admissions.csv and the </a:t>
            </a:r>
            <a:r>
              <a:rPr lang="en-US" sz="1533" dirty="0" err="1">
                <a:solidFill>
                  <a:srgbClr val="334155"/>
                </a:solidFill>
                <a:latin typeface="Arial" panose="020B0604020202020204" pitchFamily="34" charset="0"/>
                <a:ea typeface="Calibri" pitchFamily="34" charset="-122"/>
                <a:cs typeface="Arial" panose="020B0604020202020204" pitchFamily="34" charset="0"/>
              </a:rPr>
              <a:t>epicurve</a:t>
            </a:r>
            <a:r>
              <a:rPr lang="en-US" sz="1533" dirty="0">
                <a:solidFill>
                  <a:srgbClr val="334155"/>
                </a:solidFill>
                <a:latin typeface="Arial" panose="020B0604020202020204" pitchFamily="34" charset="0"/>
                <a:ea typeface="Calibri" pitchFamily="34" charset="-122"/>
                <a:cs typeface="Arial" panose="020B0604020202020204" pitchFamily="34" charset="0"/>
              </a:rPr>
              <a:t> to the appropriate subfolder in output/.</a:t>
            </a:r>
            <a:endParaRPr lang="en-US" sz="1533" dirty="0">
              <a:solidFill>
                <a:prstClr val="black"/>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58" grpId="0" animBg="1"/>
      <p:bldP spid="57" grpId="0" animBg="1"/>
      <p:bldP spid="54" grpId="0" animBg="1"/>
      <p:bldP spid="55" grpId="0" animBg="1"/>
      <p:bldP spid="56"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3BFF6-2FD9-814F-6E48-567E25D2FB7C}"/>
            </a:ext>
          </a:extLst>
        </p:cNvPr>
        <p:cNvGrpSpPr/>
        <p:nvPr/>
      </p:nvGrpSpPr>
      <p:grpSpPr>
        <a:xfrm>
          <a:off x="0" y="0"/>
          <a:ext cx="0" cy="0"/>
          <a:chOff x="0" y="0"/>
          <a:chExt cx="0" cy="0"/>
        </a:xfrm>
      </p:grpSpPr>
      <p:sp>
        <p:nvSpPr>
          <p:cNvPr id="6" name="Text 0">
            <a:extLst>
              <a:ext uri="{FF2B5EF4-FFF2-40B4-BE49-F238E27FC236}">
                <a16:creationId xmlns:a16="http://schemas.microsoft.com/office/drawing/2014/main" id="{576852A1-004D-2C10-15BD-D4DD70985C81}"/>
              </a:ext>
            </a:extLst>
          </p:cNvPr>
          <p:cNvSpPr/>
          <p:nvPr/>
        </p:nvSpPr>
        <p:spPr>
          <a:xfrm>
            <a:off x="729996" y="268224"/>
            <a:ext cx="10732008"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Reminder: Rules Document vs AI Agent</a:t>
            </a:r>
            <a:endParaRPr lang="en-US" sz="4267" dirty="0">
              <a:solidFill>
                <a:srgbClr val="7030A0"/>
              </a:solidFill>
              <a:latin typeface="Arial" panose="020B0604020202020204" pitchFamily="34" charset="0"/>
              <a:cs typeface="Arial" panose="020B0604020202020204" pitchFamily="34" charset="0"/>
            </a:endParaRPr>
          </a:p>
        </p:txBody>
      </p:sp>
      <p:sp>
        <p:nvSpPr>
          <p:cNvPr id="2" name="Shape 2">
            <a:extLst>
              <a:ext uri="{FF2B5EF4-FFF2-40B4-BE49-F238E27FC236}">
                <a16:creationId xmlns:a16="http://schemas.microsoft.com/office/drawing/2014/main" id="{28935B7C-E126-3BD9-E7FC-CC1EA1AA9128}"/>
              </a:ext>
            </a:extLst>
          </p:cNvPr>
          <p:cNvSpPr/>
          <p:nvPr/>
        </p:nvSpPr>
        <p:spPr>
          <a:xfrm>
            <a:off x="486633" y="1578864"/>
            <a:ext cx="5065776" cy="3917061"/>
          </a:xfrm>
          <a:prstGeom prst="rect">
            <a:avLst/>
          </a:prstGeom>
          <a:solidFill>
            <a:srgbClr val="F0ECF8"/>
          </a:solidFill>
          <a:ln>
            <a:solidFill>
              <a:schemeClr val="bg1"/>
            </a:solidFill>
          </a:ln>
          <a:effectLst>
            <a:outerShdw blurRad="50800" dist="25400" dir="8100000" algn="bl" rotWithShape="0">
              <a:srgbClr val="000000">
                <a:alpha val="10000"/>
              </a:srgbClr>
            </a:outerShdw>
          </a:effectLst>
        </p:spPr>
        <p:txBody>
          <a:bodyPr/>
          <a:lstStyle/>
          <a:p>
            <a:endParaRPr lang="en-US"/>
          </a:p>
        </p:txBody>
      </p:sp>
      <p:pic>
        <p:nvPicPr>
          <p:cNvPr id="4" name="Image 0" descr="preencoded.png">
            <a:extLst>
              <a:ext uri="{FF2B5EF4-FFF2-40B4-BE49-F238E27FC236}">
                <a16:creationId xmlns:a16="http://schemas.microsoft.com/office/drawing/2014/main" id="{73D56736-3687-4868-569E-0826587BC53E}"/>
              </a:ext>
            </a:extLst>
          </p:cNvPr>
          <p:cNvPicPr>
            <a:picLocks noChangeAspect="1"/>
          </p:cNvPicPr>
          <p:nvPr/>
        </p:nvPicPr>
        <p:blipFill>
          <a:blip r:embed="rId3"/>
          <a:stretch>
            <a:fillRect/>
          </a:stretch>
        </p:blipFill>
        <p:spPr>
          <a:xfrm>
            <a:off x="831438" y="2048137"/>
            <a:ext cx="784098" cy="784098"/>
          </a:xfrm>
          <a:prstGeom prst="rect">
            <a:avLst/>
          </a:prstGeom>
        </p:spPr>
      </p:pic>
      <p:sp>
        <p:nvSpPr>
          <p:cNvPr id="9" name="Text 4">
            <a:extLst>
              <a:ext uri="{FF2B5EF4-FFF2-40B4-BE49-F238E27FC236}">
                <a16:creationId xmlns:a16="http://schemas.microsoft.com/office/drawing/2014/main" id="{1442EA21-C1CC-92C6-0395-B4BE578E0954}"/>
              </a:ext>
            </a:extLst>
          </p:cNvPr>
          <p:cNvSpPr/>
          <p:nvPr/>
        </p:nvSpPr>
        <p:spPr>
          <a:xfrm>
            <a:off x="1960341" y="2215135"/>
            <a:ext cx="3120723" cy="487680"/>
          </a:xfrm>
          <a:prstGeom prst="rect">
            <a:avLst/>
          </a:prstGeom>
          <a:noFill/>
          <a:ln/>
        </p:spPr>
        <p:txBody>
          <a:bodyPr wrap="square" lIns="0" tIns="0" rIns="0" bIns="0" rtlCol="0" anchor="ctr"/>
          <a:lstStyle/>
          <a:p>
            <a:r>
              <a:rPr lang="en-US" sz="2500" b="1" dirty="0">
                <a:solidFill>
                  <a:srgbClr val="0B2545"/>
                </a:solidFill>
                <a:latin typeface="Consolas" pitchFamily="34" charset="0"/>
                <a:ea typeface="Consolas" pitchFamily="34" charset="-122"/>
                <a:cs typeface="Consolas" pitchFamily="34" charset="-120"/>
              </a:rPr>
              <a:t>rules.md</a:t>
            </a:r>
            <a:endParaRPr lang="en-US" sz="2500" dirty="0"/>
          </a:p>
        </p:txBody>
      </p:sp>
      <p:sp>
        <p:nvSpPr>
          <p:cNvPr id="15" name="Text 5">
            <a:extLst>
              <a:ext uri="{FF2B5EF4-FFF2-40B4-BE49-F238E27FC236}">
                <a16:creationId xmlns:a16="http://schemas.microsoft.com/office/drawing/2014/main" id="{814D57C0-11D0-6F2B-83D5-3BA10E0A3575}"/>
              </a:ext>
            </a:extLst>
          </p:cNvPr>
          <p:cNvSpPr/>
          <p:nvPr/>
        </p:nvSpPr>
        <p:spPr>
          <a:xfrm>
            <a:off x="891540" y="3095495"/>
            <a:ext cx="4389120" cy="426720"/>
          </a:xfrm>
          <a:prstGeom prst="rect">
            <a:avLst/>
          </a:prstGeom>
          <a:noFill/>
          <a:ln/>
        </p:spPr>
        <p:txBody>
          <a:bodyPr wrap="square" lIns="0" tIns="0" rIns="0" bIns="0" rtlCol="0" anchor="ctr"/>
          <a:lstStyle/>
          <a:p>
            <a:r>
              <a:rPr lang="en-US" sz="2500" b="1" dirty="0">
                <a:solidFill>
                  <a:schemeClr val="accent5"/>
                </a:solidFill>
                <a:latin typeface="Arial" panose="020B0604020202020204" pitchFamily="34" charset="0"/>
                <a:ea typeface="Trebuchet MS" pitchFamily="34" charset="-122"/>
                <a:cs typeface="Arial" panose="020B0604020202020204" pitchFamily="34" charset="0"/>
              </a:rPr>
              <a:t>Written by YOU</a:t>
            </a:r>
            <a:endParaRPr lang="en-US" sz="2500" dirty="0">
              <a:solidFill>
                <a:schemeClr val="accent5"/>
              </a:solidFill>
              <a:latin typeface="Arial" panose="020B0604020202020204" pitchFamily="34" charset="0"/>
              <a:cs typeface="Arial" panose="020B0604020202020204" pitchFamily="34" charset="0"/>
            </a:endParaRPr>
          </a:p>
        </p:txBody>
      </p:sp>
      <p:sp>
        <p:nvSpPr>
          <p:cNvPr id="17" name="Text 6">
            <a:extLst>
              <a:ext uri="{FF2B5EF4-FFF2-40B4-BE49-F238E27FC236}">
                <a16:creationId xmlns:a16="http://schemas.microsoft.com/office/drawing/2014/main" id="{DE160C1B-6F30-74FC-B1D5-994C895E0724}"/>
              </a:ext>
            </a:extLst>
          </p:cNvPr>
          <p:cNvSpPr/>
          <p:nvPr/>
        </p:nvSpPr>
        <p:spPr>
          <a:xfrm>
            <a:off x="891540" y="3568608"/>
            <a:ext cx="4389120" cy="1794569"/>
          </a:xfrm>
          <a:prstGeom prst="rect">
            <a:avLst/>
          </a:prstGeom>
          <a:noFill/>
          <a:ln/>
        </p:spPr>
        <p:txBody>
          <a:bodyPr wrap="square" lIns="0" tIns="0" rIns="0" bIns="0" rtlCol="0" anchor="ctr"/>
          <a:lstStyle/>
          <a:p>
            <a:pPr marL="457189" indent="-457189">
              <a:spcAft>
                <a:spcPts val="600"/>
              </a:spcAft>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Human-readable specifications</a:t>
            </a:r>
            <a:endParaRPr lang="en-US" sz="2200" dirty="0">
              <a:latin typeface="Arial" panose="020B0604020202020204" pitchFamily="34" charset="0"/>
              <a:cs typeface="Arial" panose="020B0604020202020204" pitchFamily="34" charset="0"/>
            </a:endParaRPr>
          </a:p>
          <a:p>
            <a:pPr marL="457189" indent="-457189">
              <a:spcAft>
                <a:spcPts val="600"/>
              </a:spcAft>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Describes WHAT the pipeline should do</a:t>
            </a:r>
            <a:endParaRPr lang="en-US" sz="2200" dirty="0">
              <a:latin typeface="Arial" panose="020B0604020202020204" pitchFamily="34" charset="0"/>
              <a:cs typeface="Arial" panose="020B0604020202020204" pitchFamily="34" charset="0"/>
            </a:endParaRPr>
          </a:p>
          <a:p>
            <a:pPr marL="457189" indent="-457189">
              <a:spcAft>
                <a:spcPts val="600"/>
              </a:spcAft>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You edit this to improve results</a:t>
            </a:r>
          </a:p>
        </p:txBody>
      </p:sp>
      <p:sp>
        <p:nvSpPr>
          <p:cNvPr id="20" name="Text 8">
            <a:extLst>
              <a:ext uri="{FF2B5EF4-FFF2-40B4-BE49-F238E27FC236}">
                <a16:creationId xmlns:a16="http://schemas.microsoft.com/office/drawing/2014/main" id="{37A8D232-AAD6-8472-C518-A56F611C69BD}"/>
              </a:ext>
            </a:extLst>
          </p:cNvPr>
          <p:cNvSpPr/>
          <p:nvPr/>
        </p:nvSpPr>
        <p:spPr>
          <a:xfrm>
            <a:off x="5513451" y="2790695"/>
            <a:ext cx="1097280" cy="609600"/>
          </a:xfrm>
          <a:prstGeom prst="rect">
            <a:avLst/>
          </a:prstGeom>
          <a:noFill/>
          <a:ln/>
        </p:spPr>
        <p:txBody>
          <a:bodyPr wrap="square" lIns="0" tIns="0" rIns="0" bIns="0" rtlCol="0" anchor="ctr"/>
          <a:lstStyle/>
          <a:p>
            <a:pPr algn="ctr"/>
            <a:r>
              <a:rPr lang="en-US" dirty="0">
                <a:solidFill>
                  <a:srgbClr val="64748B"/>
                </a:solidFill>
                <a:latin typeface="Calibri" pitchFamily="34" charset="0"/>
                <a:ea typeface="Calibri" pitchFamily="34" charset="-122"/>
                <a:cs typeface="Calibri" pitchFamily="34" charset="-120"/>
              </a:rPr>
              <a:t>AI</a:t>
            </a:r>
            <a:endParaRPr lang="en-US" dirty="0"/>
          </a:p>
          <a:p>
            <a:pPr algn="ctr"/>
            <a:r>
              <a:rPr lang="en-US" dirty="0">
                <a:solidFill>
                  <a:srgbClr val="64748B"/>
                </a:solidFill>
                <a:latin typeface="Calibri" pitchFamily="34" charset="0"/>
                <a:ea typeface="Calibri" pitchFamily="34" charset="-122"/>
                <a:cs typeface="Calibri" pitchFamily="34" charset="-120"/>
              </a:rPr>
              <a:t>generates</a:t>
            </a:r>
            <a:endParaRPr lang="en-US" dirty="0"/>
          </a:p>
        </p:txBody>
      </p:sp>
      <p:sp>
        <p:nvSpPr>
          <p:cNvPr id="21" name="Shape 9">
            <a:extLst>
              <a:ext uri="{FF2B5EF4-FFF2-40B4-BE49-F238E27FC236}">
                <a16:creationId xmlns:a16="http://schemas.microsoft.com/office/drawing/2014/main" id="{CF4F1842-A582-64C2-989A-06F90B83B191}"/>
              </a:ext>
            </a:extLst>
          </p:cNvPr>
          <p:cNvSpPr/>
          <p:nvPr/>
        </p:nvSpPr>
        <p:spPr>
          <a:xfrm>
            <a:off x="6634257" y="1601462"/>
            <a:ext cx="5067300" cy="3917061"/>
          </a:xfrm>
          <a:prstGeom prst="rect">
            <a:avLst/>
          </a:prstGeom>
          <a:solidFill>
            <a:srgbClr val="FEF2F2"/>
          </a:solidFill>
          <a:ln>
            <a:solidFill>
              <a:schemeClr val="bg1"/>
            </a:solidFill>
          </a:ln>
          <a:effectLst>
            <a:outerShdw blurRad="50800" dist="25400" dir="8100000" algn="bl" rotWithShape="0">
              <a:srgbClr val="000000">
                <a:alpha val="10000"/>
              </a:srgbClr>
            </a:outerShdw>
          </a:effectLst>
        </p:spPr>
        <p:txBody>
          <a:bodyPr/>
          <a:lstStyle/>
          <a:p>
            <a:endParaRPr lang="en-US"/>
          </a:p>
        </p:txBody>
      </p:sp>
      <p:pic>
        <p:nvPicPr>
          <p:cNvPr id="25" name="Image 1" descr="preencoded.png">
            <a:extLst>
              <a:ext uri="{FF2B5EF4-FFF2-40B4-BE49-F238E27FC236}">
                <a16:creationId xmlns:a16="http://schemas.microsoft.com/office/drawing/2014/main" id="{79869AAC-6780-5A37-8E4A-21D1B7EBF2BC}"/>
              </a:ext>
            </a:extLst>
          </p:cNvPr>
          <p:cNvPicPr>
            <a:picLocks noChangeAspect="1"/>
          </p:cNvPicPr>
          <p:nvPr/>
        </p:nvPicPr>
        <p:blipFill>
          <a:blip r:embed="rId4"/>
          <a:stretch>
            <a:fillRect/>
          </a:stretch>
        </p:blipFill>
        <p:spPr>
          <a:xfrm>
            <a:off x="7058310" y="2021717"/>
            <a:ext cx="786384" cy="786384"/>
          </a:xfrm>
          <a:prstGeom prst="rect">
            <a:avLst/>
          </a:prstGeom>
        </p:spPr>
      </p:pic>
      <p:sp>
        <p:nvSpPr>
          <p:cNvPr id="26" name="Text 11">
            <a:extLst>
              <a:ext uri="{FF2B5EF4-FFF2-40B4-BE49-F238E27FC236}">
                <a16:creationId xmlns:a16="http://schemas.microsoft.com/office/drawing/2014/main" id="{1D703DE6-E559-FB71-ECF0-46521600A1E8}"/>
              </a:ext>
            </a:extLst>
          </p:cNvPr>
          <p:cNvSpPr/>
          <p:nvPr/>
        </p:nvSpPr>
        <p:spPr>
          <a:xfrm>
            <a:off x="8297322" y="2215135"/>
            <a:ext cx="1684020" cy="487680"/>
          </a:xfrm>
          <a:prstGeom prst="rect">
            <a:avLst/>
          </a:prstGeom>
          <a:noFill/>
          <a:ln/>
        </p:spPr>
        <p:txBody>
          <a:bodyPr wrap="square" lIns="0" tIns="0" rIns="0" bIns="0" rtlCol="0" anchor="ctr"/>
          <a:lstStyle/>
          <a:p>
            <a:r>
              <a:rPr lang="en-US" sz="2500" b="1" dirty="0">
                <a:solidFill>
                  <a:srgbClr val="0B2545"/>
                </a:solidFill>
                <a:latin typeface="Consolas" pitchFamily="34" charset="0"/>
                <a:ea typeface="Consolas" pitchFamily="34" charset="-122"/>
                <a:cs typeface="Consolas" pitchFamily="34" charset="-120"/>
              </a:rPr>
              <a:t>agents.md</a:t>
            </a:r>
            <a:endParaRPr lang="en-US" sz="2500" dirty="0"/>
          </a:p>
        </p:txBody>
      </p:sp>
      <p:sp>
        <p:nvSpPr>
          <p:cNvPr id="27" name="Text 12">
            <a:extLst>
              <a:ext uri="{FF2B5EF4-FFF2-40B4-BE49-F238E27FC236}">
                <a16:creationId xmlns:a16="http://schemas.microsoft.com/office/drawing/2014/main" id="{2B7447B5-7C1B-B6DA-CF7D-72B560253E33}"/>
              </a:ext>
            </a:extLst>
          </p:cNvPr>
          <p:cNvSpPr/>
          <p:nvPr/>
        </p:nvSpPr>
        <p:spPr>
          <a:xfrm>
            <a:off x="7053834" y="3036701"/>
            <a:ext cx="4389120" cy="426720"/>
          </a:xfrm>
          <a:prstGeom prst="rect">
            <a:avLst/>
          </a:prstGeom>
          <a:noFill/>
          <a:ln/>
        </p:spPr>
        <p:txBody>
          <a:bodyPr wrap="square" lIns="0" tIns="0" rIns="0" bIns="0" rtlCol="0" anchor="ctr"/>
          <a:lstStyle/>
          <a:p>
            <a:r>
              <a:rPr lang="en-US" sz="2500" b="1" dirty="0">
                <a:solidFill>
                  <a:srgbClr val="EF4444"/>
                </a:solidFill>
                <a:latin typeface="Arial" panose="020B0604020202020204" pitchFamily="34" charset="0"/>
                <a:ea typeface="Trebuchet MS" pitchFamily="34" charset="-122"/>
                <a:cs typeface="Arial" panose="020B0604020202020204" pitchFamily="34" charset="0"/>
              </a:rPr>
              <a:t>Generated by AI</a:t>
            </a:r>
            <a:endParaRPr lang="en-US" sz="2500" dirty="0">
              <a:latin typeface="Arial" panose="020B0604020202020204" pitchFamily="34" charset="0"/>
              <a:cs typeface="Arial" panose="020B0604020202020204" pitchFamily="34" charset="0"/>
            </a:endParaRPr>
          </a:p>
        </p:txBody>
      </p:sp>
      <p:sp>
        <p:nvSpPr>
          <p:cNvPr id="28" name="Text 13">
            <a:extLst>
              <a:ext uri="{FF2B5EF4-FFF2-40B4-BE49-F238E27FC236}">
                <a16:creationId xmlns:a16="http://schemas.microsoft.com/office/drawing/2014/main" id="{7EF69E4E-039B-2A2B-7B3C-7156005233D3}"/>
              </a:ext>
            </a:extLst>
          </p:cNvPr>
          <p:cNvSpPr/>
          <p:nvPr/>
        </p:nvSpPr>
        <p:spPr>
          <a:xfrm>
            <a:off x="7053834" y="3783199"/>
            <a:ext cx="4246626" cy="1464945"/>
          </a:xfrm>
          <a:prstGeom prst="rect">
            <a:avLst/>
          </a:prstGeom>
          <a:noFill/>
          <a:ln/>
        </p:spPr>
        <p:txBody>
          <a:bodyPr wrap="square" lIns="0" tIns="0" rIns="0" bIns="0" rtlCol="0" anchor="ctr"/>
          <a:lstStyle/>
          <a:p>
            <a:pPr marL="457189" indent="-457189">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AI-readable agent instructions</a:t>
            </a:r>
            <a:endParaRPr lang="en-US" sz="2200" dirty="0">
              <a:latin typeface="Arial" panose="020B0604020202020204" pitchFamily="34" charset="0"/>
              <a:cs typeface="Arial" panose="020B0604020202020204" pitchFamily="34" charset="0"/>
            </a:endParaRPr>
          </a:p>
          <a:p>
            <a:pPr marL="457189" indent="-457189">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Describes HOW to execute the pipeline</a:t>
            </a:r>
            <a:endParaRPr lang="en-US" sz="2200" dirty="0">
              <a:latin typeface="Arial" panose="020B0604020202020204" pitchFamily="34" charset="0"/>
              <a:cs typeface="Arial" panose="020B0604020202020204" pitchFamily="34" charset="0"/>
            </a:endParaRPr>
          </a:p>
          <a:p>
            <a:pPr marL="457189" indent="-457189">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The intermediary between you and code</a:t>
            </a:r>
            <a:endParaRPr lang="en-US" sz="2200" dirty="0">
              <a:latin typeface="Arial" panose="020B0604020202020204" pitchFamily="34" charset="0"/>
              <a:cs typeface="Arial" panose="020B0604020202020204" pitchFamily="34" charset="0"/>
            </a:endParaRPr>
          </a:p>
        </p:txBody>
      </p:sp>
      <p:sp>
        <p:nvSpPr>
          <p:cNvPr id="34" name="Rectangle: Rounded Corners 33">
            <a:extLst>
              <a:ext uri="{FF2B5EF4-FFF2-40B4-BE49-F238E27FC236}">
                <a16:creationId xmlns:a16="http://schemas.microsoft.com/office/drawing/2014/main" id="{8BE36BFA-32E5-5757-4FCB-FB26F4F56F76}"/>
              </a:ext>
            </a:extLst>
          </p:cNvPr>
          <p:cNvSpPr/>
          <p:nvPr/>
        </p:nvSpPr>
        <p:spPr>
          <a:xfrm>
            <a:off x="560070" y="5810377"/>
            <a:ext cx="11071860" cy="732025"/>
          </a:xfrm>
          <a:prstGeom prst="roundRect">
            <a:avLst/>
          </a:prstGeom>
          <a:solidFill>
            <a:schemeClr val="bg1">
              <a:lumMod val="95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25A02E69-64D0-6543-36F3-58DFF1A8F807}"/>
              </a:ext>
            </a:extLst>
          </p:cNvPr>
          <p:cNvSpPr txBox="1"/>
          <p:nvPr/>
        </p:nvSpPr>
        <p:spPr>
          <a:xfrm>
            <a:off x="660941" y="5953125"/>
            <a:ext cx="10870119" cy="477054"/>
          </a:xfrm>
          <a:prstGeom prst="rect">
            <a:avLst/>
          </a:prstGeom>
          <a:noFill/>
        </p:spPr>
        <p:txBody>
          <a:bodyPr wrap="square">
            <a:spAutoFit/>
          </a:bodyPr>
          <a:lstStyle/>
          <a:p>
            <a:pPr algn="ctr" eaLnBrk="0" fontAlgn="base" hangingPunct="0">
              <a:spcBef>
                <a:spcPct val="0"/>
              </a:spcBef>
              <a:spcAft>
                <a:spcPct val="0"/>
              </a:spcAft>
            </a:pPr>
            <a:r>
              <a:rPr kumimoji="0" lang="en-US" altLang="en-US" sz="2500" b="0" i="0" u="none" strike="noStrike" cap="none" normalizeH="0" baseline="0" dirty="0">
                <a:ln>
                  <a:noFill/>
                </a:ln>
                <a:solidFill>
                  <a:schemeClr val="tx1"/>
                </a:solidFill>
                <a:effectLst/>
                <a:latin typeface="Arial" panose="020B0604020202020204" pitchFamily="34" charset="0"/>
              </a:rPr>
              <a:t>At the end of the day, </a:t>
            </a:r>
            <a:r>
              <a:rPr kumimoji="0" lang="en-US" altLang="en-US" sz="2500" b="1" i="0" u="none" strike="noStrike" cap="none" normalizeH="0" baseline="0" dirty="0">
                <a:ln>
                  <a:noFill/>
                </a:ln>
                <a:solidFill>
                  <a:schemeClr val="tx1"/>
                </a:solidFill>
                <a:effectLst/>
                <a:latin typeface="Arial" panose="020B0604020202020204" pitchFamily="34" charset="0"/>
              </a:rPr>
              <a:t>you are still the expert</a:t>
            </a:r>
            <a:r>
              <a:rPr kumimoji="0" lang="en-US" altLang="en-US" sz="2500" b="0" i="0" u="none" strike="noStrike" cap="none" normalizeH="0" baseline="0" dirty="0">
                <a:ln>
                  <a:noFill/>
                </a:ln>
                <a:solidFill>
                  <a:schemeClr val="tx1"/>
                </a:solidFill>
                <a:effectLst/>
                <a:latin typeface="Arial" panose="020B0604020202020204" pitchFamily="34" charset="0"/>
              </a:rPr>
              <a:t> making the decisions. </a:t>
            </a:r>
          </a:p>
        </p:txBody>
      </p:sp>
      <p:cxnSp>
        <p:nvCxnSpPr>
          <p:cNvPr id="33" name="Straight Arrow Connector 32">
            <a:extLst>
              <a:ext uri="{FF2B5EF4-FFF2-40B4-BE49-F238E27FC236}">
                <a16:creationId xmlns:a16="http://schemas.microsoft.com/office/drawing/2014/main" id="{3CBCE20E-17AA-7BF8-D47B-CF28BD791287}"/>
              </a:ext>
            </a:extLst>
          </p:cNvPr>
          <p:cNvCxnSpPr>
            <a:stCxn id="2" idx="3"/>
            <a:endCxn id="21" idx="1"/>
          </p:cNvCxnSpPr>
          <p:nvPr/>
        </p:nvCxnSpPr>
        <p:spPr>
          <a:xfrm>
            <a:off x="5552409" y="3537395"/>
            <a:ext cx="1081848" cy="0"/>
          </a:xfrm>
          <a:prstGeom prst="straightConnector1">
            <a:avLst/>
          </a:prstGeom>
          <a:ln w="57150">
            <a:solidFill>
              <a:srgbClr val="EAEAEA"/>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304282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5" grpId="0" animBg="1"/>
      <p:bldP spid="17" grpId="0" animBg="1"/>
      <p:bldP spid="20" grpId="0" animBg="1"/>
      <p:bldP spid="21" grpId="0" animBg="1"/>
      <p:bldP spid="26" grpId="0" animBg="1"/>
      <p:bldP spid="27" grpId="0" animBg="1"/>
      <p:bldP spid="28" grpId="0" animBg="1"/>
      <p:bldP spid="34" grpId="0" animBg="1"/>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5E82118-2726-0DEB-9DE0-3D6A17628A8E}"/>
              </a:ext>
            </a:extLst>
          </p:cNvPr>
          <p:cNvPicPr>
            <a:picLocks noChangeAspect="1"/>
          </p:cNvPicPr>
          <p:nvPr/>
        </p:nvPicPr>
        <p:blipFill>
          <a:blip r:embed="rId2"/>
          <a:stretch>
            <a:fillRect/>
          </a:stretch>
        </p:blipFill>
        <p:spPr>
          <a:xfrm>
            <a:off x="232707" y="1311442"/>
            <a:ext cx="11726586" cy="5098516"/>
          </a:xfrm>
          <a:prstGeom prst="rect">
            <a:avLst/>
          </a:prstGeom>
        </p:spPr>
      </p:pic>
      <p:sp>
        <p:nvSpPr>
          <p:cNvPr id="4" name="Text 0">
            <a:extLst>
              <a:ext uri="{FF2B5EF4-FFF2-40B4-BE49-F238E27FC236}">
                <a16:creationId xmlns:a16="http://schemas.microsoft.com/office/drawing/2014/main" id="{35E7A7D5-8BDA-49AD-0858-242B8364D454}"/>
              </a:ext>
            </a:extLst>
          </p:cNvPr>
          <p:cNvSpPr/>
          <p:nvPr/>
        </p:nvSpPr>
        <p:spPr>
          <a:xfrm>
            <a:off x="853440" y="195490"/>
            <a:ext cx="10363200" cy="853440"/>
          </a:xfrm>
          <a:prstGeom prst="rect">
            <a:avLst/>
          </a:prstGeom>
          <a:noFill/>
          <a:ln/>
        </p:spPr>
        <p:txBody>
          <a:bodyPr wrap="square" lIns="0" tIns="0" rIns="0" bIns="0" rtlCol="0" anchor="ctr"/>
          <a:lstStyle/>
          <a:p>
            <a:pPr algn="ctr" defTabSz="1219170"/>
            <a:r>
              <a:rPr lang="en-US" sz="4000" b="1" i="1" dirty="0">
                <a:solidFill>
                  <a:srgbClr val="7030A0"/>
                </a:solidFill>
                <a:latin typeface="Arial" panose="020B0604020202020204" pitchFamily="34" charset="0"/>
                <a:cs typeface="Arial" panose="020B0604020202020204" pitchFamily="34" charset="0"/>
              </a:rPr>
              <a:t>rules.md </a:t>
            </a:r>
            <a:r>
              <a:rPr lang="en-US" sz="4000" b="1" dirty="0">
                <a:solidFill>
                  <a:srgbClr val="7030A0"/>
                </a:solidFill>
                <a:latin typeface="Arial" panose="020B0604020202020204" pitchFamily="34" charset="0"/>
                <a:cs typeface="Arial" panose="020B0604020202020204" pitchFamily="34" charset="0"/>
              </a:rPr>
              <a:t>Starting Place</a:t>
            </a:r>
            <a:endParaRPr lang="en-US" sz="4000" dirty="0">
              <a:solidFill>
                <a:srgbClr val="7030A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F31F4AF8-58E5-1142-92E4-5C4BF9F42DD6}"/>
              </a:ext>
            </a:extLst>
          </p:cNvPr>
          <p:cNvSpPr txBox="1"/>
          <p:nvPr/>
        </p:nvSpPr>
        <p:spPr>
          <a:xfrm>
            <a:off x="6726621" y="2428796"/>
            <a:ext cx="3331779" cy="2862322"/>
          </a:xfrm>
          <a:prstGeom prst="rect">
            <a:avLst/>
          </a:prstGeom>
          <a:solidFill>
            <a:schemeClr val="bg1">
              <a:lumMod val="95000"/>
            </a:schemeClr>
          </a:solidFill>
        </p:spPr>
        <p:txBody>
          <a:bodyPr wrap="square" rtlCol="0">
            <a:spAutoFit/>
          </a:bodyPr>
          <a:lstStyle/>
          <a:p>
            <a:pPr algn="ctr"/>
            <a:r>
              <a:rPr lang="en-US" dirty="0"/>
              <a:t>We </a:t>
            </a:r>
            <a:r>
              <a:rPr lang="en-US" b="1" dirty="0"/>
              <a:t>do not </a:t>
            </a:r>
            <a:r>
              <a:rPr lang="en-US" dirty="0"/>
              <a:t>need to make any changes to the </a:t>
            </a:r>
            <a:r>
              <a:rPr lang="en-US" i="1" dirty="0"/>
              <a:t>rules.md </a:t>
            </a:r>
            <a:r>
              <a:rPr lang="en-US" dirty="0"/>
              <a:t>file for this activity. During future activities, we will be adding our own rules to this document and re-generate the </a:t>
            </a:r>
            <a:r>
              <a:rPr lang="en-US" i="1" dirty="0"/>
              <a:t>agents.md </a:t>
            </a:r>
            <a:r>
              <a:rPr lang="en-US" dirty="0"/>
              <a:t>file. For now, this is included as an example of how to structure the rules document as we build it up. </a:t>
            </a:r>
          </a:p>
        </p:txBody>
      </p:sp>
    </p:spTree>
    <p:extLst>
      <p:ext uri="{BB962C8B-B14F-4D97-AF65-F5344CB8AC3E}">
        <p14:creationId xmlns:p14="http://schemas.microsoft.com/office/powerpoint/2010/main" val="3782569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243840"/>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Prompting Your Agent</a:t>
            </a:r>
            <a:endParaRPr lang="en-US" sz="4000" dirty="0">
              <a:solidFill>
                <a:srgbClr val="7030A0"/>
              </a:solidFill>
              <a:latin typeface="Arial" panose="020B0604020202020204" pitchFamily="34" charset="0"/>
              <a:cs typeface="Arial" panose="020B0604020202020204" pitchFamily="34" charset="0"/>
            </a:endParaRPr>
          </a:p>
        </p:txBody>
      </p:sp>
      <p:sp>
        <p:nvSpPr>
          <p:cNvPr id="3" name="Text 1"/>
          <p:cNvSpPr/>
          <p:nvPr/>
        </p:nvSpPr>
        <p:spPr>
          <a:xfrm>
            <a:off x="853440" y="1280160"/>
            <a:ext cx="10363200" cy="487680"/>
          </a:xfrm>
          <a:prstGeom prst="rect">
            <a:avLst/>
          </a:prstGeom>
          <a:noFill/>
          <a:ln/>
        </p:spPr>
        <p:txBody>
          <a:bodyPr wrap="square" lIns="0" tIns="0" rIns="0" bIns="0" rtlCol="0" anchor="ctr"/>
          <a:lstStyle/>
          <a:p>
            <a:pPr defTabSz="1219170"/>
            <a:r>
              <a:rPr lang="en-US" sz="2000" dirty="0">
                <a:solidFill>
                  <a:srgbClr val="334155"/>
                </a:solidFill>
                <a:latin typeface="Arial" panose="020B0604020202020204" pitchFamily="34" charset="0"/>
                <a:ea typeface="Calibri" pitchFamily="34" charset="-122"/>
                <a:cs typeface="Arial" panose="020B0604020202020204" pitchFamily="34" charset="0"/>
              </a:rPr>
              <a:t>This activity will require two prompts: One to build the agent and one to generate code.</a:t>
            </a:r>
            <a:endParaRPr lang="en-US" sz="2000" dirty="0">
              <a:solidFill>
                <a:prstClr val="black"/>
              </a:solidFill>
              <a:latin typeface="Arial" panose="020B0604020202020204" pitchFamily="34" charset="0"/>
              <a:cs typeface="Arial" panose="020B0604020202020204" pitchFamily="34" charset="0"/>
            </a:endParaRPr>
          </a:p>
        </p:txBody>
      </p:sp>
      <p:sp>
        <p:nvSpPr>
          <p:cNvPr id="4" name="Text 2"/>
          <p:cNvSpPr/>
          <p:nvPr/>
        </p:nvSpPr>
        <p:spPr>
          <a:xfrm>
            <a:off x="853440" y="1889760"/>
            <a:ext cx="4876800" cy="365760"/>
          </a:xfrm>
          <a:prstGeom prst="rect">
            <a:avLst/>
          </a:prstGeom>
          <a:noFill/>
          <a:ln/>
        </p:spPr>
        <p:txBody>
          <a:bodyPr wrap="square" lIns="0" tIns="0" rIns="0" bIns="0" rtlCol="0" anchor="ctr"/>
          <a:lstStyle/>
          <a:p>
            <a:pPr defTabSz="1219170"/>
            <a:r>
              <a:rPr lang="en-US" sz="1600" b="1" u="sng" dirty="0">
                <a:solidFill>
                  <a:srgbClr val="0E9AA7"/>
                </a:solidFill>
                <a:latin typeface="Arial" panose="020B0604020202020204" pitchFamily="34" charset="0"/>
                <a:ea typeface="Trebuchet MS" pitchFamily="34" charset="-122"/>
                <a:cs typeface="Arial" panose="020B0604020202020204" pitchFamily="34" charset="0"/>
              </a:rPr>
              <a:t>Step 1</a:t>
            </a:r>
            <a:r>
              <a:rPr lang="en-US" sz="1600" b="1" dirty="0">
                <a:solidFill>
                  <a:srgbClr val="0E9AA7"/>
                </a:solidFill>
                <a:latin typeface="Arial" panose="020B0604020202020204" pitchFamily="34" charset="0"/>
                <a:ea typeface="Trebuchet MS" pitchFamily="34" charset="-122"/>
                <a:cs typeface="Arial" panose="020B0604020202020204" pitchFamily="34" charset="0"/>
              </a:rPr>
              <a:t>: Generate the agent</a:t>
            </a:r>
            <a:endParaRPr lang="en-US" sz="1600" dirty="0">
              <a:solidFill>
                <a:prstClr val="black"/>
              </a:solidFill>
              <a:latin typeface="Arial" panose="020B0604020202020204" pitchFamily="34" charset="0"/>
              <a:cs typeface="Arial" panose="020B0604020202020204" pitchFamily="34" charset="0"/>
            </a:endParaRPr>
          </a:p>
        </p:txBody>
      </p:sp>
      <p:sp>
        <p:nvSpPr>
          <p:cNvPr id="5" name="Shape 3"/>
          <p:cNvSpPr/>
          <p:nvPr/>
        </p:nvSpPr>
        <p:spPr>
          <a:xfrm>
            <a:off x="853440" y="2255520"/>
            <a:ext cx="10485120" cy="1219200"/>
          </a:xfrm>
          <a:prstGeom prst="rect">
            <a:avLst/>
          </a:prstGeom>
          <a:solidFill>
            <a:srgbClr val="1E293B"/>
          </a:solidFill>
          <a:ln/>
          <a:effectLst>
            <a:outerShdw blurRad="50800" dist="25400" dir="8100000" algn="bl" rotWithShape="0">
              <a:srgbClr val="000000">
                <a:alpha val="10000"/>
              </a:srgbClr>
            </a:outerShdw>
          </a:effectLst>
        </p:spPr>
        <p:txBody>
          <a:bodyPr/>
          <a:lstStyle/>
          <a:p>
            <a:pPr defTabSz="1219170"/>
            <a:endParaRPr lang="en-US" sz="2400">
              <a:solidFill>
                <a:prstClr val="black"/>
              </a:solidFill>
              <a:latin typeface="Calibri" panose="020F0502020204030204"/>
            </a:endParaRPr>
          </a:p>
        </p:txBody>
      </p:sp>
      <p:sp>
        <p:nvSpPr>
          <p:cNvPr id="6" name="Text 4"/>
          <p:cNvSpPr/>
          <p:nvPr/>
        </p:nvSpPr>
        <p:spPr>
          <a:xfrm>
            <a:off x="1097280" y="2429990"/>
            <a:ext cx="9997440" cy="853440"/>
          </a:xfrm>
          <a:prstGeom prst="rect">
            <a:avLst/>
          </a:prstGeom>
          <a:noFill/>
          <a:ln/>
        </p:spPr>
        <p:txBody>
          <a:bodyPr wrap="square" lIns="0" tIns="0" rIns="0" bIns="0" rtlCol="0" anchor="ctr"/>
          <a:lstStyle/>
          <a:p>
            <a:pPr defTabSz="1219170"/>
            <a:r>
              <a:rPr lang="en-US" sz="1733" dirty="0">
                <a:solidFill>
                  <a:srgbClr val="E2E8F0"/>
                </a:solidFill>
                <a:latin typeface="Consolas" pitchFamily="34" charset="0"/>
                <a:ea typeface="Consolas" pitchFamily="34" charset="-122"/>
                <a:cs typeface="Consolas" pitchFamily="34" charset="-120"/>
              </a:rPr>
              <a:t>Using </a:t>
            </a:r>
            <a:r>
              <a:rPr lang="en-US" sz="1733" b="1" dirty="0">
                <a:solidFill>
                  <a:srgbClr val="45BF8E"/>
                </a:solidFill>
                <a:latin typeface="Consolas" pitchFamily="34" charset="0"/>
                <a:ea typeface="Consolas" pitchFamily="34" charset="-122"/>
                <a:cs typeface="Consolas" pitchFamily="34" charset="-120"/>
              </a:rPr>
              <a:t>rules.md</a:t>
            </a:r>
            <a:r>
              <a:rPr lang="en-US" sz="1733" dirty="0">
                <a:solidFill>
                  <a:srgbClr val="E2E8F0"/>
                </a:solidFill>
                <a:latin typeface="Consolas" pitchFamily="34" charset="0"/>
                <a:ea typeface="Consolas" pitchFamily="34" charset="-122"/>
                <a:cs typeface="Consolas" pitchFamily="34" charset="-120"/>
              </a:rPr>
              <a:t>, generate an agent file and save it as </a:t>
            </a:r>
            <a:r>
              <a:rPr lang="en-US" sz="1733" b="1" dirty="0">
                <a:solidFill>
                  <a:srgbClr val="FCA5A5"/>
                </a:solidFill>
                <a:latin typeface="Consolas" pitchFamily="34" charset="0"/>
                <a:ea typeface="Consolas" pitchFamily="34" charset="-122"/>
                <a:cs typeface="Consolas" pitchFamily="34" charset="-120"/>
              </a:rPr>
              <a:t>agents.md</a:t>
            </a:r>
            <a:endParaRPr lang="en-US" sz="1733" dirty="0">
              <a:solidFill>
                <a:prstClr val="black"/>
              </a:solidFill>
              <a:latin typeface="Calibri" panose="020F0502020204030204"/>
            </a:endParaRPr>
          </a:p>
        </p:txBody>
      </p:sp>
      <p:sp>
        <p:nvSpPr>
          <p:cNvPr id="7" name="Text 5"/>
          <p:cNvSpPr/>
          <p:nvPr/>
        </p:nvSpPr>
        <p:spPr>
          <a:xfrm>
            <a:off x="853440" y="3718560"/>
            <a:ext cx="4876800" cy="365760"/>
          </a:xfrm>
          <a:prstGeom prst="rect">
            <a:avLst/>
          </a:prstGeom>
          <a:noFill/>
          <a:ln/>
        </p:spPr>
        <p:txBody>
          <a:bodyPr wrap="square" lIns="0" tIns="0" rIns="0" bIns="0" rtlCol="0" anchor="ctr"/>
          <a:lstStyle/>
          <a:p>
            <a:pPr defTabSz="1219170"/>
            <a:r>
              <a:rPr lang="en-US" sz="1600" b="1" u="sng" dirty="0">
                <a:solidFill>
                  <a:srgbClr val="0E9AA7"/>
                </a:solidFill>
                <a:latin typeface="Arial" panose="020B0604020202020204" pitchFamily="34" charset="0"/>
                <a:ea typeface="Trebuchet MS" pitchFamily="34" charset="-122"/>
                <a:cs typeface="Arial" panose="020B0604020202020204" pitchFamily="34" charset="0"/>
              </a:rPr>
              <a:t>Step 2</a:t>
            </a:r>
            <a:r>
              <a:rPr lang="en-US" sz="1600" b="1" dirty="0">
                <a:solidFill>
                  <a:srgbClr val="0E9AA7"/>
                </a:solidFill>
                <a:latin typeface="Arial" panose="020B0604020202020204" pitchFamily="34" charset="0"/>
                <a:ea typeface="Trebuchet MS" pitchFamily="34" charset="-122"/>
                <a:cs typeface="Arial" panose="020B0604020202020204" pitchFamily="34" charset="0"/>
              </a:rPr>
              <a:t>: Generate the R script</a:t>
            </a:r>
            <a:endParaRPr lang="en-US" sz="1600" dirty="0">
              <a:solidFill>
                <a:prstClr val="black"/>
              </a:solidFill>
              <a:latin typeface="Arial" panose="020B0604020202020204" pitchFamily="34" charset="0"/>
              <a:cs typeface="Arial" panose="020B0604020202020204" pitchFamily="34" charset="0"/>
            </a:endParaRPr>
          </a:p>
        </p:txBody>
      </p:sp>
      <p:sp>
        <p:nvSpPr>
          <p:cNvPr id="8" name="Shape 6"/>
          <p:cNvSpPr/>
          <p:nvPr/>
        </p:nvSpPr>
        <p:spPr>
          <a:xfrm>
            <a:off x="853440" y="4084320"/>
            <a:ext cx="10485120" cy="1219200"/>
          </a:xfrm>
          <a:prstGeom prst="rect">
            <a:avLst/>
          </a:prstGeom>
          <a:solidFill>
            <a:srgbClr val="1E293B"/>
          </a:solidFill>
          <a:ln/>
          <a:effectLst>
            <a:outerShdw blurRad="50800" dist="25400" dir="8100000" algn="bl" rotWithShape="0">
              <a:srgbClr val="000000">
                <a:alpha val="10000"/>
              </a:srgbClr>
            </a:outerShdw>
          </a:effectLst>
        </p:spPr>
        <p:txBody>
          <a:bodyPr/>
          <a:lstStyle/>
          <a:p>
            <a:pPr defTabSz="1219170"/>
            <a:endParaRPr lang="en-US" sz="2400">
              <a:solidFill>
                <a:prstClr val="black"/>
              </a:solidFill>
              <a:latin typeface="Calibri" panose="020F0502020204030204"/>
            </a:endParaRPr>
          </a:p>
        </p:txBody>
      </p:sp>
      <p:sp>
        <p:nvSpPr>
          <p:cNvPr id="9" name="Text 7"/>
          <p:cNvSpPr/>
          <p:nvPr/>
        </p:nvSpPr>
        <p:spPr>
          <a:xfrm>
            <a:off x="1097280" y="4269300"/>
            <a:ext cx="9997440" cy="853440"/>
          </a:xfrm>
          <a:prstGeom prst="rect">
            <a:avLst/>
          </a:prstGeom>
          <a:noFill/>
          <a:ln/>
        </p:spPr>
        <p:txBody>
          <a:bodyPr wrap="square" lIns="0" tIns="0" rIns="0" bIns="0" rtlCol="0" anchor="ctr"/>
          <a:lstStyle/>
          <a:p>
            <a:pPr defTabSz="1219170"/>
            <a:r>
              <a:rPr lang="en-US" sz="1733" dirty="0">
                <a:solidFill>
                  <a:srgbClr val="E2E8F0"/>
                </a:solidFill>
                <a:latin typeface="Consolas" pitchFamily="34" charset="0"/>
                <a:ea typeface="Consolas" pitchFamily="34" charset="-122"/>
                <a:cs typeface="Consolas" pitchFamily="34" charset="-120"/>
              </a:rPr>
              <a:t>Using </a:t>
            </a:r>
            <a:r>
              <a:rPr lang="en-US" sz="1733" b="1" dirty="0">
                <a:solidFill>
                  <a:srgbClr val="FCA5A5"/>
                </a:solidFill>
                <a:latin typeface="Consolas" pitchFamily="34" charset="0"/>
                <a:ea typeface="Consolas" pitchFamily="34" charset="-122"/>
                <a:cs typeface="Consolas" pitchFamily="34" charset="-120"/>
              </a:rPr>
              <a:t>agents.md</a:t>
            </a:r>
            <a:r>
              <a:rPr lang="en-US" sz="1733" dirty="0">
                <a:solidFill>
                  <a:srgbClr val="E2E8F0"/>
                </a:solidFill>
                <a:latin typeface="Consolas" pitchFamily="34" charset="0"/>
                <a:ea typeface="Consolas" pitchFamily="34" charset="-122"/>
                <a:cs typeface="Consolas" pitchFamily="34" charset="-120"/>
              </a:rPr>
              <a:t>, generate a Data Cleaning script and save as </a:t>
            </a:r>
            <a:r>
              <a:rPr lang="en-US" sz="1733" b="1" dirty="0">
                <a:solidFill>
                  <a:srgbClr val="7DD3FC"/>
                </a:solidFill>
                <a:latin typeface="Consolas" pitchFamily="34" charset="0"/>
                <a:ea typeface="Consolas" pitchFamily="34" charset="-122"/>
                <a:cs typeface="Consolas" pitchFamily="34" charset="-120"/>
              </a:rPr>
              <a:t>scripts/01_cleaning.R</a:t>
            </a:r>
            <a:endParaRPr lang="en-US" sz="1733" dirty="0">
              <a:solidFill>
                <a:prstClr val="black"/>
              </a:solidFill>
              <a:latin typeface="Calibri" panose="020F0502020204030204"/>
            </a:endParaRPr>
          </a:p>
        </p:txBody>
      </p:sp>
      <p:sp>
        <p:nvSpPr>
          <p:cNvPr id="10" name="Shape 8"/>
          <p:cNvSpPr/>
          <p:nvPr/>
        </p:nvSpPr>
        <p:spPr>
          <a:xfrm>
            <a:off x="853440" y="5608320"/>
            <a:ext cx="10485120" cy="853440"/>
          </a:xfrm>
          <a:prstGeom prst="rect">
            <a:avLst/>
          </a:prstGeom>
          <a:solidFill>
            <a:srgbClr val="F0F4F8"/>
          </a:solidFill>
          <a:ln/>
          <a:effectLst>
            <a:outerShdw blurRad="50800" dist="25400" dir="8100000" algn="bl" rotWithShape="0">
              <a:srgbClr val="000000">
                <a:alpha val="10000"/>
              </a:srgbClr>
            </a:outerShdw>
          </a:effectLst>
        </p:spPr>
        <p:txBody>
          <a:bodyPr/>
          <a:lstStyle/>
          <a:p>
            <a:pPr defTabSz="1219170"/>
            <a:endParaRPr lang="en-US" sz="2400">
              <a:solidFill>
                <a:prstClr val="black"/>
              </a:solidFill>
              <a:latin typeface="Calibri" panose="020F0502020204030204"/>
            </a:endParaRPr>
          </a:p>
        </p:txBody>
      </p:sp>
      <p:sp>
        <p:nvSpPr>
          <p:cNvPr id="11" name="Text 9"/>
          <p:cNvSpPr/>
          <p:nvPr/>
        </p:nvSpPr>
        <p:spPr>
          <a:xfrm>
            <a:off x="1097280" y="5669280"/>
            <a:ext cx="9997440" cy="731520"/>
          </a:xfrm>
          <a:prstGeom prst="rect">
            <a:avLst/>
          </a:prstGeom>
          <a:noFill/>
          <a:ln/>
        </p:spPr>
        <p:txBody>
          <a:bodyPr wrap="square" lIns="0" tIns="0" rIns="0" bIns="0" rtlCol="0" anchor="ctr"/>
          <a:lstStyle/>
          <a:p>
            <a:pPr defTabSz="1219170"/>
            <a:r>
              <a:rPr lang="en-US" i="1" dirty="0">
                <a:solidFill>
                  <a:srgbClr val="334155"/>
                </a:solidFill>
                <a:latin typeface="Arial" panose="020B0604020202020204" pitchFamily="34" charset="0"/>
                <a:ea typeface="Calibri" pitchFamily="34" charset="-122"/>
                <a:cs typeface="Arial" panose="020B0604020202020204" pitchFamily="34" charset="0"/>
              </a:rPr>
              <a:t>The rules doc is what YOU control.  The agent is what the AI builds from it.  The scripts are what the agent produces.</a:t>
            </a:r>
            <a:endParaRPr lang="en-US" dirty="0">
              <a:solidFill>
                <a:prstClr val="black"/>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CE0A0A8-5578-6FE2-E954-4AB133BB7B07}"/>
              </a:ext>
            </a:extLst>
          </p:cNvPr>
          <p:cNvSpPr/>
          <p:nvPr/>
        </p:nvSpPr>
        <p:spPr>
          <a:xfrm>
            <a:off x="853440" y="191997"/>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cs typeface="Arial" panose="020B0604020202020204" pitchFamily="34" charset="0"/>
              </a:rPr>
              <a:t>Some Tips</a:t>
            </a:r>
            <a:endParaRPr lang="en-US" sz="4000" dirty="0">
              <a:solidFill>
                <a:srgbClr val="7030A0"/>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D2953918-2088-5187-6AE4-D44501979757}"/>
              </a:ext>
            </a:extLst>
          </p:cNvPr>
          <p:cNvPicPr>
            <a:picLocks noChangeAspect="1"/>
          </p:cNvPicPr>
          <p:nvPr/>
        </p:nvPicPr>
        <p:blipFill>
          <a:blip r:embed="rId2"/>
          <a:stretch>
            <a:fillRect/>
          </a:stretch>
        </p:blipFill>
        <p:spPr>
          <a:xfrm>
            <a:off x="777229" y="1326480"/>
            <a:ext cx="3686689" cy="2067213"/>
          </a:xfrm>
          <a:prstGeom prst="rect">
            <a:avLst/>
          </a:prstGeom>
        </p:spPr>
      </p:pic>
      <p:pic>
        <p:nvPicPr>
          <p:cNvPr id="6" name="Picture 5">
            <a:extLst>
              <a:ext uri="{FF2B5EF4-FFF2-40B4-BE49-F238E27FC236}">
                <a16:creationId xmlns:a16="http://schemas.microsoft.com/office/drawing/2014/main" id="{BA205079-6FA8-2F09-FEE7-35380CDA4192}"/>
              </a:ext>
            </a:extLst>
          </p:cNvPr>
          <p:cNvPicPr>
            <a:picLocks noChangeAspect="1"/>
          </p:cNvPicPr>
          <p:nvPr/>
        </p:nvPicPr>
        <p:blipFill>
          <a:blip r:embed="rId3"/>
          <a:stretch>
            <a:fillRect/>
          </a:stretch>
        </p:blipFill>
        <p:spPr>
          <a:xfrm>
            <a:off x="963561" y="3586245"/>
            <a:ext cx="3315992" cy="2806527"/>
          </a:xfrm>
          <a:prstGeom prst="rect">
            <a:avLst/>
          </a:prstGeom>
        </p:spPr>
      </p:pic>
      <p:sp>
        <p:nvSpPr>
          <p:cNvPr id="7" name="TextBox 6">
            <a:extLst>
              <a:ext uri="{FF2B5EF4-FFF2-40B4-BE49-F238E27FC236}">
                <a16:creationId xmlns:a16="http://schemas.microsoft.com/office/drawing/2014/main" id="{A4B54803-9BB1-2113-37AF-C284627EF967}"/>
              </a:ext>
            </a:extLst>
          </p:cNvPr>
          <p:cNvSpPr txBox="1"/>
          <p:nvPr/>
        </p:nvSpPr>
        <p:spPr>
          <a:xfrm>
            <a:off x="4982043" y="1482923"/>
            <a:ext cx="6628431" cy="1754326"/>
          </a:xfrm>
          <a:prstGeom prst="rect">
            <a:avLst/>
          </a:prstGeom>
          <a:solidFill>
            <a:schemeClr val="bg1"/>
          </a:solidFill>
          <a:ln w="57150">
            <a:solidFill>
              <a:schemeClr val="tx1"/>
            </a:solidFill>
          </a:ln>
        </p:spPr>
        <p:txBody>
          <a:bodyPr wrap="square" rtlCol="0">
            <a:spAutoFit/>
          </a:bodyPr>
          <a:lstStyle/>
          <a:p>
            <a:pPr algn="ctr"/>
            <a:r>
              <a:rPr lang="en-US" dirty="0"/>
              <a:t>Each time we make a change to a file via the integrated AI, the changes made from file version to file version are tracked. Each time you make a change, you will want to see what the AI did, and if happy with the change, click </a:t>
            </a:r>
            <a:r>
              <a:rPr lang="en-US" b="1" dirty="0"/>
              <a:t>Keep</a:t>
            </a:r>
            <a:r>
              <a:rPr lang="en-US" dirty="0"/>
              <a:t>. This will change the file in your working directory to match that with the changes made by the AI.</a:t>
            </a:r>
          </a:p>
        </p:txBody>
      </p:sp>
      <p:sp>
        <p:nvSpPr>
          <p:cNvPr id="8" name="TextBox 7">
            <a:extLst>
              <a:ext uri="{FF2B5EF4-FFF2-40B4-BE49-F238E27FC236}">
                <a16:creationId xmlns:a16="http://schemas.microsoft.com/office/drawing/2014/main" id="{FC6693F0-68A4-2F26-D899-FE006835828E}"/>
              </a:ext>
            </a:extLst>
          </p:cNvPr>
          <p:cNvSpPr txBox="1"/>
          <p:nvPr/>
        </p:nvSpPr>
        <p:spPr>
          <a:xfrm>
            <a:off x="4982042" y="4165390"/>
            <a:ext cx="6628431" cy="1754326"/>
          </a:xfrm>
          <a:prstGeom prst="rect">
            <a:avLst/>
          </a:prstGeom>
          <a:solidFill>
            <a:schemeClr val="bg1"/>
          </a:solidFill>
          <a:ln w="57150">
            <a:solidFill>
              <a:schemeClr val="tx1"/>
            </a:solidFill>
          </a:ln>
        </p:spPr>
        <p:txBody>
          <a:bodyPr wrap="square" rtlCol="0">
            <a:spAutoFit/>
          </a:bodyPr>
          <a:lstStyle/>
          <a:p>
            <a:pPr algn="ctr"/>
            <a:r>
              <a:rPr lang="en-US" dirty="0"/>
              <a:t>The AI may try to run the code directly within the chat window. This can be buggy at times, so we suggest skipping this suggestion and running locally (via the editor window). If you decide to run via the chat window, you may be given a series of prompts until R is found on your local machine. To skip and run locally, click </a:t>
            </a:r>
            <a:r>
              <a:rPr lang="en-US" b="1" dirty="0"/>
              <a:t>Skip</a:t>
            </a:r>
            <a:r>
              <a:rPr lang="en-US" dirty="0"/>
              <a:t>. </a:t>
            </a:r>
          </a:p>
        </p:txBody>
      </p:sp>
    </p:spTree>
    <p:extLst>
      <p:ext uri="{BB962C8B-B14F-4D97-AF65-F5344CB8AC3E}">
        <p14:creationId xmlns:p14="http://schemas.microsoft.com/office/powerpoint/2010/main" val="1400439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30A78E0-743E-B87F-6849-532CE73E3024}"/>
              </a:ext>
            </a:extLst>
          </p:cNvPr>
          <p:cNvSpPr/>
          <p:nvPr/>
        </p:nvSpPr>
        <p:spPr>
          <a:xfrm>
            <a:off x="853440" y="137894"/>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dirty="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DEEBAA79-8517-E6A8-B34D-D0D181F0B288}"/>
              </a:ext>
            </a:extLst>
          </p:cNvPr>
          <p:cNvSpPr/>
          <p:nvPr/>
        </p:nvSpPr>
        <p:spPr>
          <a:xfrm>
            <a:off x="1111994" y="2347907"/>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CC8E3E80-482C-656F-AA63-3F6DE4553B50}"/>
              </a:ext>
            </a:extLst>
          </p:cNvPr>
          <p:cNvSpPr/>
          <p:nvPr/>
        </p:nvSpPr>
        <p:spPr>
          <a:xfrm>
            <a:off x="1111994" y="2347907"/>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5" name="Text 4">
            <a:extLst>
              <a:ext uri="{FF2B5EF4-FFF2-40B4-BE49-F238E27FC236}">
                <a16:creationId xmlns:a16="http://schemas.microsoft.com/office/drawing/2014/main" id="{EBD04F2E-E14E-03AE-5B61-7C444ED253AA}"/>
              </a:ext>
            </a:extLst>
          </p:cNvPr>
          <p:cNvSpPr/>
          <p:nvPr/>
        </p:nvSpPr>
        <p:spPr>
          <a:xfrm>
            <a:off x="1782554" y="2286001"/>
            <a:ext cx="9144000" cy="607709"/>
          </a:xfrm>
          <a:prstGeom prst="rect">
            <a:avLst/>
          </a:prstGeom>
          <a:noFill/>
          <a:ln/>
        </p:spPr>
        <p:txBody>
          <a:bodyPr wrap="square" lIns="0" tIns="0" rIns="0" bIns="0" rtlCol="0" anchor="ctr"/>
          <a:lstStyle/>
          <a:p>
            <a:pPr lvl="0" defTabSz="1219170"/>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Open the project folder and double check that it contains </a:t>
            </a:r>
            <a:r>
              <a:rPr lang="en-US" sz="2000" i="1" dirty="0">
                <a:latin typeface="Arial" panose="020B0604020202020204" pitchFamily="34" charset="0"/>
                <a:ea typeface="Calibri" pitchFamily="34" charset="-122"/>
                <a:cs typeface="Arial" panose="020B0604020202020204" pitchFamily="34" charset="0"/>
              </a:rPr>
              <a:t>data/Weekly Hospital Respiratory Data (HRD) Metrics by Jurisdiction.csv</a:t>
            </a:r>
            <a:endParaRPr kumimoji="0" lang="en-US" sz="2000" b="0" i="1"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6" name="Shape 5">
            <a:extLst>
              <a:ext uri="{FF2B5EF4-FFF2-40B4-BE49-F238E27FC236}">
                <a16:creationId xmlns:a16="http://schemas.microsoft.com/office/drawing/2014/main" id="{15829C53-03D6-1569-546B-4E2437563B2C}"/>
              </a:ext>
            </a:extLst>
          </p:cNvPr>
          <p:cNvSpPr/>
          <p:nvPr/>
        </p:nvSpPr>
        <p:spPr>
          <a:xfrm>
            <a:off x="1101481" y="3228860"/>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49F32C4E-621C-03F1-0A91-E0DBD9984CCB}"/>
              </a:ext>
            </a:extLst>
          </p:cNvPr>
          <p:cNvSpPr/>
          <p:nvPr/>
        </p:nvSpPr>
        <p:spPr>
          <a:xfrm>
            <a:off x="1101481" y="3228860"/>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0C00A2FC-6858-672F-BD70-95BA21BAD6DC}"/>
              </a:ext>
            </a:extLst>
          </p:cNvPr>
          <p:cNvSpPr/>
          <p:nvPr/>
        </p:nvSpPr>
        <p:spPr>
          <a:xfrm>
            <a:off x="1772041" y="3228859"/>
            <a:ext cx="9144000" cy="526147"/>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Open the </a:t>
            </a:r>
            <a:r>
              <a:rPr kumimoji="0" lang="en-US" sz="2000" b="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rules.md file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and read </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Data Cleaning Rules</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Make sure all rules match those specified on the earlier slide. If you have any questions, please let us know. </a:t>
            </a:r>
            <a:endParaRPr kumimoji="0" lang="en-US" sz="2000" b="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C69F5978-29E5-0397-3B78-FF0541394485}"/>
              </a:ext>
            </a:extLst>
          </p:cNvPr>
          <p:cNvSpPr/>
          <p:nvPr/>
        </p:nvSpPr>
        <p:spPr>
          <a:xfrm>
            <a:off x="1111994" y="4090156"/>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B30FF4D9-1D72-47B9-ED32-64B0595DB4C0}"/>
              </a:ext>
            </a:extLst>
          </p:cNvPr>
          <p:cNvSpPr/>
          <p:nvPr/>
        </p:nvSpPr>
        <p:spPr>
          <a:xfrm>
            <a:off x="1111994" y="4090156"/>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1" name="Text 10">
            <a:extLst>
              <a:ext uri="{FF2B5EF4-FFF2-40B4-BE49-F238E27FC236}">
                <a16:creationId xmlns:a16="http://schemas.microsoft.com/office/drawing/2014/main" id="{87164228-EED9-2290-18BA-B80C7E76CF86}"/>
              </a:ext>
            </a:extLst>
          </p:cNvPr>
          <p:cNvSpPr/>
          <p:nvPr/>
        </p:nvSpPr>
        <p:spPr>
          <a:xfrm>
            <a:off x="1782554" y="4090156"/>
            <a:ext cx="9144000" cy="463296"/>
          </a:xfrm>
          <a:prstGeom prst="rect">
            <a:avLst/>
          </a:prstGeom>
          <a:noFill/>
          <a:ln/>
        </p:spPr>
        <p:txBody>
          <a:bodyPr wrap="square" lIns="0" tIns="0" rIns="0" bIns="0" rtlCol="0" anchor="ctr"/>
          <a:lstStyle/>
          <a:p>
            <a:pPr lvl="0" defTabSz="1219170">
              <a:defRPr/>
            </a:pP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Prompt Copilot </a:t>
            </a:r>
            <a:r>
              <a:rPr lang="en-US" sz="2000" dirty="0">
                <a:latin typeface="Arial" panose="020B0604020202020204" pitchFamily="34" charset="0"/>
                <a:ea typeface="Calibri" pitchFamily="34" charset="-122"/>
                <a:cs typeface="Arial" panose="020B0604020202020204" pitchFamily="34" charset="0"/>
              </a:rPr>
              <a:t>(or AI of your choosing)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generate the </a:t>
            </a:r>
            <a:r>
              <a:rPr kumimoji="0" lang="en-US" sz="2000" b="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agents.md</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from the rules document</a:t>
            </a:r>
            <a:r>
              <a:rPr lang="en-US" sz="2000" dirty="0">
                <a:latin typeface="Arial" panose="020B0604020202020204" pitchFamily="34" charset="0"/>
                <a:ea typeface="Calibri" pitchFamily="34" charset="-122"/>
                <a:cs typeface="Arial" panose="020B0604020202020204" pitchFamily="34" charset="0"/>
              </a:rPr>
              <a:t> (</a:t>
            </a:r>
            <a:r>
              <a:rPr lang="en-US" sz="2000" b="1" dirty="0">
                <a:latin typeface="Arial" panose="020B0604020202020204" pitchFamily="34" charset="0"/>
                <a:ea typeface="Calibri" pitchFamily="34" charset="-122"/>
                <a:cs typeface="Arial" panose="020B0604020202020204" pitchFamily="34" charset="0"/>
              </a:rPr>
              <a:t>Hint: </a:t>
            </a:r>
            <a:r>
              <a:rPr lang="en-US" sz="2000" dirty="0">
                <a:latin typeface="Arial" panose="020B0604020202020204" pitchFamily="34" charset="0"/>
                <a:ea typeface="Calibri" pitchFamily="34" charset="-122"/>
                <a:cs typeface="Arial" panose="020B0604020202020204" pitchFamily="34" charset="0"/>
              </a:rPr>
              <a:t>copy the </a:t>
            </a:r>
            <a:r>
              <a:rPr lang="en-US" sz="2000" u="sng" dirty="0">
                <a:latin typeface="Arial" panose="020B0604020202020204" pitchFamily="34" charset="0"/>
                <a:ea typeface="Calibri" pitchFamily="34" charset="-122"/>
                <a:cs typeface="Arial" panose="020B0604020202020204" pitchFamily="34" charset="0"/>
              </a:rPr>
              <a:t>Step 1</a:t>
            </a:r>
            <a:r>
              <a:rPr lang="en-US" sz="2000" dirty="0">
                <a:latin typeface="Arial" panose="020B0604020202020204" pitchFamily="34" charset="0"/>
                <a:ea typeface="Calibri" pitchFamily="34" charset="-122"/>
                <a:cs typeface="Arial" panose="020B0604020202020204" pitchFamily="34" charset="0"/>
              </a:rPr>
              <a:t> prompt from Slide 9).</a:t>
            </a:r>
            <a:endParaRPr kumimoji="0" lang="en-US" sz="2000"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12" name="Shape 11">
            <a:extLst>
              <a:ext uri="{FF2B5EF4-FFF2-40B4-BE49-F238E27FC236}">
                <a16:creationId xmlns:a16="http://schemas.microsoft.com/office/drawing/2014/main" id="{A1BA130A-23BE-4AAC-0FEE-887AF4C3E4DF}"/>
              </a:ext>
            </a:extLst>
          </p:cNvPr>
          <p:cNvSpPr/>
          <p:nvPr/>
        </p:nvSpPr>
        <p:spPr>
          <a:xfrm>
            <a:off x="1111994" y="4888602"/>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12">
            <a:extLst>
              <a:ext uri="{FF2B5EF4-FFF2-40B4-BE49-F238E27FC236}">
                <a16:creationId xmlns:a16="http://schemas.microsoft.com/office/drawing/2014/main" id="{1DB12B9E-447A-F2AA-978E-19D4C33F2820}"/>
              </a:ext>
            </a:extLst>
          </p:cNvPr>
          <p:cNvSpPr/>
          <p:nvPr/>
        </p:nvSpPr>
        <p:spPr>
          <a:xfrm>
            <a:off x="1111994" y="4888602"/>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4</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1E792020-C6AD-9A45-CB84-9F1CAD79403E}"/>
              </a:ext>
            </a:extLst>
          </p:cNvPr>
          <p:cNvSpPr/>
          <p:nvPr/>
        </p:nvSpPr>
        <p:spPr>
          <a:xfrm>
            <a:off x="1782554" y="4888602"/>
            <a:ext cx="9144000" cy="463296"/>
          </a:xfrm>
          <a:prstGeom prst="rect">
            <a:avLst/>
          </a:prstGeom>
          <a:noFill/>
          <a:ln/>
        </p:spPr>
        <p:txBody>
          <a:bodyPr wrap="square" lIns="0" tIns="0" rIns="0" bIns="0" rtlCol="0" anchor="ctr"/>
          <a:lstStyle/>
          <a:p>
            <a:pPr lvl="0" defTabSz="1219170">
              <a:defRPr/>
            </a:pP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sz="2000" b="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agents.md</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a:t>
            </a:r>
            <a:r>
              <a:rPr lang="en-US" sz="2000" dirty="0">
                <a:latin typeface="Arial" panose="020B0604020202020204" pitchFamily="34" charset="0"/>
                <a:ea typeface="Calibri" pitchFamily="34" charset="-122"/>
                <a:cs typeface="Arial" panose="020B0604020202020204" pitchFamily="34" charset="0"/>
              </a:rPr>
              <a:t>(or AI of your choosing)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generate </a:t>
            </a:r>
            <a:r>
              <a:rPr kumimoji="0" lang="en-US" sz="2000" b="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scripts/01_cleaning.R</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t>
            </a:r>
            <a:r>
              <a:rPr lang="en-US" sz="2000" b="1" dirty="0">
                <a:latin typeface="Arial" panose="020B0604020202020204" pitchFamily="34" charset="0"/>
                <a:ea typeface="Calibri" pitchFamily="34" charset="-122"/>
                <a:cs typeface="Arial" panose="020B0604020202020204" pitchFamily="34" charset="0"/>
              </a:rPr>
              <a:t>Hint: </a:t>
            </a:r>
            <a:r>
              <a:rPr lang="en-US" sz="2000" dirty="0">
                <a:latin typeface="Arial" panose="020B0604020202020204" pitchFamily="34" charset="0"/>
                <a:ea typeface="Calibri" pitchFamily="34" charset="-122"/>
                <a:cs typeface="Arial" panose="020B0604020202020204" pitchFamily="34" charset="0"/>
              </a:rPr>
              <a:t>copy the </a:t>
            </a:r>
            <a:r>
              <a:rPr lang="en-US" sz="2000" u="sng" dirty="0">
                <a:latin typeface="Arial" panose="020B0604020202020204" pitchFamily="34" charset="0"/>
                <a:ea typeface="Calibri" pitchFamily="34" charset="-122"/>
                <a:cs typeface="Arial" panose="020B0604020202020204" pitchFamily="34" charset="0"/>
              </a:rPr>
              <a:t>Step 2</a:t>
            </a:r>
            <a:r>
              <a:rPr lang="en-US" sz="2000" dirty="0">
                <a:latin typeface="Arial" panose="020B0604020202020204" pitchFamily="34" charset="0"/>
                <a:ea typeface="Calibri" pitchFamily="34" charset="-122"/>
                <a:cs typeface="Arial" panose="020B0604020202020204" pitchFamily="34" charset="0"/>
              </a:rPr>
              <a:t> prompt from Slide 9).</a:t>
            </a:r>
            <a:endParaRPr kumimoji="0" lang="en-US" sz="2000" b="0" i="1"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15" name="Shape 14">
            <a:extLst>
              <a:ext uri="{FF2B5EF4-FFF2-40B4-BE49-F238E27FC236}">
                <a16:creationId xmlns:a16="http://schemas.microsoft.com/office/drawing/2014/main" id="{1440B5C5-99F6-E1E1-7686-65509252E43A}"/>
              </a:ext>
            </a:extLst>
          </p:cNvPr>
          <p:cNvSpPr/>
          <p:nvPr/>
        </p:nvSpPr>
        <p:spPr>
          <a:xfrm>
            <a:off x="1101481" y="5749898"/>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6" name="Text 15">
            <a:extLst>
              <a:ext uri="{FF2B5EF4-FFF2-40B4-BE49-F238E27FC236}">
                <a16:creationId xmlns:a16="http://schemas.microsoft.com/office/drawing/2014/main" id="{3D2332E3-D1C1-2917-0F33-9A46A2875E11}"/>
              </a:ext>
            </a:extLst>
          </p:cNvPr>
          <p:cNvSpPr/>
          <p:nvPr/>
        </p:nvSpPr>
        <p:spPr>
          <a:xfrm>
            <a:off x="1101481" y="5749898"/>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5</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7" name="Text 16">
            <a:extLst>
              <a:ext uri="{FF2B5EF4-FFF2-40B4-BE49-F238E27FC236}">
                <a16:creationId xmlns:a16="http://schemas.microsoft.com/office/drawing/2014/main" id="{E944A787-C0E0-7E63-55FE-38183FFDB167}"/>
              </a:ext>
            </a:extLst>
          </p:cNvPr>
          <p:cNvSpPr/>
          <p:nvPr/>
        </p:nvSpPr>
        <p:spPr>
          <a:xfrm>
            <a:off x="1772041" y="5749898"/>
            <a:ext cx="9144000" cy="46329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Run the script, check the output CSV has 3 columns: </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week</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location</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value</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and you have the </a:t>
            </a:r>
            <a:r>
              <a:rPr kumimoji="0" lang="en-US" sz="2000" b="0" i="0" u="none" strike="noStrike" kern="1200" cap="none" spc="0" normalizeH="0" baseline="0" noProof="0" dirty="0" err="1">
                <a:ln>
                  <a:noFill/>
                </a:ln>
                <a:effectLst/>
                <a:uLnTx/>
                <a:uFillTx/>
                <a:latin typeface="Arial" panose="020B0604020202020204" pitchFamily="34" charset="0"/>
                <a:ea typeface="Calibri" pitchFamily="34" charset="-122"/>
                <a:cs typeface="Arial" panose="020B0604020202020204" pitchFamily="34" charset="0"/>
              </a:rPr>
              <a:t>epicurve</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of the data. </a:t>
            </a:r>
            <a:endParaRPr kumimoji="0" lang="en-US" sz="2000" b="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3C38A973-21C1-C28F-0F8E-758B0F44D030}"/>
              </a:ext>
            </a:extLst>
          </p:cNvPr>
          <p:cNvSpPr/>
          <p:nvPr/>
        </p:nvSpPr>
        <p:spPr>
          <a:xfrm>
            <a:off x="914400" y="1151461"/>
            <a:ext cx="10363200" cy="853439"/>
          </a:xfrm>
          <a:prstGeom prst="roundRect">
            <a:avLst/>
          </a:prstGeom>
          <a:solidFill>
            <a:schemeClr val="bg1">
              <a:lumMod val="95000"/>
            </a:schemeClr>
          </a:solidFill>
          <a:ln/>
        </p:spPr>
        <p:txBody>
          <a:bodyPr wrap="square" lIns="0" tIns="0" rIns="0" bIns="0" rtlCol="0" anchor="ctr"/>
          <a:lstStyle/>
          <a:p>
            <a:pPr algn="ctr" defTabSz="1219170"/>
            <a:r>
              <a:rPr lang="en-US" sz="2500" dirty="0">
                <a:solidFill>
                  <a:srgbClr val="334155"/>
                </a:solidFill>
                <a:latin typeface="Arial" panose="020B0604020202020204" pitchFamily="34" charset="0"/>
                <a:ea typeface="Calibri" pitchFamily="34" charset="-122"/>
                <a:cs typeface="Arial" panose="020B0604020202020204" pitchFamily="34" charset="0"/>
              </a:rPr>
              <a:t>Please complete the following steps and together we will commit all results to the course GitHub. </a:t>
            </a:r>
            <a:endParaRPr lang="en-US" sz="2500" dirty="0">
              <a:solidFill>
                <a:prstClr val="black"/>
              </a:solidFill>
              <a:latin typeface="Arial" panose="020B0604020202020204" pitchFamily="34" charset="0"/>
              <a:cs typeface="Arial" panose="020B0604020202020204" pitchFamily="34" charset="0"/>
            </a:endParaRPr>
          </a:p>
        </p:txBody>
      </p:sp>
      <p:pic>
        <p:nvPicPr>
          <p:cNvPr id="20" name="Picture 19" descr="Your Turn Rubber Stamp Royalty Free SVG, Cliparts, Vectors, and Stock  Illustration. Image 68258628.">
            <a:extLst>
              <a:ext uri="{FF2B5EF4-FFF2-40B4-BE49-F238E27FC236}">
                <a16:creationId xmlns:a16="http://schemas.microsoft.com/office/drawing/2014/main" id="{2810B05A-78DE-A92F-F5D6-F4ADD0CD2DE8}"/>
              </a:ext>
            </a:extLst>
          </p:cNvPr>
          <p:cNvPicPr>
            <a:picLocks noChangeAspect="1"/>
          </p:cNvPicPr>
          <p:nvPr/>
        </p:nvPicPr>
        <p:blipFill>
          <a:blip r:embed="rId3"/>
          <a:stretch>
            <a:fillRect/>
          </a:stretch>
        </p:blipFill>
        <p:spPr>
          <a:xfrm>
            <a:off x="2663312" y="87958"/>
            <a:ext cx="981703" cy="981703"/>
          </a:xfrm>
          <a:prstGeom prst="rect">
            <a:avLst/>
          </a:prstGeom>
        </p:spPr>
      </p:pic>
    </p:spTree>
    <p:extLst>
      <p:ext uri="{BB962C8B-B14F-4D97-AF65-F5344CB8AC3E}">
        <p14:creationId xmlns:p14="http://schemas.microsoft.com/office/powerpoint/2010/main" val="1663621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2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5A0B6-7C39-72C0-A44C-49F0C9B3091F}"/>
              </a:ext>
            </a:extLst>
          </p:cNvPr>
          <p:cNvSpPr txBox="1">
            <a:spLocks/>
          </p:cNvSpPr>
          <p:nvPr/>
        </p:nvSpPr>
        <p:spPr>
          <a:xfrm>
            <a:off x="838200" y="3096541"/>
            <a:ext cx="10515600" cy="66491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accent2"/>
                </a:solidFill>
                <a:latin typeface="Arial" panose="020B0604020202020204" pitchFamily="34" charset="0"/>
                <a:cs typeface="Arial" panose="020B0604020202020204" pitchFamily="34" charset="0"/>
              </a:rPr>
              <a:t>Expected Process &amp; Results</a:t>
            </a:r>
          </a:p>
        </p:txBody>
      </p:sp>
    </p:spTree>
    <p:extLst>
      <p:ext uri="{BB962C8B-B14F-4D97-AF65-F5344CB8AC3E}">
        <p14:creationId xmlns:p14="http://schemas.microsoft.com/office/powerpoint/2010/main" val="3465056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0DF3032-93CA-EF79-EE7C-86175058C1C6}"/>
              </a:ext>
            </a:extLst>
          </p:cNvPr>
          <p:cNvPicPr>
            <a:picLocks noChangeAspect="1"/>
          </p:cNvPicPr>
          <p:nvPr/>
        </p:nvPicPr>
        <p:blipFill>
          <a:blip r:embed="rId2"/>
          <a:stretch>
            <a:fillRect/>
          </a:stretch>
        </p:blipFill>
        <p:spPr>
          <a:xfrm>
            <a:off x="219790" y="162910"/>
            <a:ext cx="2564581" cy="6532179"/>
          </a:xfrm>
          <a:prstGeom prst="rect">
            <a:avLst/>
          </a:prstGeom>
        </p:spPr>
      </p:pic>
      <p:pic>
        <p:nvPicPr>
          <p:cNvPr id="14" name="Picture 13">
            <a:extLst>
              <a:ext uri="{FF2B5EF4-FFF2-40B4-BE49-F238E27FC236}">
                <a16:creationId xmlns:a16="http://schemas.microsoft.com/office/drawing/2014/main" id="{6002E621-9DBD-E43F-5C8A-FAD13E0CC42F}"/>
              </a:ext>
            </a:extLst>
          </p:cNvPr>
          <p:cNvPicPr>
            <a:picLocks noChangeAspect="1"/>
          </p:cNvPicPr>
          <p:nvPr/>
        </p:nvPicPr>
        <p:blipFill>
          <a:blip r:embed="rId3"/>
          <a:stretch>
            <a:fillRect/>
          </a:stretch>
        </p:blipFill>
        <p:spPr>
          <a:xfrm>
            <a:off x="3304415" y="1055502"/>
            <a:ext cx="8526065" cy="5639587"/>
          </a:xfrm>
          <a:prstGeom prst="rect">
            <a:avLst/>
          </a:prstGeom>
        </p:spPr>
      </p:pic>
      <p:sp>
        <p:nvSpPr>
          <p:cNvPr id="15" name="Text 0">
            <a:extLst>
              <a:ext uri="{FF2B5EF4-FFF2-40B4-BE49-F238E27FC236}">
                <a16:creationId xmlns:a16="http://schemas.microsoft.com/office/drawing/2014/main" id="{E892D8CA-A042-1FD4-51E7-F9EAB5DF2198}"/>
              </a:ext>
            </a:extLst>
          </p:cNvPr>
          <p:cNvSpPr/>
          <p:nvPr/>
        </p:nvSpPr>
        <p:spPr>
          <a:xfrm>
            <a:off x="3304415" y="126123"/>
            <a:ext cx="7912225" cy="853440"/>
          </a:xfrm>
          <a:prstGeom prst="rect">
            <a:avLst/>
          </a:prstGeom>
          <a:noFill/>
          <a:ln/>
        </p:spPr>
        <p:txBody>
          <a:bodyPr wrap="square" lIns="0" tIns="0" rIns="0" bIns="0" rtlCol="0" anchor="ctr"/>
          <a:lstStyle/>
          <a:p>
            <a:pPr algn="ctr" defTabSz="1219170"/>
            <a:r>
              <a:rPr lang="en-US" sz="4000" b="1" i="1" dirty="0">
                <a:solidFill>
                  <a:srgbClr val="7030A0"/>
                </a:solidFill>
                <a:latin typeface="Arial" panose="020B0604020202020204" pitchFamily="34" charset="0"/>
                <a:cs typeface="Arial" panose="020B0604020202020204" pitchFamily="34" charset="0"/>
              </a:rPr>
              <a:t>agents.md </a:t>
            </a:r>
            <a:r>
              <a:rPr lang="en-US" sz="4000" b="1" dirty="0">
                <a:solidFill>
                  <a:srgbClr val="7030A0"/>
                </a:solidFill>
                <a:latin typeface="Arial" panose="020B0604020202020204" pitchFamily="34" charset="0"/>
                <a:cs typeface="Arial" panose="020B0604020202020204" pitchFamily="34" charset="0"/>
              </a:rPr>
              <a:t>File</a:t>
            </a:r>
            <a:endParaRPr lang="en-US" sz="40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6288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5706A1-708B-A92B-FCB4-1EBCD90ADAD5}"/>
              </a:ext>
            </a:extLst>
          </p:cNvPr>
          <p:cNvPicPr>
            <a:picLocks noChangeAspect="1"/>
          </p:cNvPicPr>
          <p:nvPr/>
        </p:nvPicPr>
        <p:blipFill>
          <a:blip r:embed="rId2"/>
          <a:stretch>
            <a:fillRect/>
          </a:stretch>
        </p:blipFill>
        <p:spPr>
          <a:xfrm>
            <a:off x="169781" y="0"/>
            <a:ext cx="2564058" cy="6858000"/>
          </a:xfrm>
          <a:prstGeom prst="rect">
            <a:avLst/>
          </a:prstGeom>
        </p:spPr>
      </p:pic>
      <p:pic>
        <p:nvPicPr>
          <p:cNvPr id="5" name="Picture 4">
            <a:extLst>
              <a:ext uri="{FF2B5EF4-FFF2-40B4-BE49-F238E27FC236}">
                <a16:creationId xmlns:a16="http://schemas.microsoft.com/office/drawing/2014/main" id="{1AA89530-7467-3BF7-2543-1910D53B677C}"/>
              </a:ext>
            </a:extLst>
          </p:cNvPr>
          <p:cNvPicPr>
            <a:picLocks noChangeAspect="1"/>
          </p:cNvPicPr>
          <p:nvPr/>
        </p:nvPicPr>
        <p:blipFill>
          <a:blip r:embed="rId3"/>
          <a:stretch>
            <a:fillRect/>
          </a:stretch>
        </p:blipFill>
        <p:spPr>
          <a:xfrm>
            <a:off x="2911895" y="0"/>
            <a:ext cx="2581996" cy="6858000"/>
          </a:xfrm>
          <a:prstGeom prst="rect">
            <a:avLst/>
          </a:prstGeom>
        </p:spPr>
      </p:pic>
      <p:pic>
        <p:nvPicPr>
          <p:cNvPr id="7" name="Picture 6">
            <a:extLst>
              <a:ext uri="{FF2B5EF4-FFF2-40B4-BE49-F238E27FC236}">
                <a16:creationId xmlns:a16="http://schemas.microsoft.com/office/drawing/2014/main" id="{5DCE7F06-2013-5B43-E1F3-B484EF866F36}"/>
              </a:ext>
            </a:extLst>
          </p:cNvPr>
          <p:cNvPicPr>
            <a:picLocks noChangeAspect="1"/>
          </p:cNvPicPr>
          <p:nvPr/>
        </p:nvPicPr>
        <p:blipFill>
          <a:blip r:embed="rId4"/>
          <a:stretch>
            <a:fillRect/>
          </a:stretch>
        </p:blipFill>
        <p:spPr>
          <a:xfrm>
            <a:off x="5671947" y="0"/>
            <a:ext cx="2657819" cy="6858000"/>
          </a:xfrm>
          <a:prstGeom prst="rect">
            <a:avLst/>
          </a:prstGeom>
        </p:spPr>
      </p:pic>
      <p:sp>
        <p:nvSpPr>
          <p:cNvPr id="10" name="TextBox 9">
            <a:extLst>
              <a:ext uri="{FF2B5EF4-FFF2-40B4-BE49-F238E27FC236}">
                <a16:creationId xmlns:a16="http://schemas.microsoft.com/office/drawing/2014/main" id="{7F8000BF-F1E9-FA90-B0AB-9C4E24D35D44}"/>
              </a:ext>
            </a:extLst>
          </p:cNvPr>
          <p:cNvSpPr txBox="1"/>
          <p:nvPr/>
        </p:nvSpPr>
        <p:spPr>
          <a:xfrm>
            <a:off x="8597461" y="1827129"/>
            <a:ext cx="3331779" cy="4801314"/>
          </a:xfrm>
          <a:prstGeom prst="rect">
            <a:avLst/>
          </a:prstGeom>
          <a:solidFill>
            <a:schemeClr val="bg1"/>
          </a:solidFill>
          <a:ln w="57150">
            <a:solidFill>
              <a:schemeClr val="tx1"/>
            </a:solidFill>
          </a:ln>
        </p:spPr>
        <p:txBody>
          <a:bodyPr wrap="square" rtlCol="0">
            <a:spAutoFit/>
          </a:bodyPr>
          <a:lstStyle/>
          <a:p>
            <a:pPr algn="ctr"/>
            <a:r>
              <a:rPr lang="en-US" dirty="0"/>
              <a:t>When generating the </a:t>
            </a:r>
            <a:r>
              <a:rPr lang="en-US" i="1" dirty="0"/>
              <a:t>01_cleaning.R </a:t>
            </a:r>
            <a:r>
              <a:rPr lang="en-US" dirty="0"/>
              <a:t>script, the AI may prompt you multiple times at many steps from your initial message to the script. </a:t>
            </a:r>
          </a:p>
          <a:p>
            <a:pPr algn="ctr"/>
            <a:endParaRPr lang="en-US" dirty="0"/>
          </a:p>
          <a:p>
            <a:pPr algn="ctr"/>
            <a:r>
              <a:rPr lang="en-US" dirty="0"/>
              <a:t>For example, in the initial picture, it is asking permission to look at the data. In the second picture, it is asking permission to run the script (Skipped for this activity; see earlier slide). </a:t>
            </a:r>
          </a:p>
          <a:p>
            <a:pPr algn="ctr"/>
            <a:endParaRPr lang="en-US" dirty="0"/>
          </a:p>
          <a:p>
            <a:pPr algn="ctr"/>
            <a:r>
              <a:rPr lang="en-US" dirty="0"/>
              <a:t>The key is to read </a:t>
            </a:r>
            <a:r>
              <a:rPr lang="en-US" b="1" dirty="0"/>
              <a:t>WHY</a:t>
            </a:r>
            <a:r>
              <a:rPr lang="en-US" dirty="0"/>
              <a:t> you are being asked a question before clicking </a:t>
            </a:r>
            <a:r>
              <a:rPr lang="en-US" b="1" dirty="0"/>
              <a:t>Allow </a:t>
            </a:r>
            <a:r>
              <a:rPr lang="en-US" dirty="0"/>
              <a:t>or </a:t>
            </a:r>
            <a:r>
              <a:rPr lang="en-US" b="1" dirty="0"/>
              <a:t>Keep</a:t>
            </a:r>
            <a:r>
              <a:rPr lang="en-US" dirty="0"/>
              <a:t>. </a:t>
            </a:r>
          </a:p>
        </p:txBody>
      </p:sp>
      <p:sp>
        <p:nvSpPr>
          <p:cNvPr id="11" name="Text 0">
            <a:extLst>
              <a:ext uri="{FF2B5EF4-FFF2-40B4-BE49-F238E27FC236}">
                <a16:creationId xmlns:a16="http://schemas.microsoft.com/office/drawing/2014/main" id="{315DA765-C532-511E-DC69-2C51FFC40906}"/>
              </a:ext>
            </a:extLst>
          </p:cNvPr>
          <p:cNvSpPr/>
          <p:nvPr/>
        </p:nvSpPr>
        <p:spPr>
          <a:xfrm>
            <a:off x="8449264" y="515006"/>
            <a:ext cx="3628171"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cs typeface="Arial" panose="020B0604020202020204" pitchFamily="34" charset="0"/>
              </a:rPr>
              <a:t>R Script</a:t>
            </a:r>
            <a:endParaRPr lang="en-US" sz="40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3279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FE2F3DA-2154-4707-9D5A-609AC815E31E}"/>
              </a:ext>
            </a:extLst>
          </p:cNvPr>
          <p:cNvPicPr>
            <a:picLocks noChangeAspect="1"/>
          </p:cNvPicPr>
          <p:nvPr/>
        </p:nvPicPr>
        <p:blipFill>
          <a:blip r:embed="rId2"/>
          <a:stretch>
            <a:fillRect/>
          </a:stretch>
        </p:blipFill>
        <p:spPr>
          <a:xfrm>
            <a:off x="1651967" y="834686"/>
            <a:ext cx="8888065" cy="5630061"/>
          </a:xfrm>
          <a:prstGeom prst="rect">
            <a:avLst/>
          </a:prstGeom>
        </p:spPr>
      </p:pic>
      <p:sp>
        <p:nvSpPr>
          <p:cNvPr id="6" name="Text 0">
            <a:extLst>
              <a:ext uri="{FF2B5EF4-FFF2-40B4-BE49-F238E27FC236}">
                <a16:creationId xmlns:a16="http://schemas.microsoft.com/office/drawing/2014/main" id="{67F31C44-78D5-54C1-AC09-3AE88C7EA3BC}"/>
              </a:ext>
            </a:extLst>
          </p:cNvPr>
          <p:cNvSpPr/>
          <p:nvPr/>
        </p:nvSpPr>
        <p:spPr>
          <a:xfrm>
            <a:off x="2139886" y="0"/>
            <a:ext cx="7912225" cy="853440"/>
          </a:xfrm>
          <a:prstGeom prst="rect">
            <a:avLst/>
          </a:prstGeom>
          <a:noFill/>
          <a:ln/>
        </p:spPr>
        <p:txBody>
          <a:bodyPr wrap="square" lIns="0" tIns="0" rIns="0" bIns="0" rtlCol="0" anchor="ctr"/>
          <a:lstStyle/>
          <a:p>
            <a:pPr algn="ctr" defTabSz="1219170"/>
            <a:r>
              <a:rPr lang="en-US" sz="4000" b="1" i="1" dirty="0">
                <a:solidFill>
                  <a:srgbClr val="7030A0"/>
                </a:solidFill>
                <a:latin typeface="Arial" panose="020B0604020202020204" pitchFamily="34" charset="0"/>
                <a:cs typeface="Arial" panose="020B0604020202020204" pitchFamily="34" charset="0"/>
              </a:rPr>
              <a:t>01_cleaning.R </a:t>
            </a:r>
            <a:r>
              <a:rPr lang="en-US" sz="4000" b="1" dirty="0">
                <a:solidFill>
                  <a:srgbClr val="7030A0"/>
                </a:solidFill>
                <a:latin typeface="Arial" panose="020B0604020202020204" pitchFamily="34" charset="0"/>
                <a:cs typeface="Arial" panose="020B0604020202020204" pitchFamily="34" charset="0"/>
              </a:rPr>
              <a:t>File</a:t>
            </a:r>
            <a:endParaRPr lang="en-US" sz="40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5390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E2FAEF-8B1B-7D63-5372-163E0D3ECF25}"/>
              </a:ext>
            </a:extLst>
          </p:cNvPr>
          <p:cNvPicPr>
            <a:picLocks noChangeAspect="1"/>
          </p:cNvPicPr>
          <p:nvPr/>
        </p:nvPicPr>
        <p:blipFill>
          <a:blip r:embed="rId2"/>
          <a:stretch>
            <a:fillRect/>
          </a:stretch>
        </p:blipFill>
        <p:spPr>
          <a:xfrm>
            <a:off x="1199899" y="1095538"/>
            <a:ext cx="9792202" cy="5595544"/>
          </a:xfrm>
          <a:prstGeom prst="rect">
            <a:avLst/>
          </a:prstGeom>
        </p:spPr>
      </p:pic>
      <p:sp>
        <p:nvSpPr>
          <p:cNvPr id="4" name="Text 0">
            <a:extLst>
              <a:ext uri="{FF2B5EF4-FFF2-40B4-BE49-F238E27FC236}">
                <a16:creationId xmlns:a16="http://schemas.microsoft.com/office/drawing/2014/main" id="{35B0D438-194F-CB71-2DE5-BDA48FCD7DF4}"/>
              </a:ext>
            </a:extLst>
          </p:cNvPr>
          <p:cNvSpPr/>
          <p:nvPr/>
        </p:nvSpPr>
        <p:spPr>
          <a:xfrm>
            <a:off x="2139887" y="166918"/>
            <a:ext cx="7912225"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cs typeface="Arial" panose="020B0604020202020204" pitchFamily="34" charset="0"/>
              </a:rPr>
              <a:t>Resulting </a:t>
            </a:r>
            <a:r>
              <a:rPr lang="en-US" sz="4000" b="1" dirty="0" err="1">
                <a:solidFill>
                  <a:srgbClr val="7030A0"/>
                </a:solidFill>
                <a:latin typeface="Arial" panose="020B0604020202020204" pitchFamily="34" charset="0"/>
                <a:cs typeface="Arial" panose="020B0604020202020204" pitchFamily="34" charset="0"/>
              </a:rPr>
              <a:t>Epicurve</a:t>
            </a:r>
            <a:endParaRPr lang="en-US" sz="40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9276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05B4E4-A127-A5CF-8B5B-090B1CD52689}"/>
              </a:ext>
            </a:extLst>
          </p:cNvPr>
          <p:cNvPicPr>
            <a:picLocks noChangeAspect="1"/>
          </p:cNvPicPr>
          <p:nvPr/>
        </p:nvPicPr>
        <p:blipFill>
          <a:blip r:embed="rId2"/>
          <a:stretch>
            <a:fillRect/>
          </a:stretch>
        </p:blipFill>
        <p:spPr>
          <a:xfrm>
            <a:off x="1526202" y="1168254"/>
            <a:ext cx="9139596" cy="5408593"/>
          </a:xfrm>
          <a:prstGeom prst="rect">
            <a:avLst/>
          </a:prstGeom>
        </p:spPr>
      </p:pic>
      <p:sp>
        <p:nvSpPr>
          <p:cNvPr id="6" name="Text 0">
            <a:extLst>
              <a:ext uri="{FF2B5EF4-FFF2-40B4-BE49-F238E27FC236}">
                <a16:creationId xmlns:a16="http://schemas.microsoft.com/office/drawing/2014/main" id="{D0872C63-C215-6B69-9C75-0B90AF84F455}"/>
              </a:ext>
            </a:extLst>
          </p:cNvPr>
          <p:cNvSpPr/>
          <p:nvPr/>
        </p:nvSpPr>
        <p:spPr>
          <a:xfrm>
            <a:off x="173421" y="166918"/>
            <a:ext cx="11845159"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cs typeface="Arial" panose="020B0604020202020204" pitchFamily="34" charset="0"/>
              </a:rPr>
              <a:t>Resulting Dataset: </a:t>
            </a:r>
            <a:r>
              <a:rPr lang="en-US" sz="4000" b="1" i="1" dirty="0">
                <a:solidFill>
                  <a:srgbClr val="7030A0"/>
                </a:solidFill>
                <a:latin typeface="Arial" panose="020B0604020202020204" pitchFamily="34" charset="0"/>
                <a:cs typeface="Arial" panose="020B0604020202020204" pitchFamily="34" charset="0"/>
              </a:rPr>
              <a:t>cleaned_flu_admissions.csv</a:t>
            </a:r>
            <a:endParaRPr lang="en-US" sz="4000" i="1"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182589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5027</TotalTime>
  <Words>1302</Words>
  <Application>Microsoft Office PowerPoint</Application>
  <PresentationFormat>Widescreen</PresentationFormat>
  <Paragraphs>127</Paragraphs>
  <Slides>17</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Aptos Display</vt:lpstr>
      <vt:lpstr>Arial</vt:lpstr>
      <vt:lpstr>Calibri</vt:lpstr>
      <vt:lpstr>Consolas</vt:lpstr>
      <vt:lpstr>Trebuchet MS</vt:lpstr>
      <vt:lpstr>Office Theme</vt:lpstr>
      <vt:lpstr>Activity 01: Data Cleaning &amp; Visuals </vt:lpstr>
      <vt:lpstr>PowerPoint Presentation</vt:lpstr>
      <vt:lpstr>PowerPoint Presentation</vt:lpstr>
      <vt:lpstr>PowerPoint Presentation</vt:lpstr>
      <vt:lpstr>Your Task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Marie Bleichrodt</dc:creator>
  <cp:lastModifiedBy>Lior Rennert</cp:lastModifiedBy>
  <cp:revision>11</cp:revision>
  <dcterms:created xsi:type="dcterms:W3CDTF">2026-06-30T15:31:48Z</dcterms:created>
  <dcterms:modified xsi:type="dcterms:W3CDTF">2026-07-13T18:29:51Z</dcterms:modified>
</cp:coreProperties>
</file>