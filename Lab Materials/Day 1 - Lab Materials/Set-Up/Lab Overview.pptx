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06" r:id="rId3"/>
    <p:sldId id="259" r:id="rId4"/>
    <p:sldId id="309" r:id="rId5"/>
    <p:sldId id="307" r:id="rId6"/>
    <p:sldId id="426" r:id="rId7"/>
    <p:sldId id="258" r:id="rId8"/>
    <p:sldId id="3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7FE116-2D61-4EAD-8D75-CBCC54B8174F}" v="22" dt="2026-07-19T02:24:39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5F4B9ABB-DEB5-4DC3-A8F9-1752A2D02C85}"/>
    <pc:docChg chg="modSld">
      <pc:chgData name="ambleic@clemson.edu" userId="43615028507_tp_box_2" providerId="OAuth2" clId="{5F4B9ABB-DEB5-4DC3-A8F9-1752A2D02C85}" dt="2026-07-19T02:38:48" v="43" actId="20577"/>
      <pc:docMkLst>
        <pc:docMk/>
      </pc:docMkLst>
      <pc:sldChg chg="modSp mod">
        <pc:chgData name="ambleic@clemson.edu" userId="43615028507_tp_box_2" providerId="OAuth2" clId="{5F4B9ABB-DEB5-4DC3-A8F9-1752A2D02C85}" dt="2026-07-19T02:23:20.777" v="9" actId="20577"/>
        <pc:sldMkLst>
          <pc:docMk/>
          <pc:sldMk cId="3687666995" sldId="256"/>
        </pc:sldMkLst>
        <pc:spChg chg="mod">
          <ac:chgData name="ambleic@clemson.edu" userId="43615028507_tp_box_2" providerId="OAuth2" clId="{5F4B9ABB-DEB5-4DC3-A8F9-1752A2D02C85}" dt="2026-07-19T02:23:20.777" v="9" actId="20577"/>
          <ac:spMkLst>
            <pc:docMk/>
            <pc:sldMk cId="3687666995" sldId="256"/>
            <ac:spMk id="3" creationId="{39A4178C-AE0F-47AF-7BE9-B86991376138}"/>
          </ac:spMkLst>
        </pc:spChg>
      </pc:sldChg>
      <pc:sldChg chg="modSp">
        <pc:chgData name="ambleic@clemson.edu" userId="43615028507_tp_box_2" providerId="OAuth2" clId="{5F4B9ABB-DEB5-4DC3-A8F9-1752A2D02C85}" dt="2026-07-19T02:22:13.315" v="0"/>
        <pc:sldMkLst>
          <pc:docMk/>
          <pc:sldMk cId="0" sldId="259"/>
        </pc:sldMkLst>
        <pc:spChg chg="mod">
          <ac:chgData name="ambleic@clemson.edu" userId="43615028507_tp_box_2" providerId="OAuth2" clId="{5F4B9ABB-DEB5-4DC3-A8F9-1752A2D02C85}" dt="2026-07-19T02:22:13.315" v="0"/>
          <ac:spMkLst>
            <pc:docMk/>
            <pc:sldMk cId="0" sldId="259"/>
            <ac:spMk id="45" creationId="{B4914DC6-0F6F-4B0B-FBB5-812587830F7A}"/>
          </ac:spMkLst>
        </pc:spChg>
      </pc:sldChg>
      <pc:sldChg chg="modSp mod">
        <pc:chgData name="ambleic@clemson.edu" userId="43615028507_tp_box_2" providerId="OAuth2" clId="{5F4B9ABB-DEB5-4DC3-A8F9-1752A2D02C85}" dt="2026-07-19T02:38:48" v="43" actId="20577"/>
        <pc:sldMkLst>
          <pc:docMk/>
          <pc:sldMk cId="4270796605" sldId="301"/>
        </pc:sldMkLst>
        <pc:graphicFrameChg chg="modGraphic">
          <ac:chgData name="ambleic@clemson.edu" userId="43615028507_tp_box_2" providerId="OAuth2" clId="{5F4B9ABB-DEB5-4DC3-A8F9-1752A2D02C85}" dt="2026-07-19T02:38:48" v="43" actId="20577"/>
          <ac:graphicFrameMkLst>
            <pc:docMk/>
            <pc:sldMk cId="4270796605" sldId="301"/>
            <ac:graphicFrameMk id="22" creationId="{76F663F0-9E56-224A-70FB-D9B4368D4EF1}"/>
          </ac:graphicFrameMkLst>
        </pc:graphicFrameChg>
      </pc:sldChg>
      <pc:sldChg chg="modSp">
        <pc:chgData name="ambleic@clemson.edu" userId="43615028507_tp_box_2" providerId="OAuth2" clId="{5F4B9ABB-DEB5-4DC3-A8F9-1752A2D02C85}" dt="2026-07-19T02:24:39.844" v="42" actId="20577"/>
        <pc:sldMkLst>
          <pc:docMk/>
          <pc:sldMk cId="2720344793" sldId="309"/>
        </pc:sldMkLst>
        <pc:spChg chg="mod">
          <ac:chgData name="ambleic@clemson.edu" userId="43615028507_tp_box_2" providerId="OAuth2" clId="{5F4B9ABB-DEB5-4DC3-A8F9-1752A2D02C85}" dt="2026-07-19T02:24:39.844" v="42" actId="20577"/>
          <ac:spMkLst>
            <pc:docMk/>
            <pc:sldMk cId="2720344793" sldId="309"/>
            <ac:spMk id="10" creationId="{8752DD9D-C597-BA79-5E48-7B271C9F6ADE}"/>
          </ac:spMkLst>
        </pc:spChg>
      </pc:sldChg>
      <pc:sldChg chg="modSp mod">
        <pc:chgData name="ambleic@clemson.edu" userId="43615028507_tp_box_2" providerId="OAuth2" clId="{5F4B9ABB-DEB5-4DC3-A8F9-1752A2D02C85}" dt="2026-07-19T02:23:35.918" v="10" actId="20577"/>
        <pc:sldMkLst>
          <pc:docMk/>
          <pc:sldMk cId="3886218017" sldId="426"/>
        </pc:sldMkLst>
        <pc:spChg chg="mod">
          <ac:chgData name="ambleic@clemson.edu" userId="43615028507_tp_box_2" providerId="OAuth2" clId="{5F4B9ABB-DEB5-4DC3-A8F9-1752A2D02C85}" dt="2026-07-19T02:23:35.918" v="10" actId="20577"/>
          <ac:spMkLst>
            <pc:docMk/>
            <pc:sldMk cId="3886218017" sldId="426"/>
            <ac:spMk id="27" creationId="{1B0207FA-97BD-2917-EBDF-A708BDBBCF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5FFF5-D7E8-43B0-9B88-DCCCDD5FE4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B0A5D-EA16-4A68-8EB9-6DD0D467E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0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66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DE72-006E-9BDA-8615-9A7BE355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B44B0-9594-1322-1B36-B259D2468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9233A-6069-A2BE-D74C-767BADFB7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DC434-AA49-B1AE-B293-415AFE1B7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5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413E-B74C-39CC-A72E-7831F742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26EA-727A-970E-133A-F6B2AE7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7EABB-B541-36A6-E49A-C571F1AC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1D26-A705-542C-97B4-249BF6C46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7CA4-CDF9-0E78-F57F-14460F1B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141A2-F762-CD80-41FE-F1D0580CE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2C5AE-4430-6692-5AE1-AFA5F2724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E0D67-79A9-E68D-39E9-24DBB9CC9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3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0B0A-AAB2-7C23-B563-1DEA27672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ED180-E037-34ED-033E-B6A0E0D6A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C4526-C72E-188E-9B1E-8E3582E7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10CC8-B5CA-3016-2825-53E9A07E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1D675-F145-8F9D-5A13-37C0DCFB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0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A94-75D2-7ECF-7F26-E8A93CA2B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0BF6-4251-01DF-5B08-97A1E5850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ACABC-10C2-704A-CBBC-2A94D0A8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A16EF-F8D8-F53F-ECB5-A650CA71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0304C-57C6-7B25-46B4-6FEED0AD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5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4D94F-7F3E-A449-697B-F62B2645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1C6C8-B937-D50F-6A1B-704FC9E23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D8E79-E7AC-1F0A-188C-547B5370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8C223-3625-B35C-1D19-67EDC2CB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9526A-1AF1-93F8-8BC8-97B3A471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1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04CE-F1CC-E5F2-1178-6E93F686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942B-B52A-FE3A-E3ED-F50E7A759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6F83F-AA25-4CAE-423C-FD84CAC6F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2411C-ACD5-587F-28F2-96C68B47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0A5F5-B3E6-612D-4A3A-E47DEB7B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1AFE-A048-93B4-A7EF-EF6660CE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BBB8-FE63-F54C-27A5-DA3448DE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05AD3-6ED6-7858-1B98-B98393DD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88FDF-DA39-6F49-5299-B9D424425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8FF47-93AD-9C64-32A6-875A9C666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BBDF2-3FD4-FF04-606B-2514EA4080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D39A6-A3A8-54C5-C97F-B37D95D0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93176-211B-377A-6AFB-87C176C4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1F124D-CB3B-09EA-5431-C6AE914D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9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F189E-8536-52E6-B7FB-EB2CD18D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556B9-8AED-CEE2-65CE-6430EF9B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ACA3D-837C-32FA-2D9B-A9542DBC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609F3-C82B-1462-4222-B64B83B7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1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B0023-3F64-C5B9-2376-D7152D0B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05C77-E01A-7CB1-3DDB-221B0C7F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8BE77-964E-75E1-A66C-A4A07783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0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1094-B483-F68B-D122-71FC9BAC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1701-34D0-A7D0-45E9-ABA2FFAB8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95EB9-11D9-5F46-F5C3-C8B17AD74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837A8-FEA6-41A2-6566-1955F2A6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4B0A2-35AE-69BD-A55E-AF8E100C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DDC86-47EF-54AF-F118-6C226BF8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6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58F8-4B6F-1FA9-65B0-446BA2AA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4E029-23B1-9066-3575-9F104ED9F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4951F-5F82-12C6-076C-663EA8733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BD0ED-0A05-6526-71FF-BFBAE47D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1D2D7-7C27-1C5A-8B7B-2E7DA0C5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5BFC4-C4E4-DBDD-4956-333BD8DC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7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FA0F-D71D-3502-15D1-3DC19730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79394-6616-75D2-2932-8CA1D3DE6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0AEE2-692F-8C3D-2B2F-381E4868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5E60C-7541-FD3E-99E3-DD5EF616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5C35B-5CE7-E9D2-73B5-FA97AD51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F7694-B8AC-7F58-B743-A85855F4C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CCCC2-C676-523D-A5CB-E2A1EC039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1A8E2-5084-55C4-C590-16ADC009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08EE-DCD7-5E7D-E576-930B3A6A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38964-D148-F898-F741-F83A1273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25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88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1154C-1EB3-6B52-6809-B153D09C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B4E71-F5EA-141E-B8EC-083550F1A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1BCD9-041F-E211-9241-5EF9D70AC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B7640-48C3-429B-ABC5-E59EA07AF4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2DA01-24DF-B8A7-1E9B-FA78B31F2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9D83F-F605-2E30-15D8-D64F2AB56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3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an Influenza Forecasting Pipeline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 Overview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Human-AI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54B0-6E44-B655-0ADB-271D98CF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814451"/>
          </a:xfrm>
        </p:spPr>
        <p:txBody>
          <a:bodyPr>
            <a:normAutofit/>
          </a:bodyPr>
          <a:lstStyle/>
          <a:p>
            <a:pPr algn="ctr"/>
            <a:r>
              <a:rPr lang="en-US" sz="427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AE27-4D35-4BC7-FB4A-4DDBD780F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577"/>
            <a:ext cx="10515600" cy="3459607"/>
          </a:xfrm>
        </p:spPr>
        <p:txBody>
          <a:bodyPr>
            <a:normAutofit lnSpcReduction="10000"/>
          </a:bodyPr>
          <a:lstStyle/>
          <a:p>
            <a:pPr>
              <a:spcAft>
                <a:spcPts val="18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Every week during influenza season, public health decision-makers need to anticipate what's coming:</a:t>
            </a:r>
          </a:p>
          <a:p>
            <a:pPr lvl="1">
              <a:spcAft>
                <a:spcPts val="6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How many people will be hospitalized next week, and in the weeks ahead?</a:t>
            </a:r>
          </a:p>
          <a:p>
            <a:pPr lvl="1">
              <a:spcAft>
                <a:spcPts val="18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When will the peak hit and how high will it be?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In this lab, you'll work as a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human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AI team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to build a national-level influenza hospitalization forecasting system using real CDC data to help answer these questions.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E47A36-EF63-6596-A232-9D6322769FD5}"/>
              </a:ext>
            </a:extLst>
          </p:cNvPr>
          <p:cNvSpPr/>
          <p:nvPr/>
        </p:nvSpPr>
        <p:spPr>
          <a:xfrm>
            <a:off x="786384" y="5081057"/>
            <a:ext cx="10619232" cy="12344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B5787-7BA4-D47B-D8E3-AB5FE6B9DB81}"/>
              </a:ext>
            </a:extLst>
          </p:cNvPr>
          <p:cNvSpPr txBox="1"/>
          <p:nvPr/>
        </p:nvSpPr>
        <p:spPr>
          <a:xfrm>
            <a:off x="979932" y="5221223"/>
            <a:ext cx="102321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You define the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vision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rules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. AI helps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implement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the solution.</a:t>
            </a:r>
          </a:p>
        </p:txBody>
      </p:sp>
    </p:spTree>
    <p:extLst>
      <p:ext uri="{BB962C8B-B14F-4D97-AF65-F5344CB8AC3E}">
        <p14:creationId xmlns:p14="http://schemas.microsoft.com/office/powerpoint/2010/main" val="293315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What You're Building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1422923"/>
            <a:ext cx="1085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that evolves into a complete forecasting pipeline and a </a:t>
            </a:r>
            <a:r>
              <a:rPr lang="en-US" sz="2500" b="1" dirty="0" err="1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FluSight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-ready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model.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41590" y="2545272"/>
            <a:ext cx="1999488" cy="1709928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054" y="2834832"/>
            <a:ext cx="670560" cy="67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3312" y="3549588"/>
            <a:ext cx="18760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60534" y="2545272"/>
            <a:ext cx="2002536" cy="1709928"/>
          </a:xfrm>
          <a:prstGeom prst="rect">
            <a:avLst/>
          </a:prstGeom>
          <a:solidFill>
            <a:srgbClr val="E8F8F0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017125" y="3610548"/>
            <a:ext cx="17625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121072" y="2545272"/>
            <a:ext cx="2002536" cy="1709928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060" y="2778444"/>
            <a:ext cx="670560" cy="670560"/>
          </a:xfrm>
          <a:prstGeom prst="rect">
            <a:avLst/>
          </a:prstGeom>
        </p:spPr>
      </p:pic>
      <p:pic>
        <p:nvPicPr>
          <p:cNvPr id="20" name="Image 3" descr="Research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96042" y="2834832"/>
            <a:ext cx="731520" cy="731520"/>
          </a:xfrm>
          <a:prstGeom prst="rect">
            <a:avLst/>
          </a:prstGeom>
          <a:ln>
            <a:noFill/>
          </a:ln>
        </p:spPr>
      </p:pic>
      <p:sp>
        <p:nvSpPr>
          <p:cNvPr id="21" name="Text 15"/>
          <p:cNvSpPr/>
          <p:nvPr/>
        </p:nvSpPr>
        <p:spPr>
          <a:xfrm>
            <a:off x="6287950" y="3589593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BF46F10E-D1CF-ACEE-B5B6-EFD9513D5DC5}"/>
              </a:ext>
            </a:extLst>
          </p:cNvPr>
          <p:cNvSpPr/>
          <p:nvPr/>
        </p:nvSpPr>
        <p:spPr>
          <a:xfrm>
            <a:off x="8347636" y="2545272"/>
            <a:ext cx="2002536" cy="1709928"/>
          </a:xfrm>
          <a:prstGeom prst="rect">
            <a:avLst/>
          </a:prstGeom>
          <a:solidFill>
            <a:srgbClr val="DCEA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D7DABEE8-6973-1E2E-A19C-72F12D177E71}"/>
              </a:ext>
            </a:extLst>
          </p:cNvPr>
          <p:cNvSpPr/>
          <p:nvPr/>
        </p:nvSpPr>
        <p:spPr>
          <a:xfrm>
            <a:off x="8514514" y="3594165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Graphic 26" descr="Clipboard Mixed with solid fill">
            <a:extLst>
              <a:ext uri="{FF2B5EF4-FFF2-40B4-BE49-F238E27FC236}">
                <a16:creationId xmlns:a16="http://schemas.microsoft.com/office/drawing/2014/main" id="{6ECAE6EB-9712-B915-F12E-BDD1AB02E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2092" y="2783016"/>
            <a:ext cx="793623" cy="79362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2F85F9-C919-B8A4-6A58-22965DEF6D13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3641078" y="3400236"/>
            <a:ext cx="219456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8FC4643-187B-5F94-68FC-B9C3079CD19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863070" y="3400236"/>
            <a:ext cx="22402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BC7433-88CD-F739-B074-1C859D133C98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>
            <a:off x="8123608" y="3400236"/>
            <a:ext cx="22402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ABE3492-F63E-7DC3-8580-40103291B6BC}"/>
              </a:ext>
            </a:extLst>
          </p:cNvPr>
          <p:cNvCxnSpPr>
            <a:cxnSpLocks/>
            <a:stCxn id="24" idx="2"/>
            <a:endCxn id="19" idx="2"/>
          </p:cNvCxnSpPr>
          <p:nvPr/>
        </p:nvCxnSpPr>
        <p:spPr>
          <a:xfrm rot="5400000">
            <a:off x="8235622" y="3141918"/>
            <a:ext cx="12700" cy="2226564"/>
          </a:xfrm>
          <a:prstGeom prst="bentConnector3">
            <a:avLst>
              <a:gd name="adj1" fmla="val 7141937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15">
            <a:extLst>
              <a:ext uri="{FF2B5EF4-FFF2-40B4-BE49-F238E27FC236}">
                <a16:creationId xmlns:a16="http://schemas.microsoft.com/office/drawing/2014/main" id="{B4914DC6-0F6F-4B0B-FBB5-812587830F7A}"/>
              </a:ext>
            </a:extLst>
          </p:cNvPr>
          <p:cNvSpPr/>
          <p:nvPr/>
        </p:nvSpPr>
        <p:spPr>
          <a:xfrm>
            <a:off x="6760506" y="5122865"/>
            <a:ext cx="301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Incremental Revisions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43166F3-D847-C694-15FD-BB5B256B4060}"/>
              </a:ext>
            </a:extLst>
          </p:cNvPr>
          <p:cNvSpPr/>
          <p:nvPr/>
        </p:nvSpPr>
        <p:spPr>
          <a:xfrm>
            <a:off x="560070" y="5918836"/>
            <a:ext cx="11071860" cy="732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D8FB98-DE60-90ED-FCDA-7650C5A43CEB}"/>
              </a:ext>
            </a:extLst>
          </p:cNvPr>
          <p:cNvSpPr txBox="1"/>
          <p:nvPr/>
        </p:nvSpPr>
        <p:spPr>
          <a:xfrm>
            <a:off x="645414" y="6084793"/>
            <a:ext cx="10901172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 Document: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blueprint 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that describes what the pipeline should do in </a:t>
            </a: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plain language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9" grpId="0" animBg="1"/>
      <p:bldP spid="11" grpId="0" animBg="1"/>
      <p:bldP spid="19" grpId="0" animBg="1"/>
      <p:bldP spid="21" grpId="0" animBg="1"/>
      <p:bldP spid="24" grpId="0" animBg="1"/>
      <p:bldP spid="25" grpId="0" animBg="1"/>
      <p:bldP spid="45" grpId="0" animBg="1"/>
      <p:bldP spid="50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8447455A-6643-7677-8AB4-52491B5B1F78}"/>
              </a:ext>
            </a:extLst>
          </p:cNvPr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Where does AI come in? 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752DD9D-C597-BA79-5E48-7B271C9F6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" y="1470220"/>
            <a:ext cx="10622280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Think of AI </a:t>
            </a:r>
            <a:r>
              <a:rPr lang="en-US" altLang="en-US" sz="2500">
                <a:latin typeface="Arial" panose="020B0604020202020204" pitchFamily="34" charset="0"/>
              </a:rPr>
              <a:t>like an </a:t>
            </a:r>
            <a:r>
              <a:rPr lang="en-US" altLang="en-US" sz="2500" b="1">
                <a:latin typeface="Arial" panose="020B0604020202020204" pitchFamily="34" charset="0"/>
              </a:rPr>
              <a:t>efficient contractor</a:t>
            </a:r>
            <a:r>
              <a:rPr lang="en-US" altLang="en-US" sz="2500">
                <a:latin typeface="Arial" panose="020B0604020202020204" pitchFamily="34" charset="0"/>
              </a:rPr>
              <a:t>: </a:t>
            </a:r>
            <a:r>
              <a:rPr lang="en-US" altLang="en-US" sz="2500" dirty="0">
                <a:latin typeface="Arial" panose="020B0604020202020204" pitchFamily="34" charset="0"/>
              </a:rPr>
              <a:t>fast and helpful, but it still requires direction.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It needs </a:t>
            </a:r>
            <a:r>
              <a:rPr lang="en-US" altLang="en-US" sz="2500" b="1" dirty="0">
                <a:latin typeface="Arial" panose="020B0604020202020204" pitchFamily="34" charset="0"/>
              </a:rPr>
              <a:t>rules</a:t>
            </a:r>
            <a:r>
              <a:rPr lang="en-US" altLang="en-US" sz="2500" dirty="0">
                <a:latin typeface="Arial" panose="020B0604020202020204" pitchFamily="34" charset="0"/>
              </a:rPr>
              <a:t> and </a:t>
            </a:r>
            <a:r>
              <a:rPr lang="en-US" altLang="en-US" sz="2500" b="1" dirty="0">
                <a:latin typeface="Arial" panose="020B0604020202020204" pitchFamily="34" charset="0"/>
              </a:rPr>
              <a:t>examples</a:t>
            </a:r>
            <a:r>
              <a:rPr lang="en-US" altLang="en-US" sz="2500" dirty="0">
                <a:latin typeface="Arial" panose="020B0604020202020204" pitchFamily="34" charset="0"/>
              </a:rPr>
              <a:t> to produce accurate output (the human component).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clearer the guidance, the better the results.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8B4207-82B8-C4C6-FC41-CB87455E317F}"/>
              </a:ext>
            </a:extLst>
          </p:cNvPr>
          <p:cNvSpPr/>
          <p:nvPr/>
        </p:nvSpPr>
        <p:spPr>
          <a:xfrm>
            <a:off x="758190" y="4276384"/>
            <a:ext cx="3191256" cy="20575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provide the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blueprint (rules &amp; examples)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that describes what the pipeline should do in plain language.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00B2B-D8E8-D0F3-3066-7E90CE804C93}"/>
              </a:ext>
            </a:extLst>
          </p:cNvPr>
          <p:cNvSpPr/>
          <p:nvPr/>
        </p:nvSpPr>
        <p:spPr>
          <a:xfrm>
            <a:off x="4473702" y="4276384"/>
            <a:ext cx="3191256" cy="20575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AI agent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then writes code and automates tasks. Think of it as the “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contractor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” who executes the blueprint.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C748C8-02F7-E556-7E15-332D16653B9A}"/>
              </a:ext>
            </a:extLst>
          </p:cNvPr>
          <p:cNvSpPr/>
          <p:nvPr/>
        </p:nvSpPr>
        <p:spPr>
          <a:xfrm>
            <a:off x="8189214" y="4276384"/>
            <a:ext cx="3191256" cy="20575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resulting pipeline (R scripts) is the product of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guidance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AI’s coding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It is the “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you developed and AI built.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DDB70E-BD78-3A92-A5DD-C89F03867429}"/>
              </a:ext>
            </a:extLst>
          </p:cNvPr>
          <p:cNvCxnSpPr/>
          <p:nvPr/>
        </p:nvCxnSpPr>
        <p:spPr>
          <a:xfrm>
            <a:off x="7664958" y="5305142"/>
            <a:ext cx="5242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031BBF-D7BC-4900-C665-4163EC3620F1}"/>
              </a:ext>
            </a:extLst>
          </p:cNvPr>
          <p:cNvSpPr/>
          <p:nvPr/>
        </p:nvSpPr>
        <p:spPr>
          <a:xfrm>
            <a:off x="758190" y="4276384"/>
            <a:ext cx="3191256" cy="55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F249D-FD80-C251-F148-B57FDA9267AF}"/>
              </a:ext>
            </a:extLst>
          </p:cNvPr>
          <p:cNvSpPr txBox="1"/>
          <p:nvPr/>
        </p:nvSpPr>
        <p:spPr>
          <a:xfrm>
            <a:off x="758189" y="4382103"/>
            <a:ext cx="3191255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Rules Document (Human)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524467-F778-ED70-DC8E-E0307838944F}"/>
              </a:ext>
            </a:extLst>
          </p:cNvPr>
          <p:cNvSpPr/>
          <p:nvPr/>
        </p:nvSpPr>
        <p:spPr>
          <a:xfrm>
            <a:off x="4473702" y="4276383"/>
            <a:ext cx="3191256" cy="55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9AD01-AC99-66CD-50A8-62E1A1C7C5BD}"/>
              </a:ext>
            </a:extLst>
          </p:cNvPr>
          <p:cNvSpPr txBox="1"/>
          <p:nvPr/>
        </p:nvSpPr>
        <p:spPr>
          <a:xfrm>
            <a:off x="4473703" y="4382103"/>
            <a:ext cx="3191255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 Agent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D0B331-ECA4-AFEF-653D-826979F57144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3949446" y="5305142"/>
            <a:ext cx="52425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97813-CA53-EED9-A4FB-B243E78D7838}"/>
              </a:ext>
            </a:extLst>
          </p:cNvPr>
          <p:cNvSpPr/>
          <p:nvPr/>
        </p:nvSpPr>
        <p:spPr>
          <a:xfrm>
            <a:off x="8198738" y="4290376"/>
            <a:ext cx="3191256" cy="55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C097A6-E00D-6A02-ECFF-01001B1B3A60}"/>
              </a:ext>
            </a:extLst>
          </p:cNvPr>
          <p:cNvSpPr txBox="1"/>
          <p:nvPr/>
        </p:nvSpPr>
        <p:spPr>
          <a:xfrm>
            <a:off x="8179690" y="4368109"/>
            <a:ext cx="3191255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(Human + AI)</a:t>
            </a:r>
          </a:p>
        </p:txBody>
      </p:sp>
    </p:spTree>
    <p:extLst>
      <p:ext uri="{BB962C8B-B14F-4D97-AF65-F5344CB8AC3E}">
        <p14:creationId xmlns:p14="http://schemas.microsoft.com/office/powerpoint/2010/main" val="272034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8" grpId="0" animBg="1"/>
      <p:bldP spid="7" grpId="0"/>
      <p:bldP spid="16" grpId="0" animBg="1"/>
      <p:bldP spid="14" grpId="0"/>
      <p:bldP spid="23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BFF6-2FD9-814F-6E48-567E25D2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576852A1-004D-2C10-15BD-D4DD70985C81}"/>
              </a:ext>
            </a:extLst>
          </p:cNvPr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Rules Document vs AI Agent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28935B7C-E126-3BD9-E7FC-CC1EA1AA9128}"/>
              </a:ext>
            </a:extLst>
          </p:cNvPr>
          <p:cNvSpPr/>
          <p:nvPr/>
        </p:nvSpPr>
        <p:spPr>
          <a:xfrm>
            <a:off x="486633" y="1578864"/>
            <a:ext cx="5065776" cy="3917061"/>
          </a:xfrm>
          <a:prstGeom prst="rect">
            <a:avLst/>
          </a:prstGeom>
          <a:solidFill>
            <a:srgbClr val="F0ECF8"/>
          </a:solidFill>
          <a:ln>
            <a:solidFill>
              <a:schemeClr val="bg1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3D56736-3687-4868-569E-0826587B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38" y="2048137"/>
            <a:ext cx="784098" cy="78409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1442EA21-C1CC-92C6-0395-B4BE578E0954}"/>
              </a:ext>
            </a:extLst>
          </p:cNvPr>
          <p:cNvSpPr/>
          <p:nvPr/>
        </p:nvSpPr>
        <p:spPr>
          <a:xfrm>
            <a:off x="1960341" y="2215135"/>
            <a:ext cx="312072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rules.md</a:t>
            </a:r>
            <a:endParaRPr lang="en-US" sz="25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14D57C0-11D0-6F2B-83D5-3BA10E0A3575}"/>
              </a:ext>
            </a:extLst>
          </p:cNvPr>
          <p:cNvSpPr/>
          <p:nvPr/>
        </p:nvSpPr>
        <p:spPr>
          <a:xfrm>
            <a:off x="891540" y="3095495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chemeClr val="accent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Written by YOU</a:t>
            </a:r>
            <a:endParaRPr lang="en-US" sz="25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E160C1B-6F30-74FC-B1D5-994C895E0724}"/>
              </a:ext>
            </a:extLst>
          </p:cNvPr>
          <p:cNvSpPr/>
          <p:nvPr/>
        </p:nvSpPr>
        <p:spPr>
          <a:xfrm>
            <a:off x="891540" y="3568608"/>
            <a:ext cx="4389120" cy="179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Human-readable specifications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Describes WHAT the pipeline should do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You edit this to improve results</a:t>
            </a: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7A8D232-AAD6-8472-C518-A56F611C69BD}"/>
              </a:ext>
            </a:extLst>
          </p:cNvPr>
          <p:cNvSpPr/>
          <p:nvPr/>
        </p:nvSpPr>
        <p:spPr>
          <a:xfrm>
            <a:off x="5513451" y="2790695"/>
            <a:ext cx="1097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dirty="0"/>
          </a:p>
          <a:p>
            <a:pPr algn="ctr"/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CF4F1842-A582-64C2-989A-06F90B83B191}"/>
              </a:ext>
            </a:extLst>
          </p:cNvPr>
          <p:cNvSpPr/>
          <p:nvPr/>
        </p:nvSpPr>
        <p:spPr>
          <a:xfrm>
            <a:off x="6634257" y="1601462"/>
            <a:ext cx="5067300" cy="3917061"/>
          </a:xfrm>
          <a:prstGeom prst="rect">
            <a:avLst/>
          </a:prstGeom>
          <a:solidFill>
            <a:srgbClr val="FEF2F2"/>
          </a:solidFill>
          <a:ln>
            <a:solidFill>
              <a:schemeClr val="bg1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79869AAC-6780-5A37-8E4A-21D1B7EBF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310" y="2021717"/>
            <a:ext cx="786384" cy="786384"/>
          </a:xfrm>
          <a:prstGeom prst="rect">
            <a:avLst/>
          </a:prstGeom>
        </p:spPr>
      </p:pic>
      <p:sp>
        <p:nvSpPr>
          <p:cNvPr id="26" name="Text 11">
            <a:extLst>
              <a:ext uri="{FF2B5EF4-FFF2-40B4-BE49-F238E27FC236}">
                <a16:creationId xmlns:a16="http://schemas.microsoft.com/office/drawing/2014/main" id="{1D703DE6-E559-FB71-ECF0-46521600A1E8}"/>
              </a:ext>
            </a:extLst>
          </p:cNvPr>
          <p:cNvSpPr/>
          <p:nvPr/>
        </p:nvSpPr>
        <p:spPr>
          <a:xfrm>
            <a:off x="8297322" y="2215135"/>
            <a:ext cx="16840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25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B7447B5-7C1B-B6DA-CF7D-72B560253E33}"/>
              </a:ext>
            </a:extLst>
          </p:cNvPr>
          <p:cNvSpPr/>
          <p:nvPr/>
        </p:nvSpPr>
        <p:spPr>
          <a:xfrm>
            <a:off x="7053834" y="3036701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EF4444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Generated by AI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7EF69E4E-039B-2A2B-7B3C-7156005233D3}"/>
              </a:ext>
            </a:extLst>
          </p:cNvPr>
          <p:cNvSpPr/>
          <p:nvPr/>
        </p:nvSpPr>
        <p:spPr>
          <a:xfrm>
            <a:off x="7053834" y="3783199"/>
            <a:ext cx="4246626" cy="146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AI-readable agent instructions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Describes HOW to execute the pipeline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intermediary between you and code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BE36BFA-32E5-5757-4FCB-FB26F4F56F76}"/>
              </a:ext>
            </a:extLst>
          </p:cNvPr>
          <p:cNvSpPr/>
          <p:nvPr/>
        </p:nvSpPr>
        <p:spPr>
          <a:xfrm>
            <a:off x="560070" y="5810377"/>
            <a:ext cx="11071860" cy="732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A02E69-64D0-6543-36F3-58DFF1A8F807}"/>
              </a:ext>
            </a:extLst>
          </p:cNvPr>
          <p:cNvSpPr txBox="1"/>
          <p:nvPr/>
        </p:nvSpPr>
        <p:spPr>
          <a:xfrm>
            <a:off x="660941" y="5953125"/>
            <a:ext cx="1087011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end of the day,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 still the expert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making the decisions.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CBCE20E-17AA-7BF8-D47B-CF28BD791287}"/>
              </a:ext>
            </a:extLst>
          </p:cNvPr>
          <p:cNvCxnSpPr>
            <a:stCxn id="2" idx="3"/>
            <a:endCxn id="21" idx="1"/>
          </p:cNvCxnSpPr>
          <p:nvPr/>
        </p:nvCxnSpPr>
        <p:spPr>
          <a:xfrm>
            <a:off x="5552409" y="3537395"/>
            <a:ext cx="1081848" cy="0"/>
          </a:xfrm>
          <a:prstGeom prst="straightConnector1">
            <a:avLst/>
          </a:prstGeom>
          <a:ln w="57150">
            <a:solidFill>
              <a:srgbClr val="EAEAEA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28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5" grpId="0" animBg="1"/>
      <p:bldP spid="17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34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B55-68AE-8821-5B95-140FD9B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F907A02-70CC-B6B4-834F-E13C5C0C9F64}"/>
              </a:ext>
            </a:extLst>
          </p:cNvPr>
          <p:cNvSpPr/>
          <p:nvPr/>
        </p:nvSpPr>
        <p:spPr>
          <a:xfrm>
            <a:off x="1549204" y="1844692"/>
            <a:ext cx="9144000" cy="145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890016" y="28041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Timeline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D24C60-8CD2-2C8E-9716-09CAE25048C8}"/>
              </a:ext>
            </a:extLst>
          </p:cNvPr>
          <p:cNvSpPr/>
          <p:nvPr/>
        </p:nvSpPr>
        <p:spPr>
          <a:xfrm>
            <a:off x="2383304" y="1703897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19A4B9F-A65A-1733-6D2E-588A119EA19C}"/>
              </a:ext>
            </a:extLst>
          </p:cNvPr>
          <p:cNvSpPr/>
          <p:nvPr/>
        </p:nvSpPr>
        <p:spPr>
          <a:xfrm>
            <a:off x="4737916" y="1689580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E1455AB2-15A8-F5AE-5130-665283EA9BD5}"/>
              </a:ext>
            </a:extLst>
          </p:cNvPr>
          <p:cNvSpPr/>
          <p:nvPr/>
        </p:nvSpPr>
        <p:spPr>
          <a:xfrm>
            <a:off x="7068148" y="1687103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A9364971-3E90-46A2-2ED2-FDEF5AE837CB}"/>
              </a:ext>
            </a:extLst>
          </p:cNvPr>
          <p:cNvSpPr/>
          <p:nvPr/>
        </p:nvSpPr>
        <p:spPr>
          <a:xfrm>
            <a:off x="9447140" y="1697389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6B49BA8-C354-79A2-945B-978B75512156}"/>
              </a:ext>
            </a:extLst>
          </p:cNvPr>
          <p:cNvSpPr/>
          <p:nvPr/>
        </p:nvSpPr>
        <p:spPr>
          <a:xfrm>
            <a:off x="1603016" y="2394809"/>
            <a:ext cx="2011680" cy="2348421"/>
          </a:xfrm>
          <a:prstGeom prst="rect">
            <a:avLst/>
          </a:prstGeom>
          <a:solidFill>
            <a:srgbClr val="E8F4F8"/>
          </a:solidFill>
          <a:ln>
            <a:solidFill>
              <a:srgbClr val="FFF4EC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B31A114-939A-4179-1E5F-E2DC4AD5E50B}"/>
              </a:ext>
            </a:extLst>
          </p:cNvPr>
          <p:cNvSpPr/>
          <p:nvPr/>
        </p:nvSpPr>
        <p:spPr>
          <a:xfrm>
            <a:off x="1700552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1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B6F49E5-F2BC-E24D-9EAF-6832B079F7E6}"/>
              </a:ext>
            </a:extLst>
          </p:cNvPr>
          <p:cNvSpPr/>
          <p:nvPr/>
        </p:nvSpPr>
        <p:spPr>
          <a:xfrm>
            <a:off x="1700552" y="2931477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 &amp;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Visuals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C3B5751-C997-DA00-49B7-6D30F54EF177}"/>
              </a:ext>
            </a:extLst>
          </p:cNvPr>
          <p:cNvSpPr/>
          <p:nvPr/>
        </p:nvSpPr>
        <p:spPr>
          <a:xfrm>
            <a:off x="1681053" y="3431195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21E81B3-7C7B-AFF3-2CD7-D838E99DBDB8}"/>
              </a:ext>
            </a:extLst>
          </p:cNvPr>
          <p:cNvSpPr/>
          <p:nvPr/>
        </p:nvSpPr>
        <p:spPr>
          <a:xfrm>
            <a:off x="3957628" y="2394809"/>
            <a:ext cx="2011680" cy="2348421"/>
          </a:xfrm>
          <a:prstGeom prst="rect">
            <a:avLst/>
          </a:prstGeom>
          <a:solidFill>
            <a:srgbClr val="DCEAF7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BC8BA95-75D2-7609-33F3-36316F5BAD5E}"/>
              </a:ext>
            </a:extLst>
          </p:cNvPr>
          <p:cNvSpPr/>
          <p:nvPr/>
        </p:nvSpPr>
        <p:spPr>
          <a:xfrm>
            <a:off x="4055164" y="24942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467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CE34AAD-E68C-14CB-418A-0DC41D057032}"/>
              </a:ext>
            </a:extLst>
          </p:cNvPr>
          <p:cNvSpPr/>
          <p:nvPr/>
        </p:nvSpPr>
        <p:spPr>
          <a:xfrm>
            <a:off x="4055164" y="288249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D335F5-09E1-FAFB-3E6E-7C6C53666821}"/>
              </a:ext>
            </a:extLst>
          </p:cNvPr>
          <p:cNvSpPr/>
          <p:nvPr/>
        </p:nvSpPr>
        <p:spPr>
          <a:xfrm>
            <a:off x="4055164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B19830D-A4CA-FDF7-0E67-B7080F99E228}"/>
              </a:ext>
            </a:extLst>
          </p:cNvPr>
          <p:cNvSpPr/>
          <p:nvPr/>
        </p:nvSpPr>
        <p:spPr>
          <a:xfrm>
            <a:off x="6312240" y="2394809"/>
            <a:ext cx="2011680" cy="2348421"/>
          </a:xfrm>
          <a:prstGeom prst="rect">
            <a:avLst/>
          </a:prstGeom>
          <a:solidFill>
            <a:srgbClr val="F0EC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024C291-1FB2-2AB6-8B79-44EB66FCE1DC}"/>
              </a:ext>
            </a:extLst>
          </p:cNvPr>
          <p:cNvSpPr/>
          <p:nvPr/>
        </p:nvSpPr>
        <p:spPr>
          <a:xfrm>
            <a:off x="6403616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CEAD20A-334B-DDA6-7DBB-C3D7AF597E88}"/>
              </a:ext>
            </a:extLst>
          </p:cNvPr>
          <p:cNvSpPr/>
          <p:nvPr/>
        </p:nvSpPr>
        <p:spPr>
          <a:xfrm>
            <a:off x="6409776" y="3416337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297AF3D-B736-2285-27DF-0F8C5325A858}"/>
              </a:ext>
            </a:extLst>
          </p:cNvPr>
          <p:cNvSpPr/>
          <p:nvPr/>
        </p:nvSpPr>
        <p:spPr>
          <a:xfrm>
            <a:off x="8680596" y="2381921"/>
            <a:ext cx="2011680" cy="2371422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8B73C53-56DB-B616-D1AE-7682F4C83ED2}"/>
              </a:ext>
            </a:extLst>
          </p:cNvPr>
          <p:cNvSpPr/>
          <p:nvPr/>
        </p:nvSpPr>
        <p:spPr>
          <a:xfrm>
            <a:off x="8764388" y="247316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50C5788-ECB9-E56B-F9F9-E56A33CF52A2}"/>
              </a:ext>
            </a:extLst>
          </p:cNvPr>
          <p:cNvSpPr/>
          <p:nvPr/>
        </p:nvSpPr>
        <p:spPr>
          <a:xfrm>
            <a:off x="6417425" y="2874601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F67E240-E41D-8771-9712-C5A3940355B9}"/>
              </a:ext>
            </a:extLst>
          </p:cNvPr>
          <p:cNvSpPr/>
          <p:nvPr/>
        </p:nvSpPr>
        <p:spPr>
          <a:xfrm>
            <a:off x="8764388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0203F5E-D982-3547-75C3-120ACCC2476E}"/>
              </a:ext>
            </a:extLst>
          </p:cNvPr>
          <p:cNvSpPr/>
          <p:nvPr/>
        </p:nvSpPr>
        <p:spPr>
          <a:xfrm>
            <a:off x="8779188" y="288354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17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C0F420-C2BD-E340-AFA6-2A3710880024}"/>
              </a:ext>
            </a:extLst>
          </p:cNvPr>
          <p:cNvCxnSpPr>
            <a:cxnSpLocks/>
            <a:stCxn id="20" idx="2"/>
            <a:endCxn id="17" idx="2"/>
          </p:cNvCxnSpPr>
          <p:nvPr/>
        </p:nvCxnSpPr>
        <p:spPr>
          <a:xfrm rot="5400000" flipH="1">
            <a:off x="8497201" y="3564109"/>
            <a:ext cx="10113" cy="2368356"/>
          </a:xfrm>
          <a:prstGeom prst="bentConnector3">
            <a:avLst>
              <a:gd name="adj1" fmla="val -6927222"/>
            </a:avLst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">
            <a:extLst>
              <a:ext uri="{FF2B5EF4-FFF2-40B4-BE49-F238E27FC236}">
                <a16:creationId xmlns:a16="http://schemas.microsoft.com/office/drawing/2014/main" id="{F7F5A57B-CEF8-1AE1-110A-11E02D32F4D8}"/>
              </a:ext>
            </a:extLst>
          </p:cNvPr>
          <p:cNvSpPr/>
          <p:nvPr/>
        </p:nvSpPr>
        <p:spPr>
          <a:xfrm>
            <a:off x="8276705" y="5218471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B0207FA-97BD-2917-EBDF-A708BDBBCF75}"/>
              </a:ext>
            </a:extLst>
          </p:cNvPr>
          <p:cNvSpPr/>
          <p:nvPr/>
        </p:nvSpPr>
        <p:spPr>
          <a:xfrm>
            <a:off x="6976678" y="5829099"/>
            <a:ext cx="328985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5 </a:t>
            </a:r>
            <a:r>
              <a:rPr lang="en-US" sz="1730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Incremental Revisions</a:t>
            </a:r>
          </a:p>
        </p:txBody>
      </p:sp>
    </p:spTree>
    <p:extLst>
      <p:ext uri="{BB962C8B-B14F-4D97-AF65-F5344CB8AC3E}">
        <p14:creationId xmlns:p14="http://schemas.microsoft.com/office/powerpoint/2010/main" val="3886218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80C4CCC-992F-5B1B-6033-DB2AB9AF1BF5}"/>
              </a:ext>
            </a:extLst>
          </p:cNvPr>
          <p:cNvSpPr/>
          <p:nvPr/>
        </p:nvSpPr>
        <p:spPr>
          <a:xfrm>
            <a:off x="8632459" y="505053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5920469-783D-2ECF-6534-5D62E28254CE}"/>
              </a:ext>
            </a:extLst>
          </p:cNvPr>
          <p:cNvSpPr/>
          <p:nvPr/>
        </p:nvSpPr>
        <p:spPr>
          <a:xfrm>
            <a:off x="4742304" y="505053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559CBB9-15C9-AE74-26BB-ED7C81F4764A}"/>
              </a:ext>
            </a:extLst>
          </p:cNvPr>
          <p:cNvSpPr/>
          <p:nvPr/>
        </p:nvSpPr>
        <p:spPr>
          <a:xfrm>
            <a:off x="895967" y="505053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CD35613-EEEA-67BB-3C66-D8DE71EB6A0A}"/>
              </a:ext>
            </a:extLst>
          </p:cNvPr>
          <p:cNvSpPr/>
          <p:nvPr/>
        </p:nvSpPr>
        <p:spPr>
          <a:xfrm>
            <a:off x="8632460" y="283419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39B7902-F0F8-22DC-9C1C-A03B81394082}"/>
              </a:ext>
            </a:extLst>
          </p:cNvPr>
          <p:cNvSpPr/>
          <p:nvPr/>
        </p:nvSpPr>
        <p:spPr>
          <a:xfrm>
            <a:off x="4764214" y="283419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FC4807-EE32-5156-EF28-DBA4F1264E8A}"/>
              </a:ext>
            </a:extLst>
          </p:cNvPr>
          <p:cNvSpPr/>
          <p:nvPr/>
        </p:nvSpPr>
        <p:spPr>
          <a:xfrm>
            <a:off x="895967" y="283419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Lab Structure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47545" y="1265323"/>
            <a:ext cx="10256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The Human-AI Iteration Loop: </a:t>
            </a:r>
            <a:r>
              <a:rPr lang="en-US" sz="23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 each lab phase, you will complete the following steps. 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3888B9-295D-047C-788D-805F8ECB70C8}"/>
              </a:ext>
            </a:extLst>
          </p:cNvPr>
          <p:cNvSpPr txBox="1"/>
          <p:nvPr/>
        </p:nvSpPr>
        <p:spPr>
          <a:xfrm>
            <a:off x="1122854" y="2979184"/>
            <a:ext cx="211455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 the rules doc and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or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review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for the given phase.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FF91A2-15F7-9BC9-6AE1-9F9E66E562F7}"/>
              </a:ext>
            </a:extLst>
          </p:cNvPr>
          <p:cNvSpPr txBox="1"/>
          <p:nvPr/>
        </p:nvSpPr>
        <p:spPr>
          <a:xfrm>
            <a:off x="4992243" y="2979185"/>
            <a:ext cx="211226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Prompt Copilot to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build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 agent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from your rules document.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C768F1-7E7A-38B3-2047-E01C8980DD0A}"/>
              </a:ext>
            </a:extLst>
          </p:cNvPr>
          <p:cNvSpPr txBox="1"/>
          <p:nvPr/>
        </p:nvSpPr>
        <p:spPr>
          <a:xfrm>
            <a:off x="8859346" y="2979185"/>
            <a:ext cx="2112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agent to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generate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 script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for this phase.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39F4F6-FEBA-BA8F-23DA-83F6C638BAE5}"/>
              </a:ext>
            </a:extLst>
          </p:cNvPr>
          <p:cNvSpPr txBox="1"/>
          <p:nvPr/>
        </p:nvSpPr>
        <p:spPr>
          <a:xfrm>
            <a:off x="1122854" y="5195524"/>
            <a:ext cx="211226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Execute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script in VS Code.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Check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output and results.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337452D8-A14A-F3E7-2884-7AA864AC655B}"/>
              </a:ext>
            </a:extLst>
          </p:cNvPr>
          <p:cNvSpPr/>
          <p:nvPr/>
        </p:nvSpPr>
        <p:spPr>
          <a:xfrm>
            <a:off x="4991098" y="5213986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Refine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rules →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 →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script.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5466F12C-41B3-8FD6-C20B-240B3FCBDB56}"/>
              </a:ext>
            </a:extLst>
          </p:cNvPr>
          <p:cNvSpPr/>
          <p:nvPr/>
        </p:nvSpPr>
        <p:spPr>
          <a:xfrm>
            <a:off x="8859346" y="5191297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Push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results to GitHub.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934836F8-1212-BC07-1A4F-52363D63CA10}"/>
              </a:ext>
            </a:extLst>
          </p:cNvPr>
          <p:cNvSpPr/>
          <p:nvPr/>
        </p:nvSpPr>
        <p:spPr>
          <a:xfrm>
            <a:off x="892538" y="2355837"/>
            <a:ext cx="256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1. Edit the Rules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2065F429-665C-3C73-9CBF-ABEA273F40B3}"/>
              </a:ext>
            </a:extLst>
          </p:cNvPr>
          <p:cNvSpPr/>
          <p:nvPr/>
        </p:nvSpPr>
        <p:spPr>
          <a:xfrm>
            <a:off x="4673190" y="2346515"/>
            <a:ext cx="2762890" cy="4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2. Generate agents.md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C235EA-37BB-2C9D-2B7C-254708D392BA}"/>
              </a:ext>
            </a:extLst>
          </p:cNvPr>
          <p:cNvSpPr txBox="1"/>
          <p:nvPr/>
        </p:nvSpPr>
        <p:spPr>
          <a:xfrm>
            <a:off x="8580335" y="2399623"/>
            <a:ext cx="2615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3. Generate R Script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03150ABD-53D1-BAFC-A141-859CD61587A6}"/>
              </a:ext>
            </a:extLst>
          </p:cNvPr>
          <p:cNvSpPr/>
          <p:nvPr/>
        </p:nvSpPr>
        <p:spPr>
          <a:xfrm>
            <a:off x="892538" y="4572177"/>
            <a:ext cx="256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4. Run &amp; Evaluate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E7B1DB5F-A9E5-9A57-823B-C67B1F38C55C}"/>
              </a:ext>
            </a:extLst>
          </p:cNvPr>
          <p:cNvSpPr/>
          <p:nvPr/>
        </p:nvSpPr>
        <p:spPr>
          <a:xfrm>
            <a:off x="4581904" y="4562031"/>
            <a:ext cx="288683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5. Update &amp; Regenerate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AB6C3BD5-A2E6-BAA8-5276-FFC284EA57CC}"/>
              </a:ext>
            </a:extLst>
          </p:cNvPr>
          <p:cNvSpPr/>
          <p:nvPr/>
        </p:nvSpPr>
        <p:spPr>
          <a:xfrm>
            <a:off x="8626221" y="4572177"/>
            <a:ext cx="256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Push to GitHub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6" grpId="0" animBg="1"/>
      <p:bldP spid="45" grpId="0" animBg="1"/>
      <p:bldP spid="44" grpId="0" animBg="1"/>
      <p:bldP spid="43" grpId="0" animBg="1"/>
      <p:bldP spid="42" grpId="0" animBg="1"/>
      <p:bldP spid="3" grpId="0" animBg="1"/>
      <p:bldP spid="30" grpId="0"/>
      <p:bldP spid="32" grpId="0"/>
      <p:bldP spid="34" grpId="0"/>
      <p:bldP spid="36" grpId="0"/>
      <p:bldP spid="39" grpId="0" animBg="1"/>
      <p:bldP spid="41" grpId="0" animBg="1"/>
      <p:bldP spid="48" grpId="0" animBg="1"/>
      <p:bldP spid="49" grpId="0" animBg="1"/>
      <p:bldP spid="51" grpId="0"/>
      <p:bldP spid="52" grpId="0" animBg="1"/>
      <p:bldP spid="53" grpId="0" animBg="1"/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BDBE-DD2B-5486-AC69-F0A8A9101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482963-30F3-A81C-D89E-E548DBD0118E}"/>
              </a:ext>
            </a:extLst>
          </p:cNvPr>
          <p:cNvSpPr/>
          <p:nvPr/>
        </p:nvSpPr>
        <p:spPr>
          <a:xfrm>
            <a:off x="914400" y="27432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Objectives + End Products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6F663F0-9E56-224A-70FB-D9B4368D4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761718"/>
              </p:ext>
            </p:extLst>
          </p:nvPr>
        </p:nvGraphicFramePr>
        <p:xfrm>
          <a:off x="591312" y="1414780"/>
          <a:ext cx="11009376" cy="49320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4688">
                  <a:extLst>
                    <a:ext uri="{9D8B030D-6E8A-4147-A177-3AD203B41FA5}">
                      <a16:colId xmlns:a16="http://schemas.microsoft.com/office/drawing/2014/main" val="742743732"/>
                    </a:ext>
                  </a:extLst>
                </a:gridCol>
                <a:gridCol w="5504688">
                  <a:extLst>
                    <a:ext uri="{9D8B030D-6E8A-4147-A177-3AD203B41FA5}">
                      <a16:colId xmlns:a16="http://schemas.microsoft.com/office/drawing/2014/main" val="3924049355"/>
                    </a:ext>
                  </a:extLst>
                </a:gridCol>
              </a:tblGrid>
              <a:tr h="54297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Objectives</a:t>
                      </a:r>
                    </a:p>
                  </a:txBody>
                  <a:tcPr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 Products</a:t>
                      </a:r>
                    </a:p>
                  </a:txBody>
                  <a:tcPr anchor="ctr"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0714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AI as a collaborative tool to build, refine, and execute an infectious disease forecasting pipeline.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 &amp; agents.md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017375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Translate epidemiological knowledge into structured instructions that guide AI-generated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 &amp; agents.md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19298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 a model to forecast incident influenza hospitalizations at the national level using CDC NHSN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Forecasting model scripts &amp; forecast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52263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Evaluate forecast performance and iteratively improve model quality through human-AI teaming.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 &amp; agents.</a:t>
                      </a: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 files; 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Forecasting model scripts &amp; forecast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123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79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DC5346E-65EE-4DDA-BCA8-C62B6F22029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3d8d395-066a-4d75-a5b4-3ab60a5af45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602</Words>
  <Application>Microsoft Office PowerPoint</Application>
  <PresentationFormat>Widescreen</PresentationFormat>
  <Paragraphs>96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Building an Influenza Forecasting Pipeline 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3</cp:revision>
  <dcterms:created xsi:type="dcterms:W3CDTF">2026-05-27T20:40:14Z</dcterms:created>
  <dcterms:modified xsi:type="dcterms:W3CDTF">2026-07-19T02:38:48Z</dcterms:modified>
</cp:coreProperties>
</file>